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2.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2631"/>
                </a:solidFill>
                <a:latin typeface="Calibri"/>
              </a:defRPr>
            </a:pPr>
            <a:r>
              <a:rPr sz="1200" b="0" i="0" u="none" strike="noStrike">
                <a:solidFill>
                  <a:srgbClr val="1B2631"/>
                </a:solidFill>
                <a:latin typeface="Calibri"/>
              </a:rPr>
              <a:t>Machining line (AI4I) — PR-AUC, 80/20 split</a:t>
            </a:r>
          </a:p>
        </c:rich>
      </c:tx>
      <c:layout/>
      <c:overlay val="0"/>
    </c:title>
    <c:autoTitleDeleted val="0"/>
    <c:plotArea>
      <c:layout/>
      <c:barChart>
        <c:barDir val="bar"/>
        <c:grouping val="clustered"/>
        <c:varyColors val="0"/>
        <c:ser>
          <c:idx val="0"/>
          <c:order val="0"/>
          <c:tx>
            <c:strRef>
              <c:f>Sheet1!$B$1</c:f>
              <c:strCache>
                <c:ptCount val="1"/>
                <c:pt idx="0">
                  <c:v>PR-AUC</c:v>
                </c:pt>
              </c:strCache>
            </c:strRef>
          </c:tx>
          <c:spPr>
            <a:solidFill>
              <a:srgbClr val="34495E"/>
            </a:solidFill>
            <a:effectLst/>
          </c:spPr>
          <c:invertIfNegative val="0"/>
          <c:dLbls>
            <c:numFmt formatCode="0.000" sourceLinked="0"/>
            <c:txPr>
              <a:bodyPr/>
              <a:lstStyle/>
              <a:p>
                <a:pPr>
                  <a:defRPr b="0" i="0" strike="noStrike" sz="1000" u="none">
                    <a:solidFill>
                      <a:srgbClr val="1B2631"/>
                    </a:solidFill>
                    <a:latin typeface="Arial"/>
                  </a:defRPr>
                </a:pPr>
              </a:p>
            </c:txPr>
            <c:showLegendKey val="0"/>
            <c:showVal val="1"/>
            <c:showCatName val="0"/>
            <c:showSerName val="0"/>
            <c:showPercent val="0"/>
            <c:showBubbleSize val="0"/>
            <c:showLeaderLines val="0"/>
          </c:dLbls>
          <c:cat>
            <c:multiLvlStrRef>
              <c:f>Sheet1!$A$2:$A$6</c:f>
              <c:multiLvlStrCache>
                <c:ptCount val="5"/>
                <c:lvl>
                  <c:pt idx="0">
                    <c:v>Machine failure</c:v>
                  </c:pt>
                  <c:pt idx="1">
                    <c:v>Heat dissipation</c:v>
                  </c:pt>
                  <c:pt idx="2">
                    <c:v>Power</c:v>
                  </c:pt>
                  <c:pt idx="3">
                    <c:v>Overstrain</c:v>
                  </c:pt>
                  <c:pt idx="4">
                    <c:v>Tool wear</c:v>
                  </c:pt>
                </c:lvl>
              </c:multiLvlStrCache>
            </c:multiLvlStrRef>
          </c:cat>
          <c:val>
            <c:numRef>
              <c:f>Sheet1!$B$2:$B$6</c:f>
              <c:numCache>
                <c:formatCode>General</c:formatCode>
                <c:ptCount val="5"/>
                <c:pt idx="0">
                  <c:v>0.891</c:v>
                </c:pt>
                <c:pt idx="1">
                  <c:v>1</c:v>
                </c:pt>
                <c:pt idx="2">
                  <c:v>0.982</c:v>
                </c:pt>
                <c:pt idx="3">
                  <c:v>0.971</c:v>
                </c:pt>
                <c:pt idx="4">
                  <c:v>0.061</c:v>
                </c:pt>
              </c:numCache>
            </c:numRef>
          </c:val>
        </c:ser>
        <c:dLbls>
          <c:numFmt formatCode="0.000" sourceLinked="0"/>
          <c:txPr>
            <a:bodyPr/>
            <a:lstStyle/>
            <a:p>
              <a:pPr>
                <a:defRPr b="0" i="0" strike="noStrike" sz="1000" u="none">
                  <a:solidFill>
                    <a:srgbClr val="1B2631"/>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5F6B78"/>
                </a:solidFill>
                <a:latin typeface="Arial"/>
              </a:defRPr>
            </a:pPr>
            <a:endParaRPr lang="en-US"/>
          </a:p>
        </c:txPr>
        <c:crossAx val="2094734552"/>
        <c:crosses val="autoZero"/>
        <c:auto val="1"/>
        <c:lblAlgn val="ctr"/>
        <c:noMultiLvlLbl val="1"/>
      </c:catAx>
      <c:valAx>
        <c:axId val="2094734552"/>
        <c:scaling>
          <c:orientation val="minMax"/>
          <c:max val="1.1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5F6B78"/>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B2631"/>
                </a:solidFill>
                <a:latin typeface="Arial"/>
              </a:defRPr>
            </a:pPr>
            <a:r>
              <a:rPr sz="1100" b="0" i="0" u="none" strike="noStrike">
                <a:solidFill>
                  <a:srgbClr val="1B2631"/>
                </a:solidFill>
                <a:latin typeface="Arial"/>
              </a:rPr>
              <a:t>Expected cost, week of 26 Sep 2015</a:t>
            </a:r>
          </a:p>
        </c:rich>
      </c:tx>
      <c:layout/>
      <c:overlay val="0"/>
    </c:title>
    <c:autoTitleDeleted val="0"/>
    <c:plotArea>
      <c:layout/>
      <c:barChart>
        <c:barDir val="col"/>
        <c:grouping val="clustered"/>
        <c:varyColors val="0"/>
        <c:ser>
          <c:idx val="0"/>
          <c:order val="0"/>
          <c:tx>
            <c:strRef>
              <c:f>Sheet1!$B$1</c:f>
              <c:strCache>
                <c:ptCount val="1"/>
                <c:pt idx="0">
                  <c:v>Expected cost</c:v>
                </c:pt>
              </c:strCache>
            </c:strRef>
          </c:tx>
          <c:spPr>
            <a:solidFill>
              <a:srgbClr val="138D75"/>
            </a:solidFill>
            <a:effectLst/>
          </c:spPr>
          <c:invertIfNegative val="0"/>
          <c:dLbls>
            <c:numFmt formatCode="&quot;$&quot;0.0&quot;k&quot;" sourceLinked="0"/>
            <c:txPr>
              <a:bodyPr/>
              <a:lstStyle/>
              <a:p>
                <a:pPr>
                  <a:defRPr b="0" i="0" strike="noStrike" sz="1000" u="none">
                    <a:solidFill>
                      <a:srgbClr val="1B2631"/>
                    </a:solidFill>
                    <a:latin typeface="Arial"/>
                  </a:defRPr>
                </a:pPr>
              </a:p>
            </c:txPr>
            <c:showLegendKey val="0"/>
            <c:showVal val="1"/>
            <c:showCatName val="0"/>
            <c:showSerName val="0"/>
            <c:showPercent val="0"/>
            <c:showBubbleSize val="0"/>
            <c:showLeaderLines val="0"/>
          </c:dLbls>
          <c:dPt>
            <c:idx val="0"/>
            <c:invertIfNegative val="0"/>
            <c:bubble3D val="0"/>
            <c:spPr>
              <a:solidFill>
                <a:srgbClr val="138D75"/>
              </a:solidFill>
              <a:effectLst/>
            </c:spPr>
          </c:dPt>
          <c:dPt>
            <c:idx val="1"/>
            <c:invertIfNegative val="0"/>
            <c:bubble3D val="0"/>
            <c:spPr>
              <a:solidFill>
                <a:srgbClr val="C0392B"/>
              </a:solidFill>
              <a:effectLst/>
            </c:spPr>
          </c:dPt>
          <c:cat>
            <c:multiLvlStrRef>
              <c:f>Sheet1!$A$2:$A$3</c:f>
              <c:multiLvlStrCache>
                <c:ptCount val="2"/>
                <c:lvl>
                  <c:pt idx="0">
                    <c:v>Optimised plan</c:v>
                  </c:pt>
                  <c:pt idx="1">
                    <c:v>Run-to-failure</c:v>
                  </c:pt>
                </c:lvl>
              </c:multiLvlStrCache>
            </c:multiLvlStrRef>
          </c:cat>
          <c:val>
            <c:numRef>
              <c:f>Sheet1!$B$2:$B$3</c:f>
              <c:numCache>
                <c:formatCode>General</c:formatCode>
                <c:ptCount val="2"/>
                <c:pt idx="0">
                  <c:v>187.6</c:v>
                </c:pt>
                <c:pt idx="1">
                  <c:v>326.8</c:v>
                </c:pt>
              </c:numCache>
            </c:numRef>
          </c:val>
        </c:ser>
        <c:dLbls>
          <c:numFmt formatCode="&quot;$&quot;0.0&quot;k&quot;" sourceLinked="0"/>
          <c:txPr>
            <a:bodyPr/>
            <a:lstStyle/>
            <a:p>
              <a:pPr>
                <a:defRPr b="0" i="0" strike="noStrike" sz="1000" u="none">
                  <a:solidFill>
                    <a:srgbClr val="1B2631"/>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F6B78"/>
                </a:solidFill>
                <a:latin typeface="Arial"/>
              </a:defRPr>
            </a:pPr>
            <a:endParaRPr lang="en-US"/>
          </a:p>
        </c:txPr>
        <c:crossAx val="2094734552"/>
        <c:crosses val="autoZero"/>
        <c:auto val="1"/>
        <c:lblAlgn val="ctr"/>
        <c:noMultiLvlLbl val="1"/>
      </c:catAx>
      <c:valAx>
        <c:axId val="2094734552"/>
        <c:scaling>
          <c:orientation val="minMax"/>
          <c:max val="38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session walks through the Smart Manufacturing Process Optimization project: the problem, how the solution is architected, how data flows through it, and what results we get. The five words at the bottom are the backbone of the whole system: Predict, Explain, Optimise, Decide, 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sections. We'll go from the business problem down into architecture and models, then back up to business value, operations and the roadmap.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problems that feed each other: downtime, quality losses and reactive maintenance. The key number is 24 hours of downtime for an unplanned failure versus 4 hours when planned. Every capability in the system maps to one of these three columns.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predict, explain, optimise, decide, act. Agents run on a free local model via Ollama or on Claude. The most important design principle: the LLM is a decision and communication layer, not a predictor. Numbers always come from measurable, testable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AI4I explains WHY a cycle fails — failure modes map to physics, so predictions translate into process fixes. Azure gives the fleet time series with errors, maintenance and failures that we need for downtime, scheduling and OEE. Other datasets were rejected for domain mismatch, lack of explainability or size. Caveat: both are synthetic.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layers, each a Python package. Data produces features; ML trains LightGBM and Isolation Forest models and wraps them in ProcessModel and FleetModel with SHAP. The optimisation layer turns predictions into setpoints, a maintenance plan and KPIs. The agent layer exposes all of that as seven strict tools to an orchestrator that can run Claude or Ollama, with a rule-based fallback. The simulation replays held-out data as a live factory. Streamlit sits on 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agent run end to end. The supervisor triggers analysis for the current factory time. The orchestrator gathers evidence through the ToolBox, which calls models, optimiser and scheduler and returns compact JSON. Only then is the LLM called, with evidence plus a role prompt, and it returns a JSON-schema-constrained plan. The supervisor accepts or rejects every action and that decision is logged.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treats held-out test data as a live factory. The fleet clock walks through the Azure test period in 3-hour steps; the machining line replays the AI4I test cycles. This means the demo is honest: nothing the agents see comes from the future.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is three commands. On the AI4I side we engineer physics features that mirror the documented failure rules, and we also implement those rules as explicit flags. On the Azure side we build rolling telemetry statistics, error counts and component ages, with careful handling of time to avoid leakage.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supervised models are LightGBM. We deliberately avoid class re-weighting because the scheduler uses the probabilities in cost formulas, so they must be calibrated. An Isolation Forest flags abnormal telemetry, and SHAP explains every prediction.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Machine-failure model: PR-AUC 0.891, precision 0.949, recall 0.824 at threshold 0.47. HDF, PWF and OSF are nearly perfect because they follow deterministic physics. Tool wear is effectively random and no model can predict it, which is exactly why we keep the physics rules. On the fleet, 24-hour models are near perfect (synthetic data), and 7-day models are about ten times better than the base rate — good for ranking.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setpoint optimiser is a model-verified search. It enumerates speed and torque adjustments within the range seen in training, keeps throughput above 90%, and prefers the smallest change that fixes the risk. Every candidate is re-scored by the failure model, so nothing is recommended without a predicted risk reduction. It fixes 67 of 68 failing test cycles.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scheduler turns probabilities into a plan. For every at-risk component it decides whether and on which day to replace, trading planned cost and downtime weighted by production load against the risk of failing before that day, subject to crew capacity. On the 26 September example it schedules 14 jobs and cuts expected cost from about 327k to 188k dollars.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OEE is 92.9% today. With predictive maintenance, assuming 70% of detected failures become planned work, we project 531 failures prevented, over 10,000 downtime hours saved and about 14 million dollars a year, lifting OEE to 94.1%. Stress that these rely on configurable cost assumptions.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specialists — monitoring, diagnosis, maintenance planning and process optimisation — each have a narrow tool set. A coordinator merges their reports into one de-duplicated plan using a JSON schema. A chat assistant has access to all seven tools for ad-hoc questions and what-ifs.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LLM backend is pluggable: free local Ollama or Claude, sharing the same tools and plan schema. Agent modes trade LLM autonomy for speed. On a laptop CPU only narrate is practical, at about a minute and a half. Cursor was considered but has no public API for calling its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safeguards make the LLM layer production-minded: grounding in tool output, schema-validated output, a rule-based fallback so the dashboard works without any LLM, consistent chat history, Claude-specific error handling, and a human who approves every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pages, from fleet-level KPIs down to a single machine or production cycle, plus the agent action plan, a chat assistant and a model-performance page. The sidebar holds the factory clock, cycle picker and decision engine selector.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is a handful of commands. Configuration splits into .env for the LLM backend and src/config.py for business assumptions. Changing the cost and load assumptions changes the scheduler and business case, so plant teams should review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 tests run offline with mocked LLM clients, covering features, optimisation, the agent loops including failure paths, and headless rendering of every dashboard page. The code layout mirrors the architecture layers one to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decisions most worth defending in a review. The common thread: keep numbers in measurable models, keep the LLM for reasoning and communication, and make sure the system degrades gracefully.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candid about limitations: synthetic data, assumed costs, and no auth yet. The roadmap addresses each one — real plant connectivity, calibration, scheduler grouping, closing the feedback loop from supervisor decisions, stronger LLM modes, and production hardening.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three takeaways, then open the floor. Good discussion prompts: which real data source should we connect first, and who owns the business-cost assumptions?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1.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1.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slideLayout" Target="../slideLayouts/slideLayout1.xml"/><Relationship Id="rId9"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1.xml"/><Relationship Id="rId5"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502920"/>
            <a:ext cx="8046720" cy="274320"/>
          </a:xfrm>
          <a:prstGeom prst="rect">
            <a:avLst/>
          </a:prstGeom>
          <a:noFill/>
          <a:ln/>
        </p:spPr>
        <p:txBody>
          <a:bodyPr wrap="square" lIns="0" tIns="0" rIns="0" bIns="0" rtlCol="0" anchor="t"/>
          <a:lstStyle/>
          <a:p>
            <a:pPr indent="0" marL="0">
              <a:buNone/>
            </a:pPr>
            <a:r>
              <a:rPr lang="en-US" sz="1100" b="1" spc="200" kern="0" dirty="0">
                <a:solidFill>
                  <a:srgbClr val="E8910C"/>
                </a:solidFill>
                <a:latin typeface="Calibri" pitchFamily="34" charset="0"/>
                <a:ea typeface="Calibri" pitchFamily="34" charset="-122"/>
                <a:cs typeface="Calibri" pitchFamily="34" charset="-120"/>
              </a:rPr>
              <a:t>TEAM BRIEFING  ·  ARCHITECTURE, PROCESSES &amp; SOLUTION</a:t>
            </a:r>
            <a:endParaRPr lang="en-US" sz="1100" dirty="0"/>
          </a:p>
        </p:txBody>
      </p:sp>
      <p:sp>
        <p:nvSpPr>
          <p:cNvPr id="3" name="Text 1"/>
          <p:cNvSpPr txBox="1"/>
          <p:nvPr/>
        </p:nvSpPr>
        <p:spPr>
          <a:xfrm>
            <a:off x="548640" y="914400"/>
            <a:ext cx="8046720" cy="1371600"/>
          </a:xfrm>
          <a:prstGeom prst="rect">
            <a:avLst/>
          </a:prstGeom>
          <a:noFill/>
          <a:ln/>
        </p:spPr>
        <p:txBody>
          <a:bodyPr wrap="square" lIns="0" tIns="0" rIns="0" bIns="0" rtlCol="0" anchor="ctr"/>
          <a:lstStyle/>
          <a:p>
            <a:pPr indent="0" marL="0">
              <a:buNone/>
            </a:pPr>
            <a:r>
              <a:rPr lang="en-US" sz="4000" b="1" dirty="0">
                <a:solidFill>
                  <a:srgbClr val="1B2631"/>
                </a:solidFill>
                <a:latin typeface="Calibri" pitchFamily="34" charset="0"/>
                <a:ea typeface="Calibri" pitchFamily="34" charset="-122"/>
                <a:cs typeface="Calibri" pitchFamily="34" charset="-120"/>
              </a:rPr>
              <a:t>Smart Manufacturing</a:t>
            </a:r>
            <a:endParaRPr lang="en-US" sz="4000" dirty="0"/>
          </a:p>
          <a:p>
            <a:pPr indent="0" marL="0">
              <a:buNone/>
            </a:pPr>
            <a:r>
              <a:rPr lang="en-US" sz="4000" b="1" dirty="0">
                <a:solidFill>
                  <a:srgbClr val="1B2631"/>
                </a:solidFill>
                <a:latin typeface="Calibri" pitchFamily="34" charset="0"/>
                <a:ea typeface="Calibri" pitchFamily="34" charset="-122"/>
                <a:cs typeface="Calibri" pitchFamily="34" charset="-120"/>
              </a:rPr>
              <a:t>Process Optimization</a:t>
            </a:r>
            <a:endParaRPr lang="en-US" sz="4000" dirty="0"/>
          </a:p>
        </p:txBody>
      </p:sp>
      <p:sp>
        <p:nvSpPr>
          <p:cNvPr id="4" name="Text 2"/>
          <p:cNvSpPr txBox="1"/>
          <p:nvPr/>
        </p:nvSpPr>
        <p:spPr>
          <a:xfrm>
            <a:off x="548640" y="2377440"/>
            <a:ext cx="6949440" cy="685800"/>
          </a:xfrm>
          <a:prstGeom prst="rect">
            <a:avLst/>
          </a:prstGeom>
          <a:noFill/>
          <a:ln/>
        </p:spPr>
        <p:txBody>
          <a:bodyPr wrap="square" lIns="0" tIns="0" rIns="0" bIns="0" rtlCol="0" anchor="t"/>
          <a:lstStyle/>
          <a:p>
            <a:pPr indent="0" marL="0">
              <a:buNone/>
            </a:pPr>
            <a:r>
              <a:rPr lang="en-US" sz="1500" dirty="0">
                <a:solidFill>
                  <a:srgbClr val="5F6B78"/>
                </a:solidFill>
                <a:latin typeface="Calibri" pitchFamily="34" charset="0"/>
                <a:ea typeface="Calibri" pitchFamily="34" charset="-122"/>
                <a:cs typeface="Calibri" pitchFamily="34" charset="-120"/>
              </a:rPr>
              <a:t>AI-driven predictive maintenance and workflow optimisation — from factory sensor data to a prioritised, explained action plan for the shift supervisor.</a:t>
            </a:r>
            <a:endParaRPr lang="en-US" sz="1500" dirty="0"/>
          </a:p>
        </p:txBody>
      </p:sp>
      <p:sp>
        <p:nvSpPr>
          <p:cNvPr id="5" name="Shape 3"/>
          <p:cNvSpPr/>
          <p:nvPr/>
        </p:nvSpPr>
        <p:spPr>
          <a:xfrm>
            <a:off x="548640" y="3566160"/>
            <a:ext cx="457200" cy="457200"/>
          </a:xfrm>
          <a:prstGeom prst="ellipse">
            <a:avLst/>
          </a:prstGeom>
          <a:solidFill>
            <a:srgbClr val="E8910C"/>
          </a:solidFill>
          <a:ln w="12700">
            <a:solidFill>
              <a:srgbClr val="E8910C"/>
            </a:solidFill>
            <a:prstDash val="solid"/>
          </a:ln>
        </p:spPr>
      </p:sp>
      <p:pic>
        <p:nvPicPr>
          <p:cNvPr id="6" name="Image 0" descr="preencoded.png">    </p:cNvPr>
          <p:cNvPicPr>
            <a:picLocks noChangeAspect="1"/>
          </p:cNvPicPr>
          <p:nvPr/>
        </p:nvPicPr>
        <p:blipFill>
          <a:blip r:embed="rId1"/>
          <a:stretch>
            <a:fillRect/>
          </a:stretch>
        </p:blipFill>
        <p:spPr>
          <a:xfrm>
            <a:off x="662940" y="3680460"/>
            <a:ext cx="228600" cy="228600"/>
          </a:xfrm>
          <a:prstGeom prst="rect">
            <a:avLst/>
          </a:prstGeom>
        </p:spPr>
      </p:pic>
      <p:sp>
        <p:nvSpPr>
          <p:cNvPr id="7" name="Text 4"/>
          <p:cNvSpPr txBox="1"/>
          <p:nvPr/>
        </p:nvSpPr>
        <p:spPr>
          <a:xfrm>
            <a:off x="1097280" y="3566160"/>
            <a:ext cx="960120" cy="457200"/>
          </a:xfrm>
          <a:prstGeom prst="rect">
            <a:avLst/>
          </a:prstGeom>
          <a:noFill/>
          <a:ln/>
        </p:spPr>
        <p:txBody>
          <a:bodyPr wrap="square" lIns="0" tIns="0" rIns="0" bIns="0" rtlCol="0" anchor="ctr"/>
          <a:lstStyle/>
          <a:p>
            <a:pPr indent="0" marL="0">
              <a:buNone/>
            </a:pPr>
            <a:r>
              <a:rPr lang="en-US" sz="1400" b="1" dirty="0">
                <a:solidFill>
                  <a:srgbClr val="1B2631"/>
                </a:solidFill>
                <a:latin typeface="Calibri" pitchFamily="34" charset="0"/>
                <a:ea typeface="Calibri" pitchFamily="34" charset="-122"/>
                <a:cs typeface="Calibri" pitchFamily="34" charset="-120"/>
              </a:rPr>
              <a:t>Predict</a:t>
            </a:r>
            <a:endParaRPr lang="en-US" sz="1400" dirty="0"/>
          </a:p>
        </p:txBody>
      </p:sp>
      <p:sp>
        <p:nvSpPr>
          <p:cNvPr id="8" name="Shape 5"/>
          <p:cNvSpPr/>
          <p:nvPr/>
        </p:nvSpPr>
        <p:spPr>
          <a:xfrm>
            <a:off x="2148840" y="3566160"/>
            <a:ext cx="457200" cy="457200"/>
          </a:xfrm>
          <a:prstGeom prst="ellipse">
            <a:avLst/>
          </a:prstGeom>
          <a:solidFill>
            <a:srgbClr val="E8910C"/>
          </a:solidFill>
          <a:ln w="12700">
            <a:solidFill>
              <a:srgbClr val="E8910C"/>
            </a:solidFill>
            <a:prstDash val="solid"/>
          </a:ln>
        </p:spPr>
      </p:sp>
      <p:pic>
        <p:nvPicPr>
          <p:cNvPr id="9" name="Image 1" descr="preencoded.png">    </p:cNvPr>
          <p:cNvPicPr>
            <a:picLocks noChangeAspect="1"/>
          </p:cNvPicPr>
          <p:nvPr/>
        </p:nvPicPr>
        <p:blipFill>
          <a:blip r:embed="rId2"/>
          <a:stretch>
            <a:fillRect/>
          </a:stretch>
        </p:blipFill>
        <p:spPr>
          <a:xfrm>
            <a:off x="2263140" y="3680460"/>
            <a:ext cx="228600" cy="228600"/>
          </a:xfrm>
          <a:prstGeom prst="rect">
            <a:avLst/>
          </a:prstGeom>
        </p:spPr>
      </p:pic>
      <p:sp>
        <p:nvSpPr>
          <p:cNvPr id="10" name="Text 6"/>
          <p:cNvSpPr txBox="1"/>
          <p:nvPr/>
        </p:nvSpPr>
        <p:spPr>
          <a:xfrm>
            <a:off x="2697480" y="3566160"/>
            <a:ext cx="960120" cy="457200"/>
          </a:xfrm>
          <a:prstGeom prst="rect">
            <a:avLst/>
          </a:prstGeom>
          <a:noFill/>
          <a:ln/>
        </p:spPr>
        <p:txBody>
          <a:bodyPr wrap="square" lIns="0" tIns="0" rIns="0" bIns="0" rtlCol="0" anchor="ctr"/>
          <a:lstStyle/>
          <a:p>
            <a:pPr indent="0" marL="0">
              <a:buNone/>
            </a:pPr>
            <a:r>
              <a:rPr lang="en-US" sz="1400" b="1" dirty="0">
                <a:solidFill>
                  <a:srgbClr val="1B2631"/>
                </a:solidFill>
                <a:latin typeface="Calibri" pitchFamily="34" charset="0"/>
                <a:ea typeface="Calibri" pitchFamily="34" charset="-122"/>
                <a:cs typeface="Calibri" pitchFamily="34" charset="-120"/>
              </a:rPr>
              <a:t>Explain</a:t>
            </a:r>
            <a:endParaRPr lang="en-US" sz="1400" dirty="0"/>
          </a:p>
        </p:txBody>
      </p:sp>
      <p:sp>
        <p:nvSpPr>
          <p:cNvPr id="11" name="Shape 7"/>
          <p:cNvSpPr/>
          <p:nvPr/>
        </p:nvSpPr>
        <p:spPr>
          <a:xfrm>
            <a:off x="3749040" y="3566160"/>
            <a:ext cx="457200" cy="457200"/>
          </a:xfrm>
          <a:prstGeom prst="ellipse">
            <a:avLst/>
          </a:prstGeom>
          <a:solidFill>
            <a:srgbClr val="E8910C"/>
          </a:solidFill>
          <a:ln w="12700">
            <a:solidFill>
              <a:srgbClr val="E8910C"/>
            </a:solidFill>
            <a:prstDash val="solid"/>
          </a:ln>
        </p:spPr>
      </p:sp>
      <p:pic>
        <p:nvPicPr>
          <p:cNvPr id="12" name="Image 2" descr="preencoded.png">    </p:cNvPr>
          <p:cNvPicPr>
            <a:picLocks noChangeAspect="1"/>
          </p:cNvPicPr>
          <p:nvPr/>
        </p:nvPicPr>
        <p:blipFill>
          <a:blip r:embed="rId3"/>
          <a:stretch>
            <a:fillRect/>
          </a:stretch>
        </p:blipFill>
        <p:spPr>
          <a:xfrm>
            <a:off x="3863340" y="3680460"/>
            <a:ext cx="228600" cy="228600"/>
          </a:xfrm>
          <a:prstGeom prst="rect">
            <a:avLst/>
          </a:prstGeom>
        </p:spPr>
      </p:pic>
      <p:sp>
        <p:nvSpPr>
          <p:cNvPr id="13" name="Text 8"/>
          <p:cNvSpPr txBox="1"/>
          <p:nvPr/>
        </p:nvSpPr>
        <p:spPr>
          <a:xfrm>
            <a:off x="4297680" y="3566160"/>
            <a:ext cx="960120" cy="457200"/>
          </a:xfrm>
          <a:prstGeom prst="rect">
            <a:avLst/>
          </a:prstGeom>
          <a:noFill/>
          <a:ln/>
        </p:spPr>
        <p:txBody>
          <a:bodyPr wrap="square" lIns="0" tIns="0" rIns="0" bIns="0" rtlCol="0" anchor="ctr"/>
          <a:lstStyle/>
          <a:p>
            <a:pPr indent="0" marL="0">
              <a:buNone/>
            </a:pPr>
            <a:r>
              <a:rPr lang="en-US" sz="1400" b="1" dirty="0">
                <a:solidFill>
                  <a:srgbClr val="1B2631"/>
                </a:solidFill>
                <a:latin typeface="Calibri" pitchFamily="34" charset="0"/>
                <a:ea typeface="Calibri" pitchFamily="34" charset="-122"/>
                <a:cs typeface="Calibri" pitchFamily="34" charset="-120"/>
              </a:rPr>
              <a:t>Optimise</a:t>
            </a:r>
            <a:endParaRPr lang="en-US" sz="1400" dirty="0"/>
          </a:p>
        </p:txBody>
      </p:sp>
      <p:sp>
        <p:nvSpPr>
          <p:cNvPr id="14" name="Shape 9"/>
          <p:cNvSpPr/>
          <p:nvPr/>
        </p:nvSpPr>
        <p:spPr>
          <a:xfrm>
            <a:off x="5349240" y="3566160"/>
            <a:ext cx="457200" cy="457200"/>
          </a:xfrm>
          <a:prstGeom prst="ellipse">
            <a:avLst/>
          </a:prstGeom>
          <a:solidFill>
            <a:srgbClr val="E8910C"/>
          </a:solidFill>
          <a:ln w="12700">
            <a:solidFill>
              <a:srgbClr val="E8910C"/>
            </a:solidFill>
            <a:prstDash val="solid"/>
          </a:ln>
        </p:spPr>
      </p:sp>
      <p:pic>
        <p:nvPicPr>
          <p:cNvPr id="15" name="Image 3" descr="preencoded.png">    </p:cNvPr>
          <p:cNvPicPr>
            <a:picLocks noChangeAspect="1"/>
          </p:cNvPicPr>
          <p:nvPr/>
        </p:nvPicPr>
        <p:blipFill>
          <a:blip r:embed="rId4"/>
          <a:stretch>
            <a:fillRect/>
          </a:stretch>
        </p:blipFill>
        <p:spPr>
          <a:xfrm>
            <a:off x="5463540" y="3680460"/>
            <a:ext cx="228600" cy="228600"/>
          </a:xfrm>
          <a:prstGeom prst="rect">
            <a:avLst/>
          </a:prstGeom>
        </p:spPr>
      </p:pic>
      <p:sp>
        <p:nvSpPr>
          <p:cNvPr id="16" name="Text 10"/>
          <p:cNvSpPr txBox="1"/>
          <p:nvPr/>
        </p:nvSpPr>
        <p:spPr>
          <a:xfrm>
            <a:off x="5897880" y="3566160"/>
            <a:ext cx="960120" cy="457200"/>
          </a:xfrm>
          <a:prstGeom prst="rect">
            <a:avLst/>
          </a:prstGeom>
          <a:noFill/>
          <a:ln/>
        </p:spPr>
        <p:txBody>
          <a:bodyPr wrap="square" lIns="0" tIns="0" rIns="0" bIns="0" rtlCol="0" anchor="ctr"/>
          <a:lstStyle/>
          <a:p>
            <a:pPr indent="0" marL="0">
              <a:buNone/>
            </a:pPr>
            <a:r>
              <a:rPr lang="en-US" sz="1400" b="1" dirty="0">
                <a:solidFill>
                  <a:srgbClr val="1B2631"/>
                </a:solidFill>
                <a:latin typeface="Calibri" pitchFamily="34" charset="0"/>
                <a:ea typeface="Calibri" pitchFamily="34" charset="-122"/>
                <a:cs typeface="Calibri" pitchFamily="34" charset="-120"/>
              </a:rPr>
              <a:t>Decide</a:t>
            </a:r>
            <a:endParaRPr lang="en-US" sz="1400" dirty="0"/>
          </a:p>
        </p:txBody>
      </p:sp>
      <p:sp>
        <p:nvSpPr>
          <p:cNvPr id="17" name="Shape 11"/>
          <p:cNvSpPr/>
          <p:nvPr/>
        </p:nvSpPr>
        <p:spPr>
          <a:xfrm>
            <a:off x="6949440" y="3566160"/>
            <a:ext cx="457200" cy="457200"/>
          </a:xfrm>
          <a:prstGeom prst="ellipse">
            <a:avLst/>
          </a:prstGeom>
          <a:solidFill>
            <a:srgbClr val="E8910C"/>
          </a:solidFill>
          <a:ln w="12700">
            <a:solidFill>
              <a:srgbClr val="E8910C"/>
            </a:solidFill>
            <a:prstDash val="solid"/>
          </a:ln>
        </p:spPr>
      </p:sp>
      <p:pic>
        <p:nvPicPr>
          <p:cNvPr id="18" name="Image 4" descr="preencoded.png">    </p:cNvPr>
          <p:cNvPicPr>
            <a:picLocks noChangeAspect="1"/>
          </p:cNvPicPr>
          <p:nvPr/>
        </p:nvPicPr>
        <p:blipFill>
          <a:blip r:embed="rId5"/>
          <a:stretch>
            <a:fillRect/>
          </a:stretch>
        </p:blipFill>
        <p:spPr>
          <a:xfrm>
            <a:off x="7063740" y="3680460"/>
            <a:ext cx="228600" cy="228600"/>
          </a:xfrm>
          <a:prstGeom prst="rect">
            <a:avLst/>
          </a:prstGeom>
        </p:spPr>
      </p:pic>
      <p:sp>
        <p:nvSpPr>
          <p:cNvPr id="19" name="Text 12"/>
          <p:cNvSpPr txBox="1"/>
          <p:nvPr/>
        </p:nvSpPr>
        <p:spPr>
          <a:xfrm>
            <a:off x="7498080" y="3566160"/>
            <a:ext cx="960120" cy="457200"/>
          </a:xfrm>
          <a:prstGeom prst="rect">
            <a:avLst/>
          </a:prstGeom>
          <a:noFill/>
          <a:ln/>
        </p:spPr>
        <p:txBody>
          <a:bodyPr wrap="square" lIns="0" tIns="0" rIns="0" bIns="0" rtlCol="0" anchor="ctr"/>
          <a:lstStyle/>
          <a:p>
            <a:pPr indent="0" marL="0">
              <a:buNone/>
            </a:pPr>
            <a:r>
              <a:rPr lang="en-US" sz="1400" b="1" dirty="0">
                <a:solidFill>
                  <a:srgbClr val="1B2631"/>
                </a:solidFill>
                <a:latin typeface="Calibri" pitchFamily="34" charset="0"/>
                <a:ea typeface="Calibri" pitchFamily="34" charset="-122"/>
                <a:cs typeface="Calibri" pitchFamily="34" charset="-120"/>
              </a:rPr>
              <a:t>Act</a:t>
            </a:r>
            <a:endParaRPr lang="en-US" sz="1400" dirty="0"/>
          </a:p>
        </p:txBody>
      </p:sp>
      <p:sp>
        <p:nvSpPr>
          <p:cNvPr id="20" name="Text 13"/>
          <p:cNvSpPr txBox="1"/>
          <p:nvPr/>
        </p:nvSpPr>
        <p:spPr>
          <a:xfrm>
            <a:off x="548640" y="4434840"/>
            <a:ext cx="5486400" cy="274320"/>
          </a:xfrm>
          <a:prstGeom prst="rect">
            <a:avLst/>
          </a:prstGeom>
          <a:noFill/>
          <a:ln/>
        </p:spPr>
        <p:txBody>
          <a:bodyPr wrap="square" lIns="0" tIns="0" rIns="0" bIns="0" rtlCol="0" anchor="t"/>
          <a:lstStyle/>
          <a:p>
            <a:pPr indent="0" marL="0">
              <a:buNone/>
            </a:pPr>
            <a:r>
              <a:rPr lang="en-US" sz="1100" i="1" dirty="0">
                <a:solidFill>
                  <a:srgbClr val="5F6B78"/>
                </a:solidFill>
                <a:latin typeface="Calibri" pitchFamily="34" charset="0"/>
                <a:ea typeface="Calibri" pitchFamily="34" charset="-122"/>
                <a:cs typeface="Calibri" pitchFamily="34" charset="-120"/>
              </a:rPr>
              <a:t>Domain: Manufacturing &amp; Industrial IoT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000" b="1" spc="200" kern="0" dirty="0">
                <a:solidFill>
                  <a:srgbClr val="E8910C"/>
                </a:solidFill>
                <a:latin typeface="Calibri" pitchFamily="34" charset="0"/>
                <a:ea typeface="Calibri" pitchFamily="34" charset="-122"/>
                <a:cs typeface="Calibri" pitchFamily="34" charset="-120"/>
              </a:rPr>
              <a:t>AGENDA</a:t>
            </a:r>
            <a:endParaRPr lang="en-US" sz="10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1B2631"/>
                </a:solidFill>
                <a:latin typeface="Calibri" pitchFamily="34" charset="0"/>
                <a:ea typeface="Calibri" pitchFamily="34" charset="-122"/>
                <a:cs typeface="Calibri" pitchFamily="34" charset="-120"/>
              </a:rPr>
              <a:t>What we'll cover</a:t>
            </a:r>
            <a:endParaRPr lang="en-US" sz="2800" dirty="0"/>
          </a:p>
        </p:txBody>
      </p:sp>
      <p:sp>
        <p:nvSpPr>
          <p:cNvPr id="4" name="Text 2"/>
          <p:cNvSpPr txBox="1"/>
          <p:nvPr/>
        </p:nvSpPr>
        <p:spPr>
          <a:xfrm>
            <a:off x="7315200" y="4846320"/>
            <a:ext cx="1371600" cy="182880"/>
          </a:xfrm>
          <a:prstGeom prst="rect">
            <a:avLst/>
          </a:prstGeom>
          <a:noFill/>
          <a:ln/>
        </p:spPr>
        <p:txBody>
          <a:bodyPr wrap="square" lIns="0" tIns="0" rIns="0" bIns="0" rtlCol="0" anchor="t"/>
          <a:lstStyle/>
          <a:p>
            <a:pPr algn="r" indent="0" marL="0">
              <a:buNone/>
            </a:pPr>
            <a:r>
              <a:rPr lang="en-US" sz="900" dirty="0">
                <a:solidFill>
                  <a:srgbClr val="5F6B78"/>
                </a:solidFill>
                <a:latin typeface="Calibri" pitchFamily="34" charset="0"/>
                <a:ea typeface="Calibri" pitchFamily="34" charset="-122"/>
                <a:cs typeface="Calibri" pitchFamily="34" charset="-120"/>
              </a:rPr>
              <a:t>SMPO  ·  2</a:t>
            </a:r>
            <a:endParaRPr lang="en-US" sz="900" dirty="0"/>
          </a:p>
        </p:txBody>
      </p:sp>
      <p:sp>
        <p:nvSpPr>
          <p:cNvPr id="5" name="Shape 3"/>
          <p:cNvSpPr/>
          <p:nvPr/>
        </p:nvSpPr>
        <p:spPr>
          <a:xfrm>
            <a:off x="457200" y="1325880"/>
            <a:ext cx="502920" cy="502920"/>
          </a:xfrm>
          <a:prstGeom prst="ellipse">
            <a:avLst/>
          </a:prstGeom>
          <a:solidFill>
            <a:srgbClr val="E8910C"/>
          </a:solidFill>
          <a:ln w="12700">
            <a:solidFill>
              <a:srgbClr val="E8910C"/>
            </a:solidFill>
            <a:prstDash val="solid"/>
          </a:ln>
        </p:spPr>
      </p:sp>
      <p:sp>
        <p:nvSpPr>
          <p:cNvPr id="6" name="Text 4"/>
          <p:cNvSpPr txBox="1"/>
          <p:nvPr/>
        </p:nvSpPr>
        <p:spPr>
          <a:xfrm>
            <a:off x="457200" y="132588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01</a:t>
            </a:r>
            <a:endParaRPr lang="en-US" sz="1500" dirty="0"/>
          </a:p>
        </p:txBody>
      </p:sp>
      <p:sp>
        <p:nvSpPr>
          <p:cNvPr id="7" name="Text 5"/>
          <p:cNvSpPr txBox="1"/>
          <p:nvPr/>
        </p:nvSpPr>
        <p:spPr>
          <a:xfrm>
            <a:off x="1097280" y="1307592"/>
            <a:ext cx="3383280" cy="292608"/>
          </a:xfrm>
          <a:prstGeom prst="rect">
            <a:avLst/>
          </a:prstGeom>
          <a:noFill/>
          <a:ln/>
        </p:spPr>
        <p:txBody>
          <a:bodyPr wrap="square" lIns="0" tIns="0" rIns="0" bIns="0" rtlCol="0" anchor="t"/>
          <a:lstStyle/>
          <a:p>
            <a:pPr indent="0" marL="0">
              <a:buNone/>
            </a:pPr>
            <a:r>
              <a:rPr lang="en-US" sz="1500" b="1" dirty="0">
                <a:solidFill>
                  <a:srgbClr val="1B2631"/>
                </a:solidFill>
                <a:latin typeface="Calibri" pitchFamily="34" charset="0"/>
                <a:ea typeface="Calibri" pitchFamily="34" charset="-122"/>
                <a:cs typeface="Calibri" pitchFamily="34" charset="-120"/>
              </a:rPr>
              <a:t>Problem &amp; solution overview</a:t>
            </a:r>
            <a:endParaRPr lang="en-US" sz="1500" dirty="0"/>
          </a:p>
        </p:txBody>
      </p:sp>
      <p:sp>
        <p:nvSpPr>
          <p:cNvPr id="8" name="Text 6"/>
          <p:cNvSpPr txBox="1"/>
          <p:nvPr/>
        </p:nvSpPr>
        <p:spPr>
          <a:xfrm>
            <a:off x="1097280" y="1600200"/>
            <a:ext cx="3383280" cy="274320"/>
          </a:xfrm>
          <a:prstGeom prst="rect">
            <a:avLst/>
          </a:prstGeom>
          <a:noFill/>
          <a:ln/>
        </p:spPr>
        <p:txBody>
          <a:bodyPr wrap="square" lIns="0" tIns="0" rIns="0" bIns="0" rtlCol="0" anchor="t"/>
          <a:lstStyle/>
          <a:p>
            <a:pPr indent="0" marL="0">
              <a:buNone/>
            </a:pPr>
            <a:r>
              <a:rPr lang="en-US" sz="1150" dirty="0">
                <a:solidFill>
                  <a:srgbClr val="5F6B78"/>
                </a:solidFill>
                <a:latin typeface="Calibri" pitchFamily="34" charset="0"/>
                <a:ea typeface="Calibri" pitchFamily="34" charset="-122"/>
                <a:cs typeface="Calibri" pitchFamily="34" charset="-120"/>
              </a:rPr>
              <a:t>Why factories lose output and our 5-stage answer</a:t>
            </a:r>
            <a:endParaRPr lang="en-US" sz="1150" dirty="0"/>
          </a:p>
        </p:txBody>
      </p:sp>
      <p:sp>
        <p:nvSpPr>
          <p:cNvPr id="9" name="Shape 7"/>
          <p:cNvSpPr/>
          <p:nvPr/>
        </p:nvSpPr>
        <p:spPr>
          <a:xfrm>
            <a:off x="457200" y="2194560"/>
            <a:ext cx="502920" cy="502920"/>
          </a:xfrm>
          <a:prstGeom prst="ellipse">
            <a:avLst/>
          </a:prstGeom>
          <a:solidFill>
            <a:srgbClr val="34495E"/>
          </a:solidFill>
          <a:ln w="12700">
            <a:solidFill>
              <a:srgbClr val="34495E"/>
            </a:solidFill>
            <a:prstDash val="solid"/>
          </a:ln>
        </p:spPr>
      </p:sp>
      <p:sp>
        <p:nvSpPr>
          <p:cNvPr id="10" name="Text 8"/>
          <p:cNvSpPr txBox="1"/>
          <p:nvPr/>
        </p:nvSpPr>
        <p:spPr>
          <a:xfrm>
            <a:off x="457200" y="219456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02</a:t>
            </a:r>
            <a:endParaRPr lang="en-US" sz="1500" dirty="0"/>
          </a:p>
        </p:txBody>
      </p:sp>
      <p:sp>
        <p:nvSpPr>
          <p:cNvPr id="11" name="Text 9"/>
          <p:cNvSpPr txBox="1"/>
          <p:nvPr/>
        </p:nvSpPr>
        <p:spPr>
          <a:xfrm>
            <a:off x="1097280" y="2176272"/>
            <a:ext cx="3383280" cy="292608"/>
          </a:xfrm>
          <a:prstGeom prst="rect">
            <a:avLst/>
          </a:prstGeom>
          <a:noFill/>
          <a:ln/>
        </p:spPr>
        <p:txBody>
          <a:bodyPr wrap="square" lIns="0" tIns="0" rIns="0" bIns="0" rtlCol="0" anchor="t"/>
          <a:lstStyle/>
          <a:p>
            <a:pPr indent="0" marL="0">
              <a:buNone/>
            </a:pPr>
            <a:r>
              <a:rPr lang="en-US" sz="1500" b="1" dirty="0">
                <a:solidFill>
                  <a:srgbClr val="1B2631"/>
                </a:solidFill>
                <a:latin typeface="Calibri" pitchFamily="34" charset="0"/>
                <a:ea typeface="Calibri" pitchFamily="34" charset="-122"/>
                <a:cs typeface="Calibri" pitchFamily="34" charset="-120"/>
              </a:rPr>
              <a:t>Datasets</a:t>
            </a:r>
            <a:endParaRPr lang="en-US" sz="1500" dirty="0"/>
          </a:p>
        </p:txBody>
      </p:sp>
      <p:sp>
        <p:nvSpPr>
          <p:cNvPr id="12" name="Text 10"/>
          <p:cNvSpPr txBox="1"/>
          <p:nvPr/>
        </p:nvSpPr>
        <p:spPr>
          <a:xfrm>
            <a:off x="1097280" y="2468880"/>
            <a:ext cx="3383280" cy="274320"/>
          </a:xfrm>
          <a:prstGeom prst="rect">
            <a:avLst/>
          </a:prstGeom>
          <a:noFill/>
          <a:ln/>
        </p:spPr>
        <p:txBody>
          <a:bodyPr wrap="square" lIns="0" tIns="0" rIns="0" bIns="0" rtlCol="0" anchor="t"/>
          <a:lstStyle/>
          <a:p>
            <a:pPr indent="0" marL="0">
              <a:buNone/>
            </a:pPr>
            <a:r>
              <a:rPr lang="en-US" sz="1150" dirty="0">
                <a:solidFill>
                  <a:srgbClr val="5F6B78"/>
                </a:solidFill>
                <a:latin typeface="Calibri" pitchFamily="34" charset="0"/>
                <a:ea typeface="Calibri" pitchFamily="34" charset="-122"/>
                <a:cs typeface="Calibri" pitchFamily="34" charset="-120"/>
              </a:rPr>
              <a:t>AI4I 2020 + Azure PdM, and why</a:t>
            </a:r>
            <a:endParaRPr lang="en-US" sz="1150" dirty="0"/>
          </a:p>
        </p:txBody>
      </p:sp>
      <p:sp>
        <p:nvSpPr>
          <p:cNvPr id="13" name="Shape 11"/>
          <p:cNvSpPr/>
          <p:nvPr/>
        </p:nvSpPr>
        <p:spPr>
          <a:xfrm>
            <a:off x="457200" y="3063240"/>
            <a:ext cx="502920" cy="502920"/>
          </a:xfrm>
          <a:prstGeom prst="ellipse">
            <a:avLst/>
          </a:prstGeom>
          <a:solidFill>
            <a:srgbClr val="E8910C"/>
          </a:solidFill>
          <a:ln w="12700">
            <a:solidFill>
              <a:srgbClr val="E8910C"/>
            </a:solidFill>
            <a:prstDash val="solid"/>
          </a:ln>
        </p:spPr>
      </p:sp>
      <p:sp>
        <p:nvSpPr>
          <p:cNvPr id="14" name="Text 12"/>
          <p:cNvSpPr txBox="1"/>
          <p:nvPr/>
        </p:nvSpPr>
        <p:spPr>
          <a:xfrm>
            <a:off x="457200" y="306324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03</a:t>
            </a:r>
            <a:endParaRPr lang="en-US" sz="1500" dirty="0"/>
          </a:p>
        </p:txBody>
      </p:sp>
      <p:sp>
        <p:nvSpPr>
          <p:cNvPr id="15" name="Text 13"/>
          <p:cNvSpPr txBox="1"/>
          <p:nvPr/>
        </p:nvSpPr>
        <p:spPr>
          <a:xfrm>
            <a:off x="1097280" y="3044952"/>
            <a:ext cx="3383280" cy="292608"/>
          </a:xfrm>
          <a:prstGeom prst="rect">
            <a:avLst/>
          </a:prstGeom>
          <a:noFill/>
          <a:ln/>
        </p:spPr>
        <p:txBody>
          <a:bodyPr wrap="square" lIns="0" tIns="0" rIns="0" bIns="0" rtlCol="0" anchor="t"/>
          <a:lstStyle/>
          <a:p>
            <a:pPr indent="0" marL="0">
              <a:buNone/>
            </a:pPr>
            <a:r>
              <a:rPr lang="en-US" sz="1500" b="1" dirty="0">
                <a:solidFill>
                  <a:srgbClr val="1B2631"/>
                </a:solidFill>
                <a:latin typeface="Calibri" pitchFamily="34" charset="0"/>
                <a:ea typeface="Calibri" pitchFamily="34" charset="-122"/>
                <a:cs typeface="Calibri" pitchFamily="34" charset="-120"/>
              </a:rPr>
              <a:t>Architecture &amp; request flow</a:t>
            </a:r>
            <a:endParaRPr lang="en-US" sz="1500" dirty="0"/>
          </a:p>
        </p:txBody>
      </p:sp>
      <p:sp>
        <p:nvSpPr>
          <p:cNvPr id="16" name="Text 14"/>
          <p:cNvSpPr txBox="1"/>
          <p:nvPr/>
        </p:nvSpPr>
        <p:spPr>
          <a:xfrm>
            <a:off x="1097280" y="3337560"/>
            <a:ext cx="3383280" cy="274320"/>
          </a:xfrm>
          <a:prstGeom prst="rect">
            <a:avLst/>
          </a:prstGeom>
          <a:noFill/>
          <a:ln/>
        </p:spPr>
        <p:txBody>
          <a:bodyPr wrap="square" lIns="0" tIns="0" rIns="0" bIns="0" rtlCol="0" anchor="t"/>
          <a:lstStyle/>
          <a:p>
            <a:pPr indent="0" marL="0">
              <a:buNone/>
            </a:pPr>
            <a:r>
              <a:rPr lang="en-US" sz="1150" dirty="0">
                <a:solidFill>
                  <a:srgbClr val="5F6B78"/>
                </a:solidFill>
                <a:latin typeface="Calibri" pitchFamily="34" charset="0"/>
                <a:ea typeface="Calibri" pitchFamily="34" charset="-122"/>
                <a:cs typeface="Calibri" pitchFamily="34" charset="-120"/>
              </a:rPr>
              <a:t>Layers, agent run sequence, factory replay</a:t>
            </a:r>
            <a:endParaRPr lang="en-US" sz="1150" dirty="0"/>
          </a:p>
        </p:txBody>
      </p:sp>
      <p:sp>
        <p:nvSpPr>
          <p:cNvPr id="17" name="Shape 15"/>
          <p:cNvSpPr/>
          <p:nvPr/>
        </p:nvSpPr>
        <p:spPr>
          <a:xfrm>
            <a:off x="457200" y="3931920"/>
            <a:ext cx="502920" cy="502920"/>
          </a:xfrm>
          <a:prstGeom prst="ellipse">
            <a:avLst/>
          </a:prstGeom>
          <a:solidFill>
            <a:srgbClr val="34495E"/>
          </a:solidFill>
          <a:ln w="12700">
            <a:solidFill>
              <a:srgbClr val="34495E"/>
            </a:solidFill>
            <a:prstDash val="solid"/>
          </a:ln>
        </p:spPr>
      </p:sp>
      <p:sp>
        <p:nvSpPr>
          <p:cNvPr id="18" name="Text 16"/>
          <p:cNvSpPr txBox="1"/>
          <p:nvPr/>
        </p:nvSpPr>
        <p:spPr>
          <a:xfrm>
            <a:off x="457200" y="393192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04</a:t>
            </a:r>
            <a:endParaRPr lang="en-US" sz="1500" dirty="0"/>
          </a:p>
        </p:txBody>
      </p:sp>
      <p:sp>
        <p:nvSpPr>
          <p:cNvPr id="19" name="Text 17"/>
          <p:cNvSpPr txBox="1"/>
          <p:nvPr/>
        </p:nvSpPr>
        <p:spPr>
          <a:xfrm>
            <a:off x="1097280" y="3913632"/>
            <a:ext cx="3383280" cy="292608"/>
          </a:xfrm>
          <a:prstGeom prst="rect">
            <a:avLst/>
          </a:prstGeom>
          <a:noFill/>
          <a:ln/>
        </p:spPr>
        <p:txBody>
          <a:bodyPr wrap="square" lIns="0" tIns="0" rIns="0" bIns="0" rtlCol="0" anchor="t"/>
          <a:lstStyle/>
          <a:p>
            <a:pPr indent="0" marL="0">
              <a:buNone/>
            </a:pPr>
            <a:r>
              <a:rPr lang="en-US" sz="1500" b="1" dirty="0">
                <a:solidFill>
                  <a:srgbClr val="1B2631"/>
                </a:solidFill>
                <a:latin typeface="Calibri" pitchFamily="34" charset="0"/>
                <a:ea typeface="Calibri" pitchFamily="34" charset="-122"/>
                <a:cs typeface="Calibri" pitchFamily="34" charset="-120"/>
              </a:rPr>
              <a:t>Data pipeline &amp; ML models</a:t>
            </a:r>
            <a:endParaRPr lang="en-US" sz="1500" dirty="0"/>
          </a:p>
        </p:txBody>
      </p:sp>
      <p:sp>
        <p:nvSpPr>
          <p:cNvPr id="20" name="Text 18"/>
          <p:cNvSpPr txBox="1"/>
          <p:nvPr/>
        </p:nvSpPr>
        <p:spPr>
          <a:xfrm>
            <a:off x="1097280" y="4206240"/>
            <a:ext cx="3383280" cy="274320"/>
          </a:xfrm>
          <a:prstGeom prst="rect">
            <a:avLst/>
          </a:prstGeom>
          <a:noFill/>
          <a:ln/>
        </p:spPr>
        <p:txBody>
          <a:bodyPr wrap="square" lIns="0" tIns="0" rIns="0" bIns="0" rtlCol="0" anchor="t"/>
          <a:lstStyle/>
          <a:p>
            <a:pPr indent="0" marL="0">
              <a:buNone/>
            </a:pPr>
            <a:r>
              <a:rPr lang="en-US" sz="1150" dirty="0">
                <a:solidFill>
                  <a:srgbClr val="5F6B78"/>
                </a:solidFill>
                <a:latin typeface="Calibri" pitchFamily="34" charset="0"/>
                <a:ea typeface="Calibri" pitchFamily="34" charset="-122"/>
                <a:cs typeface="Calibri" pitchFamily="34" charset="-120"/>
              </a:rPr>
              <a:t>Features, LightGBM, anomaly detection, results</a:t>
            </a:r>
            <a:endParaRPr lang="en-US" sz="1150" dirty="0"/>
          </a:p>
        </p:txBody>
      </p:sp>
      <p:sp>
        <p:nvSpPr>
          <p:cNvPr id="21" name="Shape 19"/>
          <p:cNvSpPr/>
          <p:nvPr/>
        </p:nvSpPr>
        <p:spPr>
          <a:xfrm>
            <a:off x="4663440" y="1325880"/>
            <a:ext cx="502920" cy="502920"/>
          </a:xfrm>
          <a:prstGeom prst="ellipse">
            <a:avLst/>
          </a:prstGeom>
          <a:solidFill>
            <a:srgbClr val="E8910C"/>
          </a:solidFill>
          <a:ln w="12700">
            <a:solidFill>
              <a:srgbClr val="E8910C"/>
            </a:solidFill>
            <a:prstDash val="solid"/>
          </a:ln>
        </p:spPr>
      </p:sp>
      <p:sp>
        <p:nvSpPr>
          <p:cNvPr id="22" name="Text 20"/>
          <p:cNvSpPr txBox="1"/>
          <p:nvPr/>
        </p:nvSpPr>
        <p:spPr>
          <a:xfrm>
            <a:off x="4663440" y="132588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05</a:t>
            </a:r>
            <a:endParaRPr lang="en-US" sz="1500" dirty="0"/>
          </a:p>
        </p:txBody>
      </p:sp>
      <p:sp>
        <p:nvSpPr>
          <p:cNvPr id="23" name="Text 21"/>
          <p:cNvSpPr txBox="1"/>
          <p:nvPr/>
        </p:nvSpPr>
        <p:spPr>
          <a:xfrm>
            <a:off x="5303520" y="1307592"/>
            <a:ext cx="3383280" cy="292608"/>
          </a:xfrm>
          <a:prstGeom prst="rect">
            <a:avLst/>
          </a:prstGeom>
          <a:noFill/>
          <a:ln/>
        </p:spPr>
        <p:txBody>
          <a:bodyPr wrap="square" lIns="0" tIns="0" rIns="0" bIns="0" rtlCol="0" anchor="t"/>
          <a:lstStyle/>
          <a:p>
            <a:pPr indent="0" marL="0">
              <a:buNone/>
            </a:pPr>
            <a:r>
              <a:rPr lang="en-US" sz="1500" b="1" dirty="0">
                <a:solidFill>
                  <a:srgbClr val="1B2631"/>
                </a:solidFill>
                <a:latin typeface="Calibri" pitchFamily="34" charset="0"/>
                <a:ea typeface="Calibri" pitchFamily="34" charset="-122"/>
                <a:cs typeface="Calibri" pitchFamily="34" charset="-120"/>
              </a:rPr>
              <a:t>Optimisation &amp; business case</a:t>
            </a:r>
            <a:endParaRPr lang="en-US" sz="1500" dirty="0"/>
          </a:p>
        </p:txBody>
      </p:sp>
      <p:sp>
        <p:nvSpPr>
          <p:cNvPr id="24" name="Text 22"/>
          <p:cNvSpPr txBox="1"/>
          <p:nvPr/>
        </p:nvSpPr>
        <p:spPr>
          <a:xfrm>
            <a:off x="5303520" y="1600200"/>
            <a:ext cx="3383280" cy="274320"/>
          </a:xfrm>
          <a:prstGeom prst="rect">
            <a:avLst/>
          </a:prstGeom>
          <a:noFill/>
          <a:ln/>
        </p:spPr>
        <p:txBody>
          <a:bodyPr wrap="square" lIns="0" tIns="0" rIns="0" bIns="0" rtlCol="0" anchor="t"/>
          <a:lstStyle/>
          <a:p>
            <a:pPr indent="0" marL="0">
              <a:buNone/>
            </a:pPr>
            <a:r>
              <a:rPr lang="en-US" sz="1150" dirty="0">
                <a:solidFill>
                  <a:srgbClr val="5F6B78"/>
                </a:solidFill>
                <a:latin typeface="Calibri" pitchFamily="34" charset="0"/>
                <a:ea typeface="Calibri" pitchFamily="34" charset="-122"/>
                <a:cs typeface="Calibri" pitchFamily="34" charset="-120"/>
              </a:rPr>
              <a:t>Setpoints, CP-SAT scheduling, OEE</a:t>
            </a:r>
            <a:endParaRPr lang="en-US" sz="1150" dirty="0"/>
          </a:p>
        </p:txBody>
      </p:sp>
      <p:sp>
        <p:nvSpPr>
          <p:cNvPr id="25" name="Shape 23"/>
          <p:cNvSpPr/>
          <p:nvPr/>
        </p:nvSpPr>
        <p:spPr>
          <a:xfrm>
            <a:off x="4663440" y="2194560"/>
            <a:ext cx="502920" cy="502920"/>
          </a:xfrm>
          <a:prstGeom prst="ellipse">
            <a:avLst/>
          </a:prstGeom>
          <a:solidFill>
            <a:srgbClr val="34495E"/>
          </a:solidFill>
          <a:ln w="12700">
            <a:solidFill>
              <a:srgbClr val="34495E"/>
            </a:solidFill>
            <a:prstDash val="solid"/>
          </a:ln>
        </p:spPr>
      </p:sp>
      <p:sp>
        <p:nvSpPr>
          <p:cNvPr id="26" name="Text 24"/>
          <p:cNvSpPr txBox="1"/>
          <p:nvPr/>
        </p:nvSpPr>
        <p:spPr>
          <a:xfrm>
            <a:off x="4663440" y="219456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06</a:t>
            </a:r>
            <a:endParaRPr lang="en-US" sz="1500" dirty="0"/>
          </a:p>
        </p:txBody>
      </p:sp>
      <p:sp>
        <p:nvSpPr>
          <p:cNvPr id="27" name="Text 25"/>
          <p:cNvSpPr txBox="1"/>
          <p:nvPr/>
        </p:nvSpPr>
        <p:spPr>
          <a:xfrm>
            <a:off x="5303520" y="2176272"/>
            <a:ext cx="3383280" cy="292608"/>
          </a:xfrm>
          <a:prstGeom prst="rect">
            <a:avLst/>
          </a:prstGeom>
          <a:noFill/>
          <a:ln/>
        </p:spPr>
        <p:txBody>
          <a:bodyPr wrap="square" lIns="0" tIns="0" rIns="0" bIns="0" rtlCol="0" anchor="t"/>
          <a:lstStyle/>
          <a:p>
            <a:pPr indent="0" marL="0">
              <a:buNone/>
            </a:pPr>
            <a:r>
              <a:rPr lang="en-US" sz="1500" b="1" dirty="0">
                <a:solidFill>
                  <a:srgbClr val="1B2631"/>
                </a:solidFill>
                <a:latin typeface="Calibri" pitchFamily="34" charset="0"/>
                <a:ea typeface="Calibri" pitchFamily="34" charset="-122"/>
                <a:cs typeface="Calibri" pitchFamily="34" charset="-120"/>
              </a:rPr>
              <a:t>Decision agents (LLM layer)</a:t>
            </a:r>
            <a:endParaRPr lang="en-US" sz="1500" dirty="0"/>
          </a:p>
        </p:txBody>
      </p:sp>
      <p:sp>
        <p:nvSpPr>
          <p:cNvPr id="28" name="Text 26"/>
          <p:cNvSpPr txBox="1"/>
          <p:nvPr/>
        </p:nvSpPr>
        <p:spPr>
          <a:xfrm>
            <a:off x="5303520" y="2468880"/>
            <a:ext cx="3383280" cy="274320"/>
          </a:xfrm>
          <a:prstGeom prst="rect">
            <a:avLst/>
          </a:prstGeom>
          <a:noFill/>
          <a:ln/>
        </p:spPr>
        <p:txBody>
          <a:bodyPr wrap="square" lIns="0" tIns="0" rIns="0" bIns="0" rtlCol="0" anchor="t"/>
          <a:lstStyle/>
          <a:p>
            <a:pPr indent="0" marL="0">
              <a:buNone/>
            </a:pPr>
            <a:r>
              <a:rPr lang="en-US" sz="1150" dirty="0">
                <a:solidFill>
                  <a:srgbClr val="5F6B78"/>
                </a:solidFill>
                <a:latin typeface="Calibri" pitchFamily="34" charset="0"/>
                <a:ea typeface="Calibri" pitchFamily="34" charset="-122"/>
                <a:cs typeface="Calibri" pitchFamily="34" charset="-120"/>
              </a:rPr>
              <a:t>Agents, tools, backends, modes, safeguards</a:t>
            </a:r>
            <a:endParaRPr lang="en-US" sz="1150" dirty="0"/>
          </a:p>
        </p:txBody>
      </p:sp>
      <p:sp>
        <p:nvSpPr>
          <p:cNvPr id="29" name="Shape 27"/>
          <p:cNvSpPr/>
          <p:nvPr/>
        </p:nvSpPr>
        <p:spPr>
          <a:xfrm>
            <a:off x="4663440" y="3063240"/>
            <a:ext cx="502920" cy="502920"/>
          </a:xfrm>
          <a:prstGeom prst="ellipse">
            <a:avLst/>
          </a:prstGeom>
          <a:solidFill>
            <a:srgbClr val="E8910C"/>
          </a:solidFill>
          <a:ln w="12700">
            <a:solidFill>
              <a:srgbClr val="E8910C"/>
            </a:solidFill>
            <a:prstDash val="solid"/>
          </a:ln>
        </p:spPr>
      </p:sp>
      <p:sp>
        <p:nvSpPr>
          <p:cNvPr id="30" name="Text 28"/>
          <p:cNvSpPr txBox="1"/>
          <p:nvPr/>
        </p:nvSpPr>
        <p:spPr>
          <a:xfrm>
            <a:off x="4663440" y="306324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07</a:t>
            </a:r>
            <a:endParaRPr lang="en-US" sz="1500" dirty="0"/>
          </a:p>
        </p:txBody>
      </p:sp>
      <p:sp>
        <p:nvSpPr>
          <p:cNvPr id="31" name="Text 29"/>
          <p:cNvSpPr txBox="1"/>
          <p:nvPr/>
        </p:nvSpPr>
        <p:spPr>
          <a:xfrm>
            <a:off x="5303520" y="3044952"/>
            <a:ext cx="3383280" cy="292608"/>
          </a:xfrm>
          <a:prstGeom prst="rect">
            <a:avLst/>
          </a:prstGeom>
          <a:noFill/>
          <a:ln/>
        </p:spPr>
        <p:txBody>
          <a:bodyPr wrap="square" lIns="0" tIns="0" rIns="0" bIns="0" rtlCol="0" anchor="t"/>
          <a:lstStyle/>
          <a:p>
            <a:pPr indent="0" marL="0">
              <a:buNone/>
            </a:pPr>
            <a:r>
              <a:rPr lang="en-US" sz="1500" b="1" dirty="0">
                <a:solidFill>
                  <a:srgbClr val="1B2631"/>
                </a:solidFill>
                <a:latin typeface="Calibri" pitchFamily="34" charset="0"/>
                <a:ea typeface="Calibri" pitchFamily="34" charset="-122"/>
                <a:cs typeface="Calibri" pitchFamily="34" charset="-120"/>
              </a:rPr>
              <a:t>Dashboard &amp; operations</a:t>
            </a:r>
            <a:endParaRPr lang="en-US" sz="1500" dirty="0"/>
          </a:p>
        </p:txBody>
      </p:sp>
      <p:sp>
        <p:nvSpPr>
          <p:cNvPr id="32" name="Text 30"/>
          <p:cNvSpPr txBox="1"/>
          <p:nvPr/>
        </p:nvSpPr>
        <p:spPr>
          <a:xfrm>
            <a:off x="5303520" y="3337560"/>
            <a:ext cx="3383280" cy="274320"/>
          </a:xfrm>
          <a:prstGeom prst="rect">
            <a:avLst/>
          </a:prstGeom>
          <a:noFill/>
          <a:ln/>
        </p:spPr>
        <p:txBody>
          <a:bodyPr wrap="square" lIns="0" tIns="0" rIns="0" bIns="0" rtlCol="0" anchor="t"/>
          <a:lstStyle/>
          <a:p>
            <a:pPr indent="0" marL="0">
              <a:buNone/>
            </a:pPr>
            <a:r>
              <a:rPr lang="en-US" sz="1150" dirty="0">
                <a:solidFill>
                  <a:srgbClr val="5F6B78"/>
                </a:solidFill>
                <a:latin typeface="Calibri" pitchFamily="34" charset="0"/>
                <a:ea typeface="Calibri" pitchFamily="34" charset="-122"/>
                <a:cs typeface="Calibri" pitchFamily="34" charset="-120"/>
              </a:rPr>
              <a:t>7 pages, setup, config, testing</a:t>
            </a:r>
            <a:endParaRPr lang="en-US" sz="1150" dirty="0"/>
          </a:p>
        </p:txBody>
      </p:sp>
      <p:sp>
        <p:nvSpPr>
          <p:cNvPr id="33" name="Shape 31"/>
          <p:cNvSpPr/>
          <p:nvPr/>
        </p:nvSpPr>
        <p:spPr>
          <a:xfrm>
            <a:off x="4663440" y="3931920"/>
            <a:ext cx="502920" cy="502920"/>
          </a:xfrm>
          <a:prstGeom prst="ellipse">
            <a:avLst/>
          </a:prstGeom>
          <a:solidFill>
            <a:srgbClr val="34495E"/>
          </a:solidFill>
          <a:ln w="12700">
            <a:solidFill>
              <a:srgbClr val="34495E"/>
            </a:solidFill>
            <a:prstDash val="solid"/>
          </a:ln>
        </p:spPr>
      </p:sp>
      <p:sp>
        <p:nvSpPr>
          <p:cNvPr id="34" name="Text 32"/>
          <p:cNvSpPr txBox="1"/>
          <p:nvPr/>
        </p:nvSpPr>
        <p:spPr>
          <a:xfrm>
            <a:off x="4663440" y="393192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08</a:t>
            </a:r>
            <a:endParaRPr lang="en-US" sz="1500" dirty="0"/>
          </a:p>
        </p:txBody>
      </p:sp>
      <p:sp>
        <p:nvSpPr>
          <p:cNvPr id="35" name="Text 33"/>
          <p:cNvSpPr txBox="1"/>
          <p:nvPr/>
        </p:nvSpPr>
        <p:spPr>
          <a:xfrm>
            <a:off x="5303520" y="3913632"/>
            <a:ext cx="3383280" cy="292608"/>
          </a:xfrm>
          <a:prstGeom prst="rect">
            <a:avLst/>
          </a:prstGeom>
          <a:noFill/>
          <a:ln/>
        </p:spPr>
        <p:txBody>
          <a:bodyPr wrap="square" lIns="0" tIns="0" rIns="0" bIns="0" rtlCol="0" anchor="t"/>
          <a:lstStyle/>
          <a:p>
            <a:pPr indent="0" marL="0">
              <a:buNone/>
            </a:pPr>
            <a:r>
              <a:rPr lang="en-US" sz="1500" b="1" dirty="0">
                <a:solidFill>
                  <a:srgbClr val="1B2631"/>
                </a:solidFill>
                <a:latin typeface="Calibri" pitchFamily="34" charset="0"/>
                <a:ea typeface="Calibri" pitchFamily="34" charset="-122"/>
                <a:cs typeface="Calibri" pitchFamily="34" charset="-120"/>
              </a:rPr>
              <a:t>Design decisions &amp; roadmap</a:t>
            </a:r>
            <a:endParaRPr lang="en-US" sz="1500" dirty="0"/>
          </a:p>
        </p:txBody>
      </p:sp>
      <p:sp>
        <p:nvSpPr>
          <p:cNvPr id="36" name="Text 34"/>
          <p:cNvSpPr txBox="1"/>
          <p:nvPr/>
        </p:nvSpPr>
        <p:spPr>
          <a:xfrm>
            <a:off x="5303520" y="4206240"/>
            <a:ext cx="3383280" cy="274320"/>
          </a:xfrm>
          <a:prstGeom prst="rect">
            <a:avLst/>
          </a:prstGeom>
          <a:noFill/>
          <a:ln/>
        </p:spPr>
        <p:txBody>
          <a:bodyPr wrap="square" lIns="0" tIns="0" rIns="0" bIns="0" rtlCol="0" anchor="t"/>
          <a:lstStyle/>
          <a:p>
            <a:pPr indent="0" marL="0">
              <a:buNone/>
            </a:pPr>
            <a:r>
              <a:rPr lang="en-US" sz="1150" dirty="0">
                <a:solidFill>
                  <a:srgbClr val="5F6B78"/>
                </a:solidFill>
                <a:latin typeface="Calibri" pitchFamily="34" charset="0"/>
                <a:ea typeface="Calibri" pitchFamily="34" charset="-122"/>
                <a:cs typeface="Calibri" pitchFamily="34" charset="-120"/>
              </a:rPr>
              <a:t>Trade-offs, limitations, next steps</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000" b="1" spc="200" kern="0" dirty="0">
                <a:solidFill>
                  <a:srgbClr val="E8910C"/>
                </a:solidFill>
                <a:latin typeface="Calibri" pitchFamily="34" charset="0"/>
                <a:ea typeface="Calibri" pitchFamily="34" charset="-122"/>
                <a:cs typeface="Calibri" pitchFamily="34" charset="-120"/>
              </a:rPr>
              <a:t>01 · PROBLEM</a:t>
            </a:r>
            <a:endParaRPr lang="en-US" sz="10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1B2631"/>
                </a:solidFill>
                <a:latin typeface="Calibri" pitchFamily="34" charset="0"/>
                <a:ea typeface="Calibri" pitchFamily="34" charset="-122"/>
                <a:cs typeface="Calibri" pitchFamily="34" charset="-120"/>
              </a:rPr>
              <a:t>Factories lose output to three linked problems</a:t>
            </a:r>
            <a:endParaRPr lang="en-US" sz="2800" dirty="0"/>
          </a:p>
        </p:txBody>
      </p:sp>
      <p:sp>
        <p:nvSpPr>
          <p:cNvPr id="4" name="Text 2"/>
          <p:cNvSpPr txBox="1"/>
          <p:nvPr/>
        </p:nvSpPr>
        <p:spPr>
          <a:xfrm>
            <a:off x="7315200" y="4846320"/>
            <a:ext cx="1371600" cy="182880"/>
          </a:xfrm>
          <a:prstGeom prst="rect">
            <a:avLst/>
          </a:prstGeom>
          <a:noFill/>
          <a:ln/>
        </p:spPr>
        <p:txBody>
          <a:bodyPr wrap="square" lIns="0" tIns="0" rIns="0" bIns="0" rtlCol="0" anchor="t"/>
          <a:lstStyle/>
          <a:p>
            <a:pPr algn="r" indent="0" marL="0">
              <a:buNone/>
            </a:pPr>
            <a:r>
              <a:rPr lang="en-US" sz="900" dirty="0">
                <a:solidFill>
                  <a:srgbClr val="5F6B78"/>
                </a:solidFill>
                <a:latin typeface="Calibri" pitchFamily="34" charset="0"/>
                <a:ea typeface="Calibri" pitchFamily="34" charset="-122"/>
                <a:cs typeface="Calibri" pitchFamily="34" charset="-120"/>
              </a:rPr>
              <a:t>SMPO  ·  3</a:t>
            </a:r>
            <a:endParaRPr lang="en-US" sz="900" dirty="0"/>
          </a:p>
        </p:txBody>
      </p:sp>
      <p:sp>
        <p:nvSpPr>
          <p:cNvPr id="5" name="Shape 3"/>
          <p:cNvSpPr/>
          <p:nvPr/>
        </p:nvSpPr>
        <p:spPr>
          <a:xfrm>
            <a:off x="457200" y="1325880"/>
            <a:ext cx="2560320" cy="3383280"/>
          </a:xfrm>
          <a:prstGeom prst="roundRect">
            <a:avLst>
              <a:gd name="adj" fmla="val 2857"/>
            </a:avLst>
          </a:prstGeom>
          <a:solidFill>
            <a:srgbClr val="EEF2F5"/>
          </a:solidFill>
          <a:ln w="12700">
            <a:solidFill>
              <a:srgbClr val="EEF2F5"/>
            </a:solidFill>
            <a:prstDash val="solid"/>
          </a:ln>
        </p:spPr>
      </p:sp>
      <p:sp>
        <p:nvSpPr>
          <p:cNvPr id="6" name="Shape 4"/>
          <p:cNvSpPr/>
          <p:nvPr/>
        </p:nvSpPr>
        <p:spPr>
          <a:xfrm>
            <a:off x="685800" y="1554480"/>
            <a:ext cx="548640" cy="548640"/>
          </a:xfrm>
          <a:prstGeom prst="ellipse">
            <a:avLst/>
          </a:prstGeom>
          <a:solidFill>
            <a:srgbClr val="C0392B"/>
          </a:solidFill>
          <a:ln w="12700">
            <a:solidFill>
              <a:srgbClr val="C0392B"/>
            </a:solidFill>
            <a:prstDash val="solid"/>
          </a:ln>
        </p:spPr>
      </p:sp>
      <p:pic>
        <p:nvPicPr>
          <p:cNvPr id="7" name="Image 0" descr="preencoded.png">    </p:cNvPr>
          <p:cNvPicPr>
            <a:picLocks noChangeAspect="1"/>
          </p:cNvPicPr>
          <p:nvPr/>
        </p:nvPicPr>
        <p:blipFill>
          <a:blip r:embed="rId1"/>
          <a:stretch>
            <a:fillRect/>
          </a:stretch>
        </p:blipFill>
        <p:spPr>
          <a:xfrm>
            <a:off x="822960" y="1691640"/>
            <a:ext cx="274320" cy="274320"/>
          </a:xfrm>
          <a:prstGeom prst="rect">
            <a:avLst/>
          </a:prstGeom>
        </p:spPr>
      </p:pic>
      <p:sp>
        <p:nvSpPr>
          <p:cNvPr id="8" name="Text 5"/>
          <p:cNvSpPr txBox="1"/>
          <p:nvPr/>
        </p:nvSpPr>
        <p:spPr>
          <a:xfrm>
            <a:off x="685800" y="2194560"/>
            <a:ext cx="2103120" cy="274320"/>
          </a:xfrm>
          <a:prstGeom prst="rect">
            <a:avLst/>
          </a:prstGeom>
          <a:noFill/>
          <a:ln/>
        </p:spPr>
        <p:txBody>
          <a:bodyPr wrap="square" lIns="0" tIns="0" rIns="0" bIns="0" rtlCol="0" anchor="t"/>
          <a:lstStyle/>
          <a:p>
            <a:pPr indent="0" marL="0">
              <a:buNone/>
            </a:pPr>
            <a:r>
              <a:rPr lang="en-US" sz="1600" b="1" dirty="0">
                <a:solidFill>
                  <a:srgbClr val="1B2631"/>
                </a:solidFill>
                <a:latin typeface="Calibri" pitchFamily="34" charset="0"/>
                <a:ea typeface="Calibri" pitchFamily="34" charset="-122"/>
                <a:cs typeface="Calibri" pitchFamily="34" charset="-120"/>
              </a:rPr>
              <a:t>Machine downtime</a:t>
            </a:r>
            <a:endParaRPr lang="en-US" sz="1600" dirty="0"/>
          </a:p>
        </p:txBody>
      </p:sp>
      <p:sp>
        <p:nvSpPr>
          <p:cNvPr id="9" name="Text 6"/>
          <p:cNvSpPr txBox="1"/>
          <p:nvPr/>
        </p:nvSpPr>
        <p:spPr>
          <a:xfrm>
            <a:off x="685800" y="2651760"/>
            <a:ext cx="2103120" cy="182880"/>
          </a:xfrm>
          <a:prstGeom prst="rect">
            <a:avLst/>
          </a:prstGeom>
          <a:noFill/>
          <a:ln/>
        </p:spPr>
        <p:txBody>
          <a:bodyPr wrap="square" lIns="0" tIns="0" rIns="0" bIns="0" rtlCol="0" anchor="t"/>
          <a:lstStyle/>
          <a:p>
            <a:pPr indent="0" marL="0">
              <a:buNone/>
            </a:pPr>
            <a:r>
              <a:rPr lang="en-US" sz="900" b="1" spc="100" kern="0" dirty="0">
                <a:solidFill>
                  <a:srgbClr val="5F6B78"/>
                </a:solidFill>
                <a:latin typeface="Calibri" pitchFamily="34" charset="0"/>
                <a:ea typeface="Calibri" pitchFamily="34" charset="-122"/>
                <a:cs typeface="Calibri" pitchFamily="34" charset="-120"/>
              </a:rPr>
              <a:t>SYMPTOM</a:t>
            </a:r>
            <a:endParaRPr lang="en-US" sz="900" dirty="0"/>
          </a:p>
        </p:txBody>
      </p:sp>
      <p:sp>
        <p:nvSpPr>
          <p:cNvPr id="10" name="Text 7"/>
          <p:cNvSpPr txBox="1"/>
          <p:nvPr/>
        </p:nvSpPr>
        <p:spPr>
          <a:xfrm>
            <a:off x="685800" y="2862072"/>
            <a:ext cx="2103120" cy="777240"/>
          </a:xfrm>
          <a:prstGeom prst="rect">
            <a:avLst/>
          </a:prstGeom>
          <a:noFill/>
          <a:ln/>
        </p:spPr>
        <p:txBody>
          <a:bodyPr wrap="square" lIns="0" tIns="0" rIns="0" bIns="0" rtlCol="0" anchor="t"/>
          <a:lstStyle/>
          <a:p>
            <a:pPr indent="0" marL="0">
              <a:buNone/>
            </a:pPr>
            <a:r>
              <a:rPr lang="en-US" sz="1150" dirty="0">
                <a:solidFill>
                  <a:srgbClr val="1B2631"/>
                </a:solidFill>
                <a:latin typeface="Calibri" pitchFamily="34" charset="0"/>
                <a:ea typeface="Calibri" pitchFamily="34" charset="-122"/>
                <a:cs typeface="Calibri" pitchFamily="34" charset="-120"/>
              </a:rPr>
              <a:t>Components fail without warning. An unplanned repair stops a machine for 24 h vs 4 h for a planned one.</a:t>
            </a:r>
            <a:endParaRPr lang="en-US" sz="1150" dirty="0"/>
          </a:p>
        </p:txBody>
      </p:sp>
      <p:sp>
        <p:nvSpPr>
          <p:cNvPr id="11" name="Text 8"/>
          <p:cNvSpPr txBox="1"/>
          <p:nvPr/>
        </p:nvSpPr>
        <p:spPr>
          <a:xfrm>
            <a:off x="685800" y="3657600"/>
            <a:ext cx="2103120" cy="182880"/>
          </a:xfrm>
          <a:prstGeom prst="rect">
            <a:avLst/>
          </a:prstGeom>
          <a:noFill/>
          <a:ln/>
        </p:spPr>
        <p:txBody>
          <a:bodyPr wrap="square" lIns="0" tIns="0" rIns="0" bIns="0" rtlCol="0" anchor="t"/>
          <a:lstStyle/>
          <a:p>
            <a:pPr indent="0" marL="0">
              <a:buNone/>
            </a:pPr>
            <a:r>
              <a:rPr lang="en-US" sz="900" b="1" spc="100" kern="0" dirty="0">
                <a:solidFill>
                  <a:srgbClr val="138D75"/>
                </a:solidFill>
                <a:latin typeface="Calibri" pitchFamily="34" charset="0"/>
                <a:ea typeface="Calibri" pitchFamily="34" charset="-122"/>
                <a:cs typeface="Calibri" pitchFamily="34" charset="-120"/>
              </a:rPr>
              <a:t>WHAT WE DO</a:t>
            </a:r>
            <a:endParaRPr lang="en-US" sz="900" dirty="0"/>
          </a:p>
        </p:txBody>
      </p:sp>
      <p:sp>
        <p:nvSpPr>
          <p:cNvPr id="12" name="Text 9"/>
          <p:cNvSpPr txBox="1"/>
          <p:nvPr/>
        </p:nvSpPr>
        <p:spPr>
          <a:xfrm>
            <a:off x="685800" y="3867912"/>
            <a:ext cx="2103120" cy="731520"/>
          </a:xfrm>
          <a:prstGeom prst="rect">
            <a:avLst/>
          </a:prstGeom>
          <a:noFill/>
          <a:ln/>
        </p:spPr>
        <p:txBody>
          <a:bodyPr wrap="square" lIns="0" tIns="0" rIns="0" bIns="0" rtlCol="0" anchor="t"/>
          <a:lstStyle/>
          <a:p>
            <a:pPr indent="0" marL="0">
              <a:buNone/>
            </a:pPr>
            <a:r>
              <a:rPr lang="en-US" sz="1150" b="1" dirty="0">
                <a:solidFill>
                  <a:srgbClr val="138D75"/>
                </a:solidFill>
                <a:latin typeface="Calibri" pitchFamily="34" charset="0"/>
                <a:ea typeface="Calibri" pitchFamily="34" charset="-122"/>
                <a:cs typeface="Calibri" pitchFamily="34" charset="-120"/>
              </a:rPr>
              <a:t>Predict component failures 24 h and 7 days ahead; flag abnormal sensor behaviour.</a:t>
            </a:r>
            <a:endParaRPr lang="en-US" sz="1150" dirty="0"/>
          </a:p>
        </p:txBody>
      </p:sp>
      <p:sp>
        <p:nvSpPr>
          <p:cNvPr id="13" name="Shape 10"/>
          <p:cNvSpPr/>
          <p:nvPr/>
        </p:nvSpPr>
        <p:spPr>
          <a:xfrm>
            <a:off x="3291840" y="1325880"/>
            <a:ext cx="2560320" cy="3383280"/>
          </a:xfrm>
          <a:prstGeom prst="roundRect">
            <a:avLst>
              <a:gd name="adj" fmla="val 2857"/>
            </a:avLst>
          </a:prstGeom>
          <a:solidFill>
            <a:srgbClr val="EEF2F5"/>
          </a:solidFill>
          <a:ln w="12700">
            <a:solidFill>
              <a:srgbClr val="EEF2F5"/>
            </a:solidFill>
            <a:prstDash val="solid"/>
          </a:ln>
        </p:spPr>
      </p:sp>
      <p:sp>
        <p:nvSpPr>
          <p:cNvPr id="14" name="Shape 11"/>
          <p:cNvSpPr/>
          <p:nvPr/>
        </p:nvSpPr>
        <p:spPr>
          <a:xfrm>
            <a:off x="3520440" y="1554480"/>
            <a:ext cx="548640" cy="548640"/>
          </a:xfrm>
          <a:prstGeom prst="ellipse">
            <a:avLst/>
          </a:prstGeom>
          <a:solidFill>
            <a:srgbClr val="E8910C"/>
          </a:solidFill>
          <a:ln w="12700">
            <a:solidFill>
              <a:srgbClr val="E8910C"/>
            </a:solidFill>
            <a:prstDash val="solid"/>
          </a:ln>
        </p:spPr>
      </p:sp>
      <p:pic>
        <p:nvPicPr>
          <p:cNvPr id="15" name="Image 1" descr="preencoded.png">    </p:cNvPr>
          <p:cNvPicPr>
            <a:picLocks noChangeAspect="1"/>
          </p:cNvPicPr>
          <p:nvPr/>
        </p:nvPicPr>
        <p:blipFill>
          <a:blip r:embed="rId2"/>
          <a:stretch>
            <a:fillRect/>
          </a:stretch>
        </p:blipFill>
        <p:spPr>
          <a:xfrm>
            <a:off x="3657600" y="1691640"/>
            <a:ext cx="274320" cy="274320"/>
          </a:xfrm>
          <a:prstGeom prst="rect">
            <a:avLst/>
          </a:prstGeom>
        </p:spPr>
      </p:pic>
      <p:sp>
        <p:nvSpPr>
          <p:cNvPr id="16" name="Text 12"/>
          <p:cNvSpPr txBox="1"/>
          <p:nvPr/>
        </p:nvSpPr>
        <p:spPr>
          <a:xfrm>
            <a:off x="3520440" y="2194560"/>
            <a:ext cx="2103120" cy="274320"/>
          </a:xfrm>
          <a:prstGeom prst="rect">
            <a:avLst/>
          </a:prstGeom>
          <a:noFill/>
          <a:ln/>
        </p:spPr>
        <p:txBody>
          <a:bodyPr wrap="square" lIns="0" tIns="0" rIns="0" bIns="0" rtlCol="0" anchor="t"/>
          <a:lstStyle/>
          <a:p>
            <a:pPr indent="0" marL="0">
              <a:buNone/>
            </a:pPr>
            <a:r>
              <a:rPr lang="en-US" sz="1600" b="1" dirty="0">
                <a:solidFill>
                  <a:srgbClr val="1B2631"/>
                </a:solidFill>
                <a:latin typeface="Calibri" pitchFamily="34" charset="0"/>
                <a:ea typeface="Calibri" pitchFamily="34" charset="-122"/>
                <a:cs typeface="Calibri" pitchFamily="34" charset="-120"/>
              </a:rPr>
              <a:t>Quality losses</a:t>
            </a:r>
            <a:endParaRPr lang="en-US" sz="1600" dirty="0"/>
          </a:p>
        </p:txBody>
      </p:sp>
      <p:sp>
        <p:nvSpPr>
          <p:cNvPr id="17" name="Text 13"/>
          <p:cNvSpPr txBox="1"/>
          <p:nvPr/>
        </p:nvSpPr>
        <p:spPr>
          <a:xfrm>
            <a:off x="3520440" y="2651760"/>
            <a:ext cx="2103120" cy="182880"/>
          </a:xfrm>
          <a:prstGeom prst="rect">
            <a:avLst/>
          </a:prstGeom>
          <a:noFill/>
          <a:ln/>
        </p:spPr>
        <p:txBody>
          <a:bodyPr wrap="square" lIns="0" tIns="0" rIns="0" bIns="0" rtlCol="0" anchor="t"/>
          <a:lstStyle/>
          <a:p>
            <a:pPr indent="0" marL="0">
              <a:buNone/>
            </a:pPr>
            <a:r>
              <a:rPr lang="en-US" sz="900" b="1" spc="100" kern="0" dirty="0">
                <a:solidFill>
                  <a:srgbClr val="5F6B78"/>
                </a:solidFill>
                <a:latin typeface="Calibri" pitchFamily="34" charset="0"/>
                <a:ea typeface="Calibri" pitchFamily="34" charset="-122"/>
                <a:cs typeface="Calibri" pitchFamily="34" charset="-120"/>
              </a:rPr>
              <a:t>SYMPTOM</a:t>
            </a:r>
            <a:endParaRPr lang="en-US" sz="900" dirty="0"/>
          </a:p>
        </p:txBody>
      </p:sp>
      <p:sp>
        <p:nvSpPr>
          <p:cNvPr id="18" name="Text 14"/>
          <p:cNvSpPr txBox="1"/>
          <p:nvPr/>
        </p:nvSpPr>
        <p:spPr>
          <a:xfrm>
            <a:off x="3520440" y="2862072"/>
            <a:ext cx="2103120" cy="777240"/>
          </a:xfrm>
          <a:prstGeom prst="rect">
            <a:avLst/>
          </a:prstGeom>
          <a:noFill/>
          <a:ln/>
        </p:spPr>
        <p:txBody>
          <a:bodyPr wrap="square" lIns="0" tIns="0" rIns="0" bIns="0" rtlCol="0" anchor="t"/>
          <a:lstStyle/>
          <a:p>
            <a:pPr indent="0" marL="0">
              <a:buNone/>
            </a:pPr>
            <a:r>
              <a:rPr lang="en-US" sz="1150" dirty="0">
                <a:solidFill>
                  <a:srgbClr val="1B2631"/>
                </a:solidFill>
                <a:latin typeface="Calibri" pitchFamily="34" charset="0"/>
                <a:ea typeface="Calibri" pitchFamily="34" charset="-122"/>
                <a:cs typeface="Calibri" pitchFamily="34" charset="-120"/>
              </a:rPr>
              <a:t>Cycles fail through heat build-up, power overload, overstrain or tool wear.</a:t>
            </a:r>
            <a:endParaRPr lang="en-US" sz="1150" dirty="0"/>
          </a:p>
        </p:txBody>
      </p:sp>
      <p:sp>
        <p:nvSpPr>
          <p:cNvPr id="19" name="Text 15"/>
          <p:cNvSpPr txBox="1"/>
          <p:nvPr/>
        </p:nvSpPr>
        <p:spPr>
          <a:xfrm>
            <a:off x="3520440" y="3657600"/>
            <a:ext cx="2103120" cy="182880"/>
          </a:xfrm>
          <a:prstGeom prst="rect">
            <a:avLst/>
          </a:prstGeom>
          <a:noFill/>
          <a:ln/>
        </p:spPr>
        <p:txBody>
          <a:bodyPr wrap="square" lIns="0" tIns="0" rIns="0" bIns="0" rtlCol="0" anchor="t"/>
          <a:lstStyle/>
          <a:p>
            <a:pPr indent="0" marL="0">
              <a:buNone/>
            </a:pPr>
            <a:r>
              <a:rPr lang="en-US" sz="900" b="1" spc="100" kern="0" dirty="0">
                <a:solidFill>
                  <a:srgbClr val="138D75"/>
                </a:solidFill>
                <a:latin typeface="Calibri" pitchFamily="34" charset="0"/>
                <a:ea typeface="Calibri" pitchFamily="34" charset="-122"/>
                <a:cs typeface="Calibri" pitchFamily="34" charset="-120"/>
              </a:rPr>
              <a:t>WHAT WE DO</a:t>
            </a:r>
            <a:endParaRPr lang="en-US" sz="900" dirty="0"/>
          </a:p>
        </p:txBody>
      </p:sp>
      <p:sp>
        <p:nvSpPr>
          <p:cNvPr id="20" name="Text 16"/>
          <p:cNvSpPr txBox="1"/>
          <p:nvPr/>
        </p:nvSpPr>
        <p:spPr>
          <a:xfrm>
            <a:off x="3520440" y="3867912"/>
            <a:ext cx="2103120" cy="731520"/>
          </a:xfrm>
          <a:prstGeom prst="rect">
            <a:avLst/>
          </a:prstGeom>
          <a:noFill/>
          <a:ln/>
        </p:spPr>
        <p:txBody>
          <a:bodyPr wrap="square" lIns="0" tIns="0" rIns="0" bIns="0" rtlCol="0" anchor="t"/>
          <a:lstStyle/>
          <a:p>
            <a:pPr indent="0" marL="0">
              <a:buNone/>
            </a:pPr>
            <a:r>
              <a:rPr lang="en-US" sz="1150" b="1" dirty="0">
                <a:solidFill>
                  <a:srgbClr val="138D75"/>
                </a:solidFill>
                <a:latin typeface="Calibri" pitchFamily="34" charset="0"/>
                <a:ea typeface="Calibri" pitchFamily="34" charset="-122"/>
                <a:cs typeface="Calibri" pitchFamily="34" charset="-120"/>
              </a:rPr>
              <a:t>Predict cycle failure and its mode, explain the physical cause, find safer setpoints.</a:t>
            </a:r>
            <a:endParaRPr lang="en-US" sz="1150" dirty="0"/>
          </a:p>
        </p:txBody>
      </p:sp>
      <p:sp>
        <p:nvSpPr>
          <p:cNvPr id="21" name="Shape 17"/>
          <p:cNvSpPr/>
          <p:nvPr/>
        </p:nvSpPr>
        <p:spPr>
          <a:xfrm>
            <a:off x="6126480" y="1325880"/>
            <a:ext cx="2560320" cy="3383280"/>
          </a:xfrm>
          <a:prstGeom prst="roundRect">
            <a:avLst>
              <a:gd name="adj" fmla="val 2857"/>
            </a:avLst>
          </a:prstGeom>
          <a:solidFill>
            <a:srgbClr val="EEF2F5"/>
          </a:solidFill>
          <a:ln w="12700">
            <a:solidFill>
              <a:srgbClr val="EEF2F5"/>
            </a:solidFill>
            <a:prstDash val="solid"/>
          </a:ln>
        </p:spPr>
      </p:sp>
      <p:sp>
        <p:nvSpPr>
          <p:cNvPr id="22" name="Shape 18"/>
          <p:cNvSpPr/>
          <p:nvPr/>
        </p:nvSpPr>
        <p:spPr>
          <a:xfrm>
            <a:off x="6355080" y="1554480"/>
            <a:ext cx="548640" cy="548640"/>
          </a:xfrm>
          <a:prstGeom prst="ellipse">
            <a:avLst/>
          </a:prstGeom>
          <a:solidFill>
            <a:srgbClr val="34495E"/>
          </a:solidFill>
          <a:ln w="12700">
            <a:solidFill>
              <a:srgbClr val="34495E"/>
            </a:solidFill>
            <a:prstDash val="solid"/>
          </a:ln>
        </p:spPr>
      </p:sp>
      <p:pic>
        <p:nvPicPr>
          <p:cNvPr id="23" name="Image 2" descr="preencoded.png">    </p:cNvPr>
          <p:cNvPicPr>
            <a:picLocks noChangeAspect="1"/>
          </p:cNvPicPr>
          <p:nvPr/>
        </p:nvPicPr>
        <p:blipFill>
          <a:blip r:embed="rId3"/>
          <a:stretch>
            <a:fillRect/>
          </a:stretch>
        </p:blipFill>
        <p:spPr>
          <a:xfrm>
            <a:off x="6492240" y="1691640"/>
            <a:ext cx="274320" cy="274320"/>
          </a:xfrm>
          <a:prstGeom prst="rect">
            <a:avLst/>
          </a:prstGeom>
        </p:spPr>
      </p:pic>
      <p:sp>
        <p:nvSpPr>
          <p:cNvPr id="24" name="Text 19"/>
          <p:cNvSpPr txBox="1"/>
          <p:nvPr/>
        </p:nvSpPr>
        <p:spPr>
          <a:xfrm>
            <a:off x="6355080" y="2194560"/>
            <a:ext cx="2103120" cy="274320"/>
          </a:xfrm>
          <a:prstGeom prst="rect">
            <a:avLst/>
          </a:prstGeom>
          <a:noFill/>
          <a:ln/>
        </p:spPr>
        <p:txBody>
          <a:bodyPr wrap="square" lIns="0" tIns="0" rIns="0" bIns="0" rtlCol="0" anchor="t"/>
          <a:lstStyle/>
          <a:p>
            <a:pPr indent="0" marL="0">
              <a:buNone/>
            </a:pPr>
            <a:r>
              <a:rPr lang="en-US" sz="1600" b="1" dirty="0">
                <a:solidFill>
                  <a:srgbClr val="1B2631"/>
                </a:solidFill>
                <a:latin typeface="Calibri" pitchFamily="34" charset="0"/>
                <a:ea typeface="Calibri" pitchFamily="34" charset="-122"/>
                <a:cs typeface="Calibri" pitchFamily="34" charset="-120"/>
              </a:rPr>
              <a:t>Reactive workflows</a:t>
            </a:r>
            <a:endParaRPr lang="en-US" sz="1600" dirty="0"/>
          </a:p>
        </p:txBody>
      </p:sp>
      <p:sp>
        <p:nvSpPr>
          <p:cNvPr id="25" name="Text 20"/>
          <p:cNvSpPr txBox="1"/>
          <p:nvPr/>
        </p:nvSpPr>
        <p:spPr>
          <a:xfrm>
            <a:off x="6355080" y="2651760"/>
            <a:ext cx="2103120" cy="182880"/>
          </a:xfrm>
          <a:prstGeom prst="rect">
            <a:avLst/>
          </a:prstGeom>
          <a:noFill/>
          <a:ln/>
        </p:spPr>
        <p:txBody>
          <a:bodyPr wrap="square" lIns="0" tIns="0" rIns="0" bIns="0" rtlCol="0" anchor="t"/>
          <a:lstStyle/>
          <a:p>
            <a:pPr indent="0" marL="0">
              <a:buNone/>
            </a:pPr>
            <a:r>
              <a:rPr lang="en-US" sz="900" b="1" spc="100" kern="0" dirty="0">
                <a:solidFill>
                  <a:srgbClr val="5F6B78"/>
                </a:solidFill>
                <a:latin typeface="Calibri" pitchFamily="34" charset="0"/>
                <a:ea typeface="Calibri" pitchFamily="34" charset="-122"/>
                <a:cs typeface="Calibri" pitchFamily="34" charset="-120"/>
              </a:rPr>
              <a:t>SYMPTOM</a:t>
            </a:r>
            <a:endParaRPr lang="en-US" sz="900" dirty="0"/>
          </a:p>
        </p:txBody>
      </p:sp>
      <p:sp>
        <p:nvSpPr>
          <p:cNvPr id="26" name="Text 21"/>
          <p:cNvSpPr txBox="1"/>
          <p:nvPr/>
        </p:nvSpPr>
        <p:spPr>
          <a:xfrm>
            <a:off x="6355080" y="2862072"/>
            <a:ext cx="2103120" cy="777240"/>
          </a:xfrm>
          <a:prstGeom prst="rect">
            <a:avLst/>
          </a:prstGeom>
          <a:noFill/>
          <a:ln/>
        </p:spPr>
        <p:txBody>
          <a:bodyPr wrap="square" lIns="0" tIns="0" rIns="0" bIns="0" rtlCol="0" anchor="t"/>
          <a:lstStyle/>
          <a:p>
            <a:pPr indent="0" marL="0">
              <a:buNone/>
            </a:pPr>
            <a:r>
              <a:rPr lang="en-US" sz="1150" dirty="0">
                <a:solidFill>
                  <a:srgbClr val="1B2631"/>
                </a:solidFill>
                <a:latin typeface="Calibri" pitchFamily="34" charset="0"/>
                <a:ea typeface="Calibri" pitchFamily="34" charset="-122"/>
                <a:cs typeface="Calibri" pitchFamily="34" charset="-120"/>
              </a:rPr>
              <a:t>Maintenance is reactive or calendar-based — ignoring risk, crew capacity and production load.</a:t>
            </a:r>
            <a:endParaRPr lang="en-US" sz="1150" dirty="0"/>
          </a:p>
        </p:txBody>
      </p:sp>
      <p:sp>
        <p:nvSpPr>
          <p:cNvPr id="27" name="Text 22"/>
          <p:cNvSpPr txBox="1"/>
          <p:nvPr/>
        </p:nvSpPr>
        <p:spPr>
          <a:xfrm>
            <a:off x="6355080" y="3657600"/>
            <a:ext cx="2103120" cy="182880"/>
          </a:xfrm>
          <a:prstGeom prst="rect">
            <a:avLst/>
          </a:prstGeom>
          <a:noFill/>
          <a:ln/>
        </p:spPr>
        <p:txBody>
          <a:bodyPr wrap="square" lIns="0" tIns="0" rIns="0" bIns="0" rtlCol="0" anchor="t"/>
          <a:lstStyle/>
          <a:p>
            <a:pPr indent="0" marL="0">
              <a:buNone/>
            </a:pPr>
            <a:r>
              <a:rPr lang="en-US" sz="900" b="1" spc="100" kern="0" dirty="0">
                <a:solidFill>
                  <a:srgbClr val="138D75"/>
                </a:solidFill>
                <a:latin typeface="Calibri" pitchFamily="34" charset="0"/>
                <a:ea typeface="Calibri" pitchFamily="34" charset="-122"/>
                <a:cs typeface="Calibri" pitchFamily="34" charset="-120"/>
              </a:rPr>
              <a:t>WHAT WE DO</a:t>
            </a:r>
            <a:endParaRPr lang="en-US" sz="900" dirty="0"/>
          </a:p>
        </p:txBody>
      </p:sp>
      <p:sp>
        <p:nvSpPr>
          <p:cNvPr id="28" name="Text 23"/>
          <p:cNvSpPr txBox="1"/>
          <p:nvPr/>
        </p:nvSpPr>
        <p:spPr>
          <a:xfrm>
            <a:off x="6355080" y="3867912"/>
            <a:ext cx="2103120" cy="731520"/>
          </a:xfrm>
          <a:prstGeom prst="rect">
            <a:avLst/>
          </a:prstGeom>
          <a:noFill/>
          <a:ln/>
        </p:spPr>
        <p:txBody>
          <a:bodyPr wrap="square" lIns="0" tIns="0" rIns="0" bIns="0" rtlCol="0" anchor="t"/>
          <a:lstStyle/>
          <a:p>
            <a:pPr indent="0" marL="0">
              <a:buNone/>
            </a:pPr>
            <a:r>
              <a:rPr lang="en-US" sz="1150" b="1" dirty="0">
                <a:solidFill>
                  <a:srgbClr val="138D75"/>
                </a:solidFill>
                <a:latin typeface="Calibri" pitchFamily="34" charset="0"/>
                <a:ea typeface="Calibri" pitchFamily="34" charset="-122"/>
                <a:cs typeface="Calibri" pitchFamily="34" charset="-120"/>
              </a:rPr>
              <a:t>Schedule maintenance to minimise expected cost under crew and load constraints.</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000" b="1" spc="200" kern="0" dirty="0">
                <a:solidFill>
                  <a:srgbClr val="E8910C"/>
                </a:solidFill>
                <a:latin typeface="Calibri" pitchFamily="34" charset="0"/>
                <a:ea typeface="Calibri" pitchFamily="34" charset="-122"/>
                <a:cs typeface="Calibri" pitchFamily="34" charset="-120"/>
              </a:rPr>
              <a:t>02 · SOLUTION OVERVIEW</a:t>
            </a:r>
            <a:endParaRPr lang="en-US" sz="10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1B2631"/>
                </a:solidFill>
                <a:latin typeface="Calibri" pitchFamily="34" charset="0"/>
                <a:ea typeface="Calibri" pitchFamily="34" charset="-122"/>
                <a:cs typeface="Calibri" pitchFamily="34" charset="-120"/>
              </a:rPr>
              <a:t>From sensor data to action in five stages</a:t>
            </a:r>
            <a:endParaRPr lang="en-US" sz="2800" dirty="0"/>
          </a:p>
        </p:txBody>
      </p:sp>
      <p:sp>
        <p:nvSpPr>
          <p:cNvPr id="4" name="Text 2"/>
          <p:cNvSpPr txBox="1"/>
          <p:nvPr/>
        </p:nvSpPr>
        <p:spPr>
          <a:xfrm>
            <a:off x="7315200" y="4846320"/>
            <a:ext cx="1371600" cy="182880"/>
          </a:xfrm>
          <a:prstGeom prst="rect">
            <a:avLst/>
          </a:prstGeom>
          <a:noFill/>
          <a:ln/>
        </p:spPr>
        <p:txBody>
          <a:bodyPr wrap="square" lIns="0" tIns="0" rIns="0" bIns="0" rtlCol="0" anchor="t"/>
          <a:lstStyle/>
          <a:p>
            <a:pPr algn="r" indent="0" marL="0">
              <a:buNone/>
            </a:pPr>
            <a:r>
              <a:rPr lang="en-US" sz="900" dirty="0">
                <a:solidFill>
                  <a:srgbClr val="5F6B78"/>
                </a:solidFill>
                <a:latin typeface="Calibri" pitchFamily="34" charset="0"/>
                <a:ea typeface="Calibri" pitchFamily="34" charset="-122"/>
                <a:cs typeface="Calibri" pitchFamily="34" charset="-120"/>
              </a:rPr>
              <a:t>SMPO  ·  4</a:t>
            </a:r>
            <a:endParaRPr lang="en-US" sz="900" dirty="0"/>
          </a:p>
        </p:txBody>
      </p:sp>
      <p:sp>
        <p:nvSpPr>
          <p:cNvPr id="5" name="Shape 3"/>
          <p:cNvSpPr/>
          <p:nvPr/>
        </p:nvSpPr>
        <p:spPr>
          <a:xfrm>
            <a:off x="457200" y="1325880"/>
            <a:ext cx="1517904" cy="2240280"/>
          </a:xfrm>
          <a:prstGeom prst="roundRect">
            <a:avLst>
              <a:gd name="adj" fmla="val 4819"/>
            </a:avLst>
          </a:prstGeom>
          <a:solidFill>
            <a:srgbClr val="EEF2F5"/>
          </a:solidFill>
          <a:ln w="12700">
            <a:solidFill>
              <a:srgbClr val="EEF2F5"/>
            </a:solidFill>
            <a:prstDash val="solid"/>
          </a:ln>
        </p:spPr>
      </p:sp>
      <p:sp>
        <p:nvSpPr>
          <p:cNvPr id="6" name="Shape 4"/>
          <p:cNvSpPr/>
          <p:nvPr/>
        </p:nvSpPr>
        <p:spPr>
          <a:xfrm>
            <a:off x="640080" y="1508760"/>
            <a:ext cx="457200" cy="457200"/>
          </a:xfrm>
          <a:prstGeom prst="ellipse">
            <a:avLst/>
          </a:prstGeom>
          <a:solidFill>
            <a:srgbClr val="34495E"/>
          </a:solidFill>
          <a:ln w="12700">
            <a:solidFill>
              <a:srgbClr val="34495E"/>
            </a:solidFill>
            <a:prstDash val="solid"/>
          </a:ln>
        </p:spPr>
      </p:sp>
      <p:pic>
        <p:nvPicPr>
          <p:cNvPr id="7" name="Image 0" descr="preencoded.png">    </p:cNvPr>
          <p:cNvPicPr>
            <a:picLocks noChangeAspect="1"/>
          </p:cNvPicPr>
          <p:nvPr/>
        </p:nvPicPr>
        <p:blipFill>
          <a:blip r:embed="rId1"/>
          <a:stretch>
            <a:fillRect/>
          </a:stretch>
        </p:blipFill>
        <p:spPr>
          <a:xfrm>
            <a:off x="754380" y="1623060"/>
            <a:ext cx="228600" cy="228600"/>
          </a:xfrm>
          <a:prstGeom prst="rect">
            <a:avLst/>
          </a:prstGeom>
        </p:spPr>
      </p:pic>
      <p:sp>
        <p:nvSpPr>
          <p:cNvPr id="8" name="Text 5"/>
          <p:cNvSpPr txBox="1"/>
          <p:nvPr/>
        </p:nvSpPr>
        <p:spPr>
          <a:xfrm>
            <a:off x="1517904" y="1508760"/>
            <a:ext cx="274320" cy="457200"/>
          </a:xfrm>
          <a:prstGeom prst="rect">
            <a:avLst/>
          </a:prstGeom>
          <a:noFill/>
          <a:ln/>
        </p:spPr>
        <p:txBody>
          <a:bodyPr wrap="square" lIns="0" tIns="0" rIns="0" bIns="0" rtlCol="0" anchor="ctr"/>
          <a:lstStyle/>
          <a:p>
            <a:pPr algn="r" indent="0" marL="0">
              <a:buNone/>
            </a:pPr>
            <a:r>
              <a:rPr lang="en-US" sz="2000" b="1" dirty="0">
                <a:solidFill>
                  <a:srgbClr val="B8C4D0"/>
                </a:solidFill>
                <a:latin typeface="Calibri" pitchFamily="34" charset="0"/>
                <a:ea typeface="Calibri" pitchFamily="34" charset="-122"/>
                <a:cs typeface="Calibri" pitchFamily="34" charset="-120"/>
              </a:rPr>
              <a:t>1</a:t>
            </a:r>
            <a:endParaRPr lang="en-US" sz="2000" dirty="0"/>
          </a:p>
        </p:txBody>
      </p:sp>
      <p:sp>
        <p:nvSpPr>
          <p:cNvPr id="9" name="Text 6"/>
          <p:cNvSpPr txBox="1"/>
          <p:nvPr/>
        </p:nvSpPr>
        <p:spPr>
          <a:xfrm>
            <a:off x="640080" y="2057400"/>
            <a:ext cx="1152144" cy="320040"/>
          </a:xfrm>
          <a:prstGeom prst="rect">
            <a:avLst/>
          </a:prstGeom>
          <a:noFill/>
          <a:ln/>
        </p:spPr>
        <p:txBody>
          <a:bodyPr wrap="square" lIns="0" tIns="0" rIns="0" bIns="0" rtlCol="0" anchor="t"/>
          <a:lstStyle/>
          <a:p>
            <a:pPr indent="0" marL="0">
              <a:buNone/>
            </a:pPr>
            <a:r>
              <a:rPr lang="en-US" sz="1500" b="1" dirty="0">
                <a:solidFill>
                  <a:srgbClr val="1B2631"/>
                </a:solidFill>
                <a:latin typeface="Calibri" pitchFamily="34" charset="0"/>
                <a:ea typeface="Calibri" pitchFamily="34" charset="-122"/>
                <a:cs typeface="Calibri" pitchFamily="34" charset="-120"/>
              </a:rPr>
              <a:t>Predict</a:t>
            </a:r>
            <a:endParaRPr lang="en-US" sz="1500" dirty="0"/>
          </a:p>
        </p:txBody>
      </p:sp>
      <p:sp>
        <p:nvSpPr>
          <p:cNvPr id="10" name="Text 7"/>
          <p:cNvSpPr txBox="1"/>
          <p:nvPr/>
        </p:nvSpPr>
        <p:spPr>
          <a:xfrm>
            <a:off x="640080" y="2395728"/>
            <a:ext cx="1197864" cy="1097280"/>
          </a:xfrm>
          <a:prstGeom prst="rect">
            <a:avLst/>
          </a:prstGeom>
          <a:noFill/>
          <a:ln/>
        </p:spPr>
        <p:txBody>
          <a:bodyPr wrap="square" lIns="0" tIns="0" rIns="0" bIns="0" rtlCol="0" anchor="t"/>
          <a:lstStyle/>
          <a:p>
            <a:pPr indent="0" marL="0">
              <a:buNone/>
            </a:pPr>
            <a:r>
              <a:rPr lang="en-US" sz="1050" dirty="0">
                <a:solidFill>
                  <a:srgbClr val="5F6B78"/>
                </a:solidFill>
                <a:latin typeface="Calibri" pitchFamily="34" charset="0"/>
                <a:ea typeface="Calibri" pitchFamily="34" charset="-122"/>
                <a:cs typeface="Calibri" pitchFamily="34" charset="-120"/>
              </a:rPr>
              <a:t>LightGBM + Isolation Forest: component failures (24 h, 7 d), cycle failures &amp; modes</a:t>
            </a:r>
            <a:endParaRPr lang="en-US" sz="1050" dirty="0"/>
          </a:p>
        </p:txBody>
      </p:sp>
      <p:sp>
        <p:nvSpPr>
          <p:cNvPr id="11" name="Text 8"/>
          <p:cNvSpPr txBox="1"/>
          <p:nvPr/>
        </p:nvSpPr>
        <p:spPr>
          <a:xfrm>
            <a:off x="1956816" y="2240280"/>
            <a:ext cx="182880" cy="365760"/>
          </a:xfrm>
          <a:prstGeom prst="rect">
            <a:avLst/>
          </a:prstGeom>
          <a:noFill/>
          <a:ln/>
        </p:spPr>
        <p:txBody>
          <a:bodyPr wrap="square" lIns="0" tIns="0" rIns="0" bIns="0" rtlCol="0" anchor="ctr"/>
          <a:lstStyle/>
          <a:p>
            <a:pPr algn="ctr" indent="0" marL="0">
              <a:buNone/>
            </a:pPr>
            <a:r>
              <a:rPr lang="en-US" sz="2200" b="1" dirty="0">
                <a:solidFill>
                  <a:srgbClr val="E8910C"/>
                </a:solidFill>
                <a:latin typeface="Calibri" pitchFamily="34" charset="0"/>
                <a:ea typeface="Calibri" pitchFamily="34" charset="-122"/>
                <a:cs typeface="Calibri" pitchFamily="34" charset="-120"/>
              </a:rPr>
              <a:t>›</a:t>
            </a:r>
            <a:endParaRPr lang="en-US" sz="2200" dirty="0"/>
          </a:p>
        </p:txBody>
      </p:sp>
      <p:sp>
        <p:nvSpPr>
          <p:cNvPr id="12" name="Shape 9"/>
          <p:cNvSpPr/>
          <p:nvPr/>
        </p:nvSpPr>
        <p:spPr>
          <a:xfrm>
            <a:off x="2139696" y="1325880"/>
            <a:ext cx="1517904" cy="2240280"/>
          </a:xfrm>
          <a:prstGeom prst="roundRect">
            <a:avLst>
              <a:gd name="adj" fmla="val 4819"/>
            </a:avLst>
          </a:prstGeom>
          <a:solidFill>
            <a:srgbClr val="EEF2F5"/>
          </a:solidFill>
          <a:ln w="12700">
            <a:solidFill>
              <a:srgbClr val="EEF2F5"/>
            </a:solidFill>
            <a:prstDash val="solid"/>
          </a:ln>
        </p:spPr>
      </p:sp>
      <p:sp>
        <p:nvSpPr>
          <p:cNvPr id="13" name="Shape 10"/>
          <p:cNvSpPr/>
          <p:nvPr/>
        </p:nvSpPr>
        <p:spPr>
          <a:xfrm>
            <a:off x="2322576" y="1508760"/>
            <a:ext cx="457200" cy="457200"/>
          </a:xfrm>
          <a:prstGeom prst="ellipse">
            <a:avLst/>
          </a:prstGeom>
          <a:solidFill>
            <a:srgbClr val="34495E"/>
          </a:solidFill>
          <a:ln w="12700">
            <a:solidFill>
              <a:srgbClr val="34495E"/>
            </a:solidFill>
            <a:prstDash val="solid"/>
          </a:ln>
        </p:spPr>
      </p:sp>
      <p:pic>
        <p:nvPicPr>
          <p:cNvPr id="14" name="Image 1" descr="preencoded.png">    </p:cNvPr>
          <p:cNvPicPr>
            <a:picLocks noChangeAspect="1"/>
          </p:cNvPicPr>
          <p:nvPr/>
        </p:nvPicPr>
        <p:blipFill>
          <a:blip r:embed="rId2"/>
          <a:stretch>
            <a:fillRect/>
          </a:stretch>
        </p:blipFill>
        <p:spPr>
          <a:xfrm>
            <a:off x="2436876" y="1623060"/>
            <a:ext cx="228600" cy="228600"/>
          </a:xfrm>
          <a:prstGeom prst="rect">
            <a:avLst/>
          </a:prstGeom>
        </p:spPr>
      </p:pic>
      <p:sp>
        <p:nvSpPr>
          <p:cNvPr id="15" name="Text 11"/>
          <p:cNvSpPr txBox="1"/>
          <p:nvPr/>
        </p:nvSpPr>
        <p:spPr>
          <a:xfrm>
            <a:off x="3200400" y="1508760"/>
            <a:ext cx="274320" cy="457200"/>
          </a:xfrm>
          <a:prstGeom prst="rect">
            <a:avLst/>
          </a:prstGeom>
          <a:noFill/>
          <a:ln/>
        </p:spPr>
        <p:txBody>
          <a:bodyPr wrap="square" lIns="0" tIns="0" rIns="0" bIns="0" rtlCol="0" anchor="ctr"/>
          <a:lstStyle/>
          <a:p>
            <a:pPr algn="r" indent="0" marL="0">
              <a:buNone/>
            </a:pPr>
            <a:r>
              <a:rPr lang="en-US" sz="2000" b="1" dirty="0">
                <a:solidFill>
                  <a:srgbClr val="B8C4D0"/>
                </a:solidFill>
                <a:latin typeface="Calibri" pitchFamily="34" charset="0"/>
                <a:ea typeface="Calibri" pitchFamily="34" charset="-122"/>
                <a:cs typeface="Calibri" pitchFamily="34" charset="-120"/>
              </a:rPr>
              <a:t>2</a:t>
            </a:r>
            <a:endParaRPr lang="en-US" sz="2000" dirty="0"/>
          </a:p>
        </p:txBody>
      </p:sp>
      <p:sp>
        <p:nvSpPr>
          <p:cNvPr id="16" name="Text 12"/>
          <p:cNvSpPr txBox="1"/>
          <p:nvPr/>
        </p:nvSpPr>
        <p:spPr>
          <a:xfrm>
            <a:off x="2322576" y="2057400"/>
            <a:ext cx="1152144" cy="320040"/>
          </a:xfrm>
          <a:prstGeom prst="rect">
            <a:avLst/>
          </a:prstGeom>
          <a:noFill/>
          <a:ln/>
        </p:spPr>
        <p:txBody>
          <a:bodyPr wrap="square" lIns="0" tIns="0" rIns="0" bIns="0" rtlCol="0" anchor="t"/>
          <a:lstStyle/>
          <a:p>
            <a:pPr indent="0" marL="0">
              <a:buNone/>
            </a:pPr>
            <a:r>
              <a:rPr lang="en-US" sz="1500" b="1" dirty="0">
                <a:solidFill>
                  <a:srgbClr val="1B2631"/>
                </a:solidFill>
                <a:latin typeface="Calibri" pitchFamily="34" charset="0"/>
                <a:ea typeface="Calibri" pitchFamily="34" charset="-122"/>
                <a:cs typeface="Calibri" pitchFamily="34" charset="-120"/>
              </a:rPr>
              <a:t>Explain</a:t>
            </a:r>
            <a:endParaRPr lang="en-US" sz="1500" dirty="0"/>
          </a:p>
        </p:txBody>
      </p:sp>
      <p:sp>
        <p:nvSpPr>
          <p:cNvPr id="17" name="Text 13"/>
          <p:cNvSpPr txBox="1"/>
          <p:nvPr/>
        </p:nvSpPr>
        <p:spPr>
          <a:xfrm>
            <a:off x="2322576" y="2395728"/>
            <a:ext cx="1197864" cy="1097280"/>
          </a:xfrm>
          <a:prstGeom prst="rect">
            <a:avLst/>
          </a:prstGeom>
          <a:noFill/>
          <a:ln/>
        </p:spPr>
        <p:txBody>
          <a:bodyPr wrap="square" lIns="0" tIns="0" rIns="0" bIns="0" rtlCol="0" anchor="t"/>
          <a:lstStyle/>
          <a:p>
            <a:pPr indent="0" marL="0">
              <a:buNone/>
            </a:pPr>
            <a:r>
              <a:rPr lang="en-US" sz="1050" dirty="0">
                <a:solidFill>
                  <a:srgbClr val="5F6B78"/>
                </a:solidFill>
                <a:latin typeface="Calibri" pitchFamily="34" charset="0"/>
                <a:ea typeface="Calibri" pitchFamily="34" charset="-122"/>
                <a:cs typeface="Calibri" pitchFamily="34" charset="-120"/>
              </a:rPr>
              <a:t>SHAP feature contributions + known physical failure rules</a:t>
            </a:r>
            <a:endParaRPr lang="en-US" sz="1050" dirty="0"/>
          </a:p>
        </p:txBody>
      </p:sp>
      <p:sp>
        <p:nvSpPr>
          <p:cNvPr id="18" name="Text 14"/>
          <p:cNvSpPr txBox="1"/>
          <p:nvPr/>
        </p:nvSpPr>
        <p:spPr>
          <a:xfrm>
            <a:off x="3639312" y="2240280"/>
            <a:ext cx="182880" cy="365760"/>
          </a:xfrm>
          <a:prstGeom prst="rect">
            <a:avLst/>
          </a:prstGeom>
          <a:noFill/>
          <a:ln/>
        </p:spPr>
        <p:txBody>
          <a:bodyPr wrap="square" lIns="0" tIns="0" rIns="0" bIns="0" rtlCol="0" anchor="ctr"/>
          <a:lstStyle/>
          <a:p>
            <a:pPr algn="ctr" indent="0" marL="0">
              <a:buNone/>
            </a:pPr>
            <a:r>
              <a:rPr lang="en-US" sz="2200" b="1" dirty="0">
                <a:solidFill>
                  <a:srgbClr val="E8910C"/>
                </a:solidFill>
                <a:latin typeface="Calibri" pitchFamily="34" charset="0"/>
                <a:ea typeface="Calibri" pitchFamily="34" charset="-122"/>
                <a:cs typeface="Calibri" pitchFamily="34" charset="-120"/>
              </a:rPr>
              <a:t>›</a:t>
            </a:r>
            <a:endParaRPr lang="en-US" sz="2200" dirty="0"/>
          </a:p>
        </p:txBody>
      </p:sp>
      <p:sp>
        <p:nvSpPr>
          <p:cNvPr id="19" name="Shape 15"/>
          <p:cNvSpPr/>
          <p:nvPr/>
        </p:nvSpPr>
        <p:spPr>
          <a:xfrm>
            <a:off x="3822192" y="1325880"/>
            <a:ext cx="1517904" cy="2240280"/>
          </a:xfrm>
          <a:prstGeom prst="roundRect">
            <a:avLst>
              <a:gd name="adj" fmla="val 4819"/>
            </a:avLst>
          </a:prstGeom>
          <a:solidFill>
            <a:srgbClr val="EEF2F5"/>
          </a:solidFill>
          <a:ln w="12700">
            <a:solidFill>
              <a:srgbClr val="EEF2F5"/>
            </a:solidFill>
            <a:prstDash val="solid"/>
          </a:ln>
        </p:spPr>
      </p:sp>
      <p:sp>
        <p:nvSpPr>
          <p:cNvPr id="20" name="Shape 16"/>
          <p:cNvSpPr/>
          <p:nvPr/>
        </p:nvSpPr>
        <p:spPr>
          <a:xfrm>
            <a:off x="4005072" y="1508760"/>
            <a:ext cx="457200" cy="457200"/>
          </a:xfrm>
          <a:prstGeom prst="ellipse">
            <a:avLst/>
          </a:prstGeom>
          <a:solidFill>
            <a:srgbClr val="34495E"/>
          </a:solidFill>
          <a:ln w="12700">
            <a:solidFill>
              <a:srgbClr val="34495E"/>
            </a:solidFill>
            <a:prstDash val="solid"/>
          </a:ln>
        </p:spPr>
      </p:sp>
      <p:pic>
        <p:nvPicPr>
          <p:cNvPr id="21" name="Image 2" descr="preencoded.png">    </p:cNvPr>
          <p:cNvPicPr>
            <a:picLocks noChangeAspect="1"/>
          </p:cNvPicPr>
          <p:nvPr/>
        </p:nvPicPr>
        <p:blipFill>
          <a:blip r:embed="rId3"/>
          <a:stretch>
            <a:fillRect/>
          </a:stretch>
        </p:blipFill>
        <p:spPr>
          <a:xfrm>
            <a:off x="4119372" y="1623060"/>
            <a:ext cx="228600" cy="228600"/>
          </a:xfrm>
          <a:prstGeom prst="rect">
            <a:avLst/>
          </a:prstGeom>
        </p:spPr>
      </p:pic>
      <p:sp>
        <p:nvSpPr>
          <p:cNvPr id="22" name="Text 17"/>
          <p:cNvSpPr txBox="1"/>
          <p:nvPr/>
        </p:nvSpPr>
        <p:spPr>
          <a:xfrm>
            <a:off x="4882896" y="1508760"/>
            <a:ext cx="274320" cy="457200"/>
          </a:xfrm>
          <a:prstGeom prst="rect">
            <a:avLst/>
          </a:prstGeom>
          <a:noFill/>
          <a:ln/>
        </p:spPr>
        <p:txBody>
          <a:bodyPr wrap="square" lIns="0" tIns="0" rIns="0" bIns="0" rtlCol="0" anchor="ctr"/>
          <a:lstStyle/>
          <a:p>
            <a:pPr algn="r" indent="0" marL="0">
              <a:buNone/>
            </a:pPr>
            <a:r>
              <a:rPr lang="en-US" sz="2000" b="1" dirty="0">
                <a:solidFill>
                  <a:srgbClr val="B8C4D0"/>
                </a:solidFill>
                <a:latin typeface="Calibri" pitchFamily="34" charset="0"/>
                <a:ea typeface="Calibri" pitchFamily="34" charset="-122"/>
                <a:cs typeface="Calibri" pitchFamily="34" charset="-120"/>
              </a:rPr>
              <a:t>3</a:t>
            </a:r>
            <a:endParaRPr lang="en-US" sz="2000" dirty="0"/>
          </a:p>
        </p:txBody>
      </p:sp>
      <p:sp>
        <p:nvSpPr>
          <p:cNvPr id="23" name="Text 18"/>
          <p:cNvSpPr txBox="1"/>
          <p:nvPr/>
        </p:nvSpPr>
        <p:spPr>
          <a:xfrm>
            <a:off x="4005072" y="2057400"/>
            <a:ext cx="1152144" cy="320040"/>
          </a:xfrm>
          <a:prstGeom prst="rect">
            <a:avLst/>
          </a:prstGeom>
          <a:noFill/>
          <a:ln/>
        </p:spPr>
        <p:txBody>
          <a:bodyPr wrap="square" lIns="0" tIns="0" rIns="0" bIns="0" rtlCol="0" anchor="t"/>
          <a:lstStyle/>
          <a:p>
            <a:pPr indent="0" marL="0">
              <a:buNone/>
            </a:pPr>
            <a:r>
              <a:rPr lang="en-US" sz="1500" b="1" dirty="0">
                <a:solidFill>
                  <a:srgbClr val="1B2631"/>
                </a:solidFill>
                <a:latin typeface="Calibri" pitchFamily="34" charset="0"/>
                <a:ea typeface="Calibri" pitchFamily="34" charset="-122"/>
                <a:cs typeface="Calibri" pitchFamily="34" charset="-120"/>
              </a:rPr>
              <a:t>Optimise</a:t>
            </a:r>
            <a:endParaRPr lang="en-US" sz="1500" dirty="0"/>
          </a:p>
        </p:txBody>
      </p:sp>
      <p:sp>
        <p:nvSpPr>
          <p:cNvPr id="24" name="Text 19"/>
          <p:cNvSpPr txBox="1"/>
          <p:nvPr/>
        </p:nvSpPr>
        <p:spPr>
          <a:xfrm>
            <a:off x="4005072" y="2395728"/>
            <a:ext cx="1197864" cy="1097280"/>
          </a:xfrm>
          <a:prstGeom prst="rect">
            <a:avLst/>
          </a:prstGeom>
          <a:noFill/>
          <a:ln/>
        </p:spPr>
        <p:txBody>
          <a:bodyPr wrap="square" lIns="0" tIns="0" rIns="0" bIns="0" rtlCol="0" anchor="t"/>
          <a:lstStyle/>
          <a:p>
            <a:pPr indent="0" marL="0">
              <a:buNone/>
            </a:pPr>
            <a:r>
              <a:rPr lang="en-US" sz="1050" dirty="0">
                <a:solidFill>
                  <a:srgbClr val="5F6B78"/>
                </a:solidFill>
                <a:latin typeface="Calibri" pitchFamily="34" charset="0"/>
                <a:ea typeface="Calibri" pitchFamily="34" charset="-122"/>
                <a:cs typeface="Calibri" pitchFamily="34" charset="-120"/>
              </a:rPr>
              <a:t>Model-verified setpoint search; OR-Tools CP-SAT weekly maintenance plan</a:t>
            </a:r>
            <a:endParaRPr lang="en-US" sz="1050" dirty="0"/>
          </a:p>
        </p:txBody>
      </p:sp>
      <p:sp>
        <p:nvSpPr>
          <p:cNvPr id="25" name="Text 20"/>
          <p:cNvSpPr txBox="1"/>
          <p:nvPr/>
        </p:nvSpPr>
        <p:spPr>
          <a:xfrm>
            <a:off x="5321808" y="2240280"/>
            <a:ext cx="182880" cy="365760"/>
          </a:xfrm>
          <a:prstGeom prst="rect">
            <a:avLst/>
          </a:prstGeom>
          <a:noFill/>
          <a:ln/>
        </p:spPr>
        <p:txBody>
          <a:bodyPr wrap="square" lIns="0" tIns="0" rIns="0" bIns="0" rtlCol="0" anchor="ctr"/>
          <a:lstStyle/>
          <a:p>
            <a:pPr algn="ctr" indent="0" marL="0">
              <a:buNone/>
            </a:pPr>
            <a:r>
              <a:rPr lang="en-US" sz="2200" b="1" dirty="0">
                <a:solidFill>
                  <a:srgbClr val="E8910C"/>
                </a:solidFill>
                <a:latin typeface="Calibri" pitchFamily="34" charset="0"/>
                <a:ea typeface="Calibri" pitchFamily="34" charset="-122"/>
                <a:cs typeface="Calibri" pitchFamily="34" charset="-120"/>
              </a:rPr>
              <a:t>›</a:t>
            </a:r>
            <a:endParaRPr lang="en-US" sz="2200" dirty="0"/>
          </a:p>
        </p:txBody>
      </p:sp>
      <p:sp>
        <p:nvSpPr>
          <p:cNvPr id="26" name="Shape 21"/>
          <p:cNvSpPr/>
          <p:nvPr/>
        </p:nvSpPr>
        <p:spPr>
          <a:xfrm>
            <a:off x="5504688" y="1325880"/>
            <a:ext cx="1517904" cy="2240280"/>
          </a:xfrm>
          <a:prstGeom prst="roundRect">
            <a:avLst>
              <a:gd name="adj" fmla="val 4819"/>
            </a:avLst>
          </a:prstGeom>
          <a:solidFill>
            <a:srgbClr val="EEF2F5"/>
          </a:solidFill>
          <a:ln w="12700">
            <a:solidFill>
              <a:srgbClr val="EEF2F5"/>
            </a:solidFill>
            <a:prstDash val="solid"/>
          </a:ln>
        </p:spPr>
      </p:sp>
      <p:sp>
        <p:nvSpPr>
          <p:cNvPr id="27" name="Shape 22"/>
          <p:cNvSpPr/>
          <p:nvPr/>
        </p:nvSpPr>
        <p:spPr>
          <a:xfrm>
            <a:off x="5687568" y="1508760"/>
            <a:ext cx="457200" cy="457200"/>
          </a:xfrm>
          <a:prstGeom prst="ellipse">
            <a:avLst/>
          </a:prstGeom>
          <a:solidFill>
            <a:srgbClr val="E8910C"/>
          </a:solidFill>
          <a:ln w="12700">
            <a:solidFill>
              <a:srgbClr val="E8910C"/>
            </a:solidFill>
            <a:prstDash val="solid"/>
          </a:ln>
        </p:spPr>
      </p:sp>
      <p:pic>
        <p:nvPicPr>
          <p:cNvPr id="28" name="Image 3" descr="preencoded.png">    </p:cNvPr>
          <p:cNvPicPr>
            <a:picLocks noChangeAspect="1"/>
          </p:cNvPicPr>
          <p:nvPr/>
        </p:nvPicPr>
        <p:blipFill>
          <a:blip r:embed="rId4"/>
          <a:stretch>
            <a:fillRect/>
          </a:stretch>
        </p:blipFill>
        <p:spPr>
          <a:xfrm>
            <a:off x="5801868" y="1623060"/>
            <a:ext cx="228600" cy="228600"/>
          </a:xfrm>
          <a:prstGeom prst="rect">
            <a:avLst/>
          </a:prstGeom>
        </p:spPr>
      </p:pic>
      <p:sp>
        <p:nvSpPr>
          <p:cNvPr id="29" name="Text 23"/>
          <p:cNvSpPr txBox="1"/>
          <p:nvPr/>
        </p:nvSpPr>
        <p:spPr>
          <a:xfrm>
            <a:off x="6565392" y="1508760"/>
            <a:ext cx="274320" cy="457200"/>
          </a:xfrm>
          <a:prstGeom prst="rect">
            <a:avLst/>
          </a:prstGeom>
          <a:noFill/>
          <a:ln/>
        </p:spPr>
        <p:txBody>
          <a:bodyPr wrap="square" lIns="0" tIns="0" rIns="0" bIns="0" rtlCol="0" anchor="ctr"/>
          <a:lstStyle/>
          <a:p>
            <a:pPr algn="r" indent="0" marL="0">
              <a:buNone/>
            </a:pPr>
            <a:r>
              <a:rPr lang="en-US" sz="2000" b="1" dirty="0">
                <a:solidFill>
                  <a:srgbClr val="B8C4D0"/>
                </a:solidFill>
                <a:latin typeface="Calibri" pitchFamily="34" charset="0"/>
                <a:ea typeface="Calibri" pitchFamily="34" charset="-122"/>
                <a:cs typeface="Calibri" pitchFamily="34" charset="-120"/>
              </a:rPr>
              <a:t>4</a:t>
            </a:r>
            <a:endParaRPr lang="en-US" sz="2000" dirty="0"/>
          </a:p>
        </p:txBody>
      </p:sp>
      <p:sp>
        <p:nvSpPr>
          <p:cNvPr id="30" name="Text 24"/>
          <p:cNvSpPr txBox="1"/>
          <p:nvPr/>
        </p:nvSpPr>
        <p:spPr>
          <a:xfrm>
            <a:off x="5687568" y="2057400"/>
            <a:ext cx="1152144" cy="320040"/>
          </a:xfrm>
          <a:prstGeom prst="rect">
            <a:avLst/>
          </a:prstGeom>
          <a:noFill/>
          <a:ln/>
        </p:spPr>
        <p:txBody>
          <a:bodyPr wrap="square" lIns="0" tIns="0" rIns="0" bIns="0" rtlCol="0" anchor="t"/>
          <a:lstStyle/>
          <a:p>
            <a:pPr indent="0" marL="0">
              <a:buNone/>
            </a:pPr>
            <a:r>
              <a:rPr lang="en-US" sz="1500" b="1" dirty="0">
                <a:solidFill>
                  <a:srgbClr val="1B2631"/>
                </a:solidFill>
                <a:latin typeface="Calibri" pitchFamily="34" charset="0"/>
                <a:ea typeface="Calibri" pitchFamily="34" charset="-122"/>
                <a:cs typeface="Calibri" pitchFamily="34" charset="-120"/>
              </a:rPr>
              <a:t>Decide</a:t>
            </a:r>
            <a:endParaRPr lang="en-US" sz="1500" dirty="0"/>
          </a:p>
        </p:txBody>
      </p:sp>
      <p:sp>
        <p:nvSpPr>
          <p:cNvPr id="31" name="Text 25"/>
          <p:cNvSpPr txBox="1"/>
          <p:nvPr/>
        </p:nvSpPr>
        <p:spPr>
          <a:xfrm>
            <a:off x="5687568" y="2395728"/>
            <a:ext cx="1197864" cy="1097280"/>
          </a:xfrm>
          <a:prstGeom prst="rect">
            <a:avLst/>
          </a:prstGeom>
          <a:noFill/>
          <a:ln/>
        </p:spPr>
        <p:txBody>
          <a:bodyPr wrap="square" lIns="0" tIns="0" rIns="0" bIns="0" rtlCol="0" anchor="t"/>
          <a:lstStyle/>
          <a:p>
            <a:pPr indent="0" marL="0">
              <a:buNone/>
            </a:pPr>
            <a:r>
              <a:rPr lang="en-US" sz="1050" dirty="0">
                <a:solidFill>
                  <a:srgbClr val="5F6B78"/>
                </a:solidFill>
                <a:latin typeface="Calibri" pitchFamily="34" charset="0"/>
                <a:ea typeface="Calibri" pitchFamily="34" charset="-122"/>
                <a:cs typeface="Calibri" pitchFamily="34" charset="-120"/>
              </a:rPr>
              <a:t>LLM agents call models as tools → structured, prioritised action plan</a:t>
            </a:r>
            <a:endParaRPr lang="en-US" sz="1050" dirty="0"/>
          </a:p>
        </p:txBody>
      </p:sp>
      <p:sp>
        <p:nvSpPr>
          <p:cNvPr id="32" name="Text 26"/>
          <p:cNvSpPr txBox="1"/>
          <p:nvPr/>
        </p:nvSpPr>
        <p:spPr>
          <a:xfrm>
            <a:off x="7004304" y="2240280"/>
            <a:ext cx="182880" cy="365760"/>
          </a:xfrm>
          <a:prstGeom prst="rect">
            <a:avLst/>
          </a:prstGeom>
          <a:noFill/>
          <a:ln/>
        </p:spPr>
        <p:txBody>
          <a:bodyPr wrap="square" lIns="0" tIns="0" rIns="0" bIns="0" rtlCol="0" anchor="ctr"/>
          <a:lstStyle/>
          <a:p>
            <a:pPr algn="ctr" indent="0" marL="0">
              <a:buNone/>
            </a:pPr>
            <a:r>
              <a:rPr lang="en-US" sz="2200" b="1" dirty="0">
                <a:solidFill>
                  <a:srgbClr val="E8910C"/>
                </a:solidFill>
                <a:latin typeface="Calibri" pitchFamily="34" charset="0"/>
                <a:ea typeface="Calibri" pitchFamily="34" charset="-122"/>
                <a:cs typeface="Calibri" pitchFamily="34" charset="-120"/>
              </a:rPr>
              <a:t>›</a:t>
            </a:r>
            <a:endParaRPr lang="en-US" sz="2200" dirty="0"/>
          </a:p>
        </p:txBody>
      </p:sp>
      <p:sp>
        <p:nvSpPr>
          <p:cNvPr id="33" name="Shape 27"/>
          <p:cNvSpPr/>
          <p:nvPr/>
        </p:nvSpPr>
        <p:spPr>
          <a:xfrm>
            <a:off x="7187184" y="1325880"/>
            <a:ext cx="1517904" cy="2240280"/>
          </a:xfrm>
          <a:prstGeom prst="roundRect">
            <a:avLst>
              <a:gd name="adj" fmla="val 4819"/>
            </a:avLst>
          </a:prstGeom>
          <a:solidFill>
            <a:srgbClr val="EEF2F5"/>
          </a:solidFill>
          <a:ln w="12700">
            <a:solidFill>
              <a:srgbClr val="EEF2F5"/>
            </a:solidFill>
            <a:prstDash val="solid"/>
          </a:ln>
        </p:spPr>
      </p:sp>
      <p:sp>
        <p:nvSpPr>
          <p:cNvPr id="34" name="Shape 28"/>
          <p:cNvSpPr/>
          <p:nvPr/>
        </p:nvSpPr>
        <p:spPr>
          <a:xfrm>
            <a:off x="7370064" y="1508760"/>
            <a:ext cx="457200" cy="457200"/>
          </a:xfrm>
          <a:prstGeom prst="ellipse">
            <a:avLst/>
          </a:prstGeom>
          <a:solidFill>
            <a:srgbClr val="34495E"/>
          </a:solidFill>
          <a:ln w="12700">
            <a:solidFill>
              <a:srgbClr val="34495E"/>
            </a:solidFill>
            <a:prstDash val="solid"/>
          </a:ln>
        </p:spPr>
      </p:sp>
      <p:pic>
        <p:nvPicPr>
          <p:cNvPr id="35" name="Image 4" descr="preencoded.png">    </p:cNvPr>
          <p:cNvPicPr>
            <a:picLocks noChangeAspect="1"/>
          </p:cNvPicPr>
          <p:nvPr/>
        </p:nvPicPr>
        <p:blipFill>
          <a:blip r:embed="rId5"/>
          <a:stretch>
            <a:fillRect/>
          </a:stretch>
        </p:blipFill>
        <p:spPr>
          <a:xfrm>
            <a:off x="7484364" y="1623060"/>
            <a:ext cx="228600" cy="228600"/>
          </a:xfrm>
          <a:prstGeom prst="rect">
            <a:avLst/>
          </a:prstGeom>
        </p:spPr>
      </p:pic>
      <p:sp>
        <p:nvSpPr>
          <p:cNvPr id="36" name="Text 29"/>
          <p:cNvSpPr txBox="1"/>
          <p:nvPr/>
        </p:nvSpPr>
        <p:spPr>
          <a:xfrm>
            <a:off x="8247888" y="1508760"/>
            <a:ext cx="274320" cy="457200"/>
          </a:xfrm>
          <a:prstGeom prst="rect">
            <a:avLst/>
          </a:prstGeom>
          <a:noFill/>
          <a:ln/>
        </p:spPr>
        <p:txBody>
          <a:bodyPr wrap="square" lIns="0" tIns="0" rIns="0" bIns="0" rtlCol="0" anchor="ctr"/>
          <a:lstStyle/>
          <a:p>
            <a:pPr algn="r" indent="0" marL="0">
              <a:buNone/>
            </a:pPr>
            <a:r>
              <a:rPr lang="en-US" sz="2000" b="1" dirty="0">
                <a:solidFill>
                  <a:srgbClr val="B8C4D0"/>
                </a:solidFill>
                <a:latin typeface="Calibri" pitchFamily="34" charset="0"/>
                <a:ea typeface="Calibri" pitchFamily="34" charset="-122"/>
                <a:cs typeface="Calibri" pitchFamily="34" charset="-120"/>
              </a:rPr>
              <a:t>5</a:t>
            </a:r>
            <a:endParaRPr lang="en-US" sz="2000" dirty="0"/>
          </a:p>
        </p:txBody>
      </p:sp>
      <p:sp>
        <p:nvSpPr>
          <p:cNvPr id="37" name="Text 30"/>
          <p:cNvSpPr txBox="1"/>
          <p:nvPr/>
        </p:nvSpPr>
        <p:spPr>
          <a:xfrm>
            <a:off x="7370064" y="2057400"/>
            <a:ext cx="1152144" cy="320040"/>
          </a:xfrm>
          <a:prstGeom prst="rect">
            <a:avLst/>
          </a:prstGeom>
          <a:noFill/>
          <a:ln/>
        </p:spPr>
        <p:txBody>
          <a:bodyPr wrap="square" lIns="0" tIns="0" rIns="0" bIns="0" rtlCol="0" anchor="t"/>
          <a:lstStyle/>
          <a:p>
            <a:pPr indent="0" marL="0">
              <a:buNone/>
            </a:pPr>
            <a:r>
              <a:rPr lang="en-US" sz="1500" b="1" dirty="0">
                <a:solidFill>
                  <a:srgbClr val="1B2631"/>
                </a:solidFill>
                <a:latin typeface="Calibri" pitchFamily="34" charset="0"/>
                <a:ea typeface="Calibri" pitchFamily="34" charset="-122"/>
                <a:cs typeface="Calibri" pitchFamily="34" charset="-120"/>
              </a:rPr>
              <a:t>Act</a:t>
            </a:r>
            <a:endParaRPr lang="en-US" sz="1500" dirty="0"/>
          </a:p>
        </p:txBody>
      </p:sp>
      <p:sp>
        <p:nvSpPr>
          <p:cNvPr id="38" name="Text 31"/>
          <p:cNvSpPr txBox="1"/>
          <p:nvPr/>
        </p:nvSpPr>
        <p:spPr>
          <a:xfrm>
            <a:off x="7370064" y="2395728"/>
            <a:ext cx="1197864" cy="1097280"/>
          </a:xfrm>
          <a:prstGeom prst="rect">
            <a:avLst/>
          </a:prstGeom>
          <a:noFill/>
          <a:ln/>
        </p:spPr>
        <p:txBody>
          <a:bodyPr wrap="square" lIns="0" tIns="0" rIns="0" bIns="0" rtlCol="0" anchor="t"/>
          <a:lstStyle/>
          <a:p>
            <a:pPr indent="0" marL="0">
              <a:buNone/>
            </a:pPr>
            <a:r>
              <a:rPr lang="en-US" sz="1050" dirty="0">
                <a:solidFill>
                  <a:srgbClr val="5F6B78"/>
                </a:solidFill>
                <a:latin typeface="Calibri" pitchFamily="34" charset="0"/>
                <a:ea typeface="Calibri" pitchFamily="34" charset="-122"/>
                <a:cs typeface="Calibri" pitchFamily="34" charset="-120"/>
              </a:rPr>
              <a:t>Dashboard: accept / reject every recommendation; every decision logged</a:t>
            </a:r>
            <a:endParaRPr lang="en-US" sz="1050" dirty="0"/>
          </a:p>
        </p:txBody>
      </p:sp>
      <p:sp>
        <p:nvSpPr>
          <p:cNvPr id="39" name="Shape 32"/>
          <p:cNvSpPr/>
          <p:nvPr/>
        </p:nvSpPr>
        <p:spPr>
          <a:xfrm>
            <a:off x="457200" y="3749040"/>
            <a:ext cx="8229600" cy="960120"/>
          </a:xfrm>
          <a:prstGeom prst="roundRect">
            <a:avLst>
              <a:gd name="adj" fmla="val 7619"/>
            </a:avLst>
          </a:prstGeom>
          <a:solidFill>
            <a:srgbClr val="1B2631"/>
          </a:solidFill>
          <a:ln w="12700">
            <a:solidFill>
              <a:srgbClr val="1B2631"/>
            </a:solidFill>
            <a:prstDash val="solid"/>
          </a:ln>
        </p:spPr>
      </p:sp>
      <p:sp>
        <p:nvSpPr>
          <p:cNvPr id="40" name="Shape 33"/>
          <p:cNvSpPr/>
          <p:nvPr/>
        </p:nvSpPr>
        <p:spPr>
          <a:xfrm>
            <a:off x="640080" y="3931920"/>
            <a:ext cx="594360" cy="594360"/>
          </a:xfrm>
          <a:prstGeom prst="ellipse">
            <a:avLst/>
          </a:prstGeom>
          <a:solidFill>
            <a:srgbClr val="E8910C"/>
          </a:solidFill>
          <a:ln w="12700">
            <a:solidFill>
              <a:srgbClr val="E8910C"/>
            </a:solidFill>
            <a:prstDash val="solid"/>
          </a:ln>
        </p:spPr>
      </p:sp>
      <p:pic>
        <p:nvPicPr>
          <p:cNvPr id="41" name="Image 5" descr="preencoded.png">    </p:cNvPr>
          <p:cNvPicPr>
            <a:picLocks noChangeAspect="1"/>
          </p:cNvPicPr>
          <p:nvPr/>
        </p:nvPicPr>
        <p:blipFill>
          <a:blip r:embed="rId6"/>
          <a:stretch>
            <a:fillRect/>
          </a:stretch>
        </p:blipFill>
        <p:spPr>
          <a:xfrm>
            <a:off x="788670" y="4080510"/>
            <a:ext cx="297180" cy="297180"/>
          </a:xfrm>
          <a:prstGeom prst="rect">
            <a:avLst/>
          </a:prstGeom>
        </p:spPr>
      </p:pic>
      <p:sp>
        <p:nvSpPr>
          <p:cNvPr id="42" name="Text 34"/>
          <p:cNvSpPr txBox="1"/>
          <p:nvPr/>
        </p:nvSpPr>
        <p:spPr>
          <a:xfrm>
            <a:off x="1417320" y="3858768"/>
            <a:ext cx="7132320" cy="32004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Core principle: the LLM never predicts failures.</a:t>
            </a:r>
            <a:endParaRPr lang="en-US" sz="1500" dirty="0"/>
          </a:p>
        </p:txBody>
      </p:sp>
      <p:sp>
        <p:nvSpPr>
          <p:cNvPr id="43" name="Text 35"/>
          <p:cNvSpPr txBox="1"/>
          <p:nvPr/>
        </p:nvSpPr>
        <p:spPr>
          <a:xfrm>
            <a:off x="1417320" y="4178808"/>
            <a:ext cx="7132320" cy="502920"/>
          </a:xfrm>
          <a:prstGeom prst="rect">
            <a:avLst/>
          </a:prstGeom>
          <a:noFill/>
          <a:ln/>
        </p:spPr>
        <p:txBody>
          <a:bodyPr wrap="square" lIns="0" tIns="0" rIns="0" bIns="0" rtlCol="0" anchor="t"/>
          <a:lstStyle/>
          <a:p>
            <a:pPr indent="0" marL="0">
              <a:buNone/>
            </a:pPr>
            <a:r>
              <a:rPr lang="en-US" sz="1050" dirty="0">
                <a:solidFill>
                  <a:srgbClr val="B8C4D0"/>
                </a:solidFill>
                <a:latin typeface="Calibri" pitchFamily="34" charset="0"/>
                <a:ea typeface="Calibri" pitchFamily="34" charset="-122"/>
                <a:cs typeface="Calibri" pitchFamily="34" charset="-120"/>
              </a:rPr>
              <a:t>Trained models, optimiser and scheduler are the source of truth. The LLM interprets their output, connects evidence and communicates the decision. Setpoint recommendations are re-scored by the failure model before they are shown.</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000" b="1" spc="200" kern="0" dirty="0">
                <a:solidFill>
                  <a:srgbClr val="E8910C"/>
                </a:solidFill>
                <a:latin typeface="Calibri" pitchFamily="34" charset="0"/>
                <a:ea typeface="Calibri" pitchFamily="34" charset="-122"/>
                <a:cs typeface="Calibri" pitchFamily="34" charset="-120"/>
              </a:rPr>
              <a:t>03 · DATASETS</a:t>
            </a:r>
            <a:endParaRPr lang="en-US" sz="10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1B2631"/>
                </a:solidFill>
                <a:latin typeface="Calibri" pitchFamily="34" charset="0"/>
                <a:ea typeface="Calibri" pitchFamily="34" charset="-122"/>
                <a:cs typeface="Calibri" pitchFamily="34" charset="-120"/>
              </a:rPr>
              <a:t>Two complementary public datasets</a:t>
            </a:r>
            <a:endParaRPr lang="en-US" sz="2800" dirty="0"/>
          </a:p>
        </p:txBody>
      </p:sp>
      <p:sp>
        <p:nvSpPr>
          <p:cNvPr id="4" name="Text 2"/>
          <p:cNvSpPr txBox="1"/>
          <p:nvPr/>
        </p:nvSpPr>
        <p:spPr>
          <a:xfrm>
            <a:off x="7315200" y="4846320"/>
            <a:ext cx="1371600" cy="182880"/>
          </a:xfrm>
          <a:prstGeom prst="rect">
            <a:avLst/>
          </a:prstGeom>
          <a:noFill/>
          <a:ln/>
        </p:spPr>
        <p:txBody>
          <a:bodyPr wrap="square" lIns="0" tIns="0" rIns="0" bIns="0" rtlCol="0" anchor="t"/>
          <a:lstStyle/>
          <a:p>
            <a:pPr algn="r" indent="0" marL="0">
              <a:buNone/>
            </a:pPr>
            <a:r>
              <a:rPr lang="en-US" sz="900" dirty="0">
                <a:solidFill>
                  <a:srgbClr val="5F6B78"/>
                </a:solidFill>
                <a:latin typeface="Calibri" pitchFamily="34" charset="0"/>
                <a:ea typeface="Calibri" pitchFamily="34" charset="-122"/>
                <a:cs typeface="Calibri" pitchFamily="34" charset="-120"/>
              </a:rPr>
              <a:t>SMPO  ·  5</a:t>
            </a:r>
            <a:endParaRPr lang="en-US" sz="9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5715000" cy="914400"/>
        </p:xfrm>
        <a:graphic>
          <a:graphicData uri="http://schemas.openxmlformats.org/drawingml/2006/table">
            <a:tbl>
              <a:tblPr/>
              <a:tblGrid>
                <a:gridCol w="868680"/>
                <a:gridCol w="2423160"/>
                <a:gridCol w="2423160"/>
              </a:tblGrid>
              <a:tr h="548640">
                <a:tc>
                  <a:txBody>
                    <a:bodyPr/>
                    <a:lstStyle/>
                    <a:p>
                      <a:pPr indent="0" marL="0">
                        <a:buNone/>
                      </a:pPr>
                      <a:endParaRPr lang="en-US" sz="1050" dirty="0">
                        <a:latin typeface="Calibri" charset="0"/>
                        <a:ea typeface="Calibri" charset="0"/>
                        <a:cs typeface="Calibri" charset="0"/>
                      </a:endParaRPr>
                    </a:p>
                  </a:txBody>
                  <a:tcPr marL="54864" marR="54864" marT="54864" marB="54864"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34495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AI4I 2020 (UCI #601)</a:t>
                      </a:r>
                      <a:endParaRPr lang="en-US" sz="1050" dirty="0">
                        <a:latin typeface="Calibri" charset="0"/>
                        <a:ea typeface="Calibri" charset="0"/>
                        <a:cs typeface="Calibri" charset="0"/>
                      </a:endParaRPr>
                    </a:p>
                  </a:txBody>
                  <a:tcPr marL="54864" marR="54864" marT="54864" marB="54864"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34495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Microsoft Azure PdM</a:t>
                      </a:r>
                      <a:endParaRPr lang="en-US" sz="1050" dirty="0">
                        <a:latin typeface="Calibri" charset="0"/>
                        <a:ea typeface="Calibri" charset="0"/>
                        <a:cs typeface="Calibri" charset="0"/>
                      </a:endParaRPr>
                    </a:p>
                  </a:txBody>
                  <a:tcPr marL="54864" marR="54864" marT="54864" marB="54864"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34495E"/>
                    </a:solidFill>
                  </a:tcPr>
                </a:tc>
              </a:tr>
              <a:tr h="548640">
                <a:tc>
                  <a:txBody>
                    <a:bodyPr/>
                    <a:lstStyle/>
                    <a:p>
                      <a:pPr indent="0" marL="0">
                        <a:buNone/>
                      </a:pPr>
                      <a:r>
                        <a:rPr lang="en-US" sz="1050" b="1" dirty="0">
                          <a:solidFill>
                            <a:srgbClr val="34495E"/>
                          </a:solidFill>
                          <a:latin typeface="Calibri" pitchFamily="34" charset="0"/>
                          <a:ea typeface="Calibri" pitchFamily="34" charset="-122"/>
                          <a:cs typeface="Calibri" pitchFamily="34" charset="-120"/>
                        </a:rPr>
                        <a:t>Scope</a:t>
                      </a:r>
                      <a:endParaRPr lang="en-US" sz="1050" dirty="0">
                        <a:latin typeface="Calibri" charset="0"/>
                        <a:ea typeface="Calibri" charset="0"/>
                        <a:cs typeface="Calibri" charset="0"/>
                      </a:endParaRPr>
                    </a:p>
                  </a:txBody>
                  <a:tcPr marL="54864" marR="54864" marT="54864" marB="54864"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050" dirty="0">
                          <a:solidFill>
                            <a:srgbClr val="1B2631"/>
                          </a:solidFill>
                          <a:latin typeface="Calibri" pitchFamily="34" charset="0"/>
                          <a:ea typeface="Calibri" pitchFamily="34" charset="-122"/>
                          <a:cs typeface="Calibri" pitchFamily="34" charset="-120"/>
                        </a:rPr>
                        <a:t>Machining line, one row per production cycle</a:t>
                      </a:r>
                      <a:endParaRPr lang="en-US" sz="1050" dirty="0">
                        <a:latin typeface="Calibri" charset="0"/>
                        <a:ea typeface="Calibri" charset="0"/>
                        <a:cs typeface="Calibri" charset="0"/>
                      </a:endParaRPr>
                    </a:p>
                  </a:txBody>
                  <a:tcPr marL="54864" marR="54864" marT="54864" marB="54864"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050" dirty="0">
                          <a:solidFill>
                            <a:srgbClr val="1B2631"/>
                          </a:solidFill>
                          <a:latin typeface="Calibri" pitchFamily="34" charset="0"/>
                          <a:ea typeface="Calibri" pitchFamily="34" charset="-122"/>
                          <a:cs typeface="Calibri" pitchFamily="34" charset="-120"/>
                        </a:rPr>
                        <a:t>100 machines, hourly, calendar year 2015</a:t>
                      </a:r>
                      <a:endParaRPr lang="en-US" sz="1050" dirty="0">
                        <a:latin typeface="Calibri" charset="0"/>
                        <a:ea typeface="Calibri" charset="0"/>
                        <a:cs typeface="Calibri" charset="0"/>
                      </a:endParaRPr>
                    </a:p>
                  </a:txBody>
                  <a:tcPr marL="54864" marR="54864" marT="54864" marB="54864"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r>
              <a:tr h="548640">
                <a:tc>
                  <a:txBody>
                    <a:bodyPr/>
                    <a:lstStyle/>
                    <a:p>
                      <a:pPr indent="0" marL="0">
                        <a:buNone/>
                      </a:pPr>
                      <a:r>
                        <a:rPr lang="en-US" sz="1050" b="1" dirty="0">
                          <a:solidFill>
                            <a:srgbClr val="34495E"/>
                          </a:solidFill>
                          <a:latin typeface="Calibri" pitchFamily="34" charset="0"/>
                          <a:ea typeface="Calibri" pitchFamily="34" charset="-122"/>
                          <a:cs typeface="Calibri" pitchFamily="34" charset="-120"/>
                        </a:rPr>
                        <a:t>Size</a:t>
                      </a:r>
                      <a:endParaRPr lang="en-US" sz="1050" dirty="0">
                        <a:latin typeface="Calibri" charset="0"/>
                        <a:ea typeface="Calibri" charset="0"/>
                        <a:cs typeface="Calibri" charset="0"/>
                      </a:endParaRPr>
                    </a:p>
                  </a:txBody>
                  <a:tcPr marL="54864" marR="54864" marT="54864" marB="54864"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050" dirty="0">
                          <a:solidFill>
                            <a:srgbClr val="1B2631"/>
                          </a:solidFill>
                          <a:latin typeface="Calibri" pitchFamily="34" charset="0"/>
                          <a:ea typeface="Calibri" pitchFamily="34" charset="-122"/>
                          <a:cs typeface="Calibri" pitchFamily="34" charset="-120"/>
                        </a:rPr>
                        <a:t>10,000 cycles, 3.39% failures</a:t>
                      </a:r>
                      <a:endParaRPr lang="en-US" sz="1050" dirty="0">
                        <a:latin typeface="Calibri" charset="0"/>
                        <a:ea typeface="Calibri" charset="0"/>
                        <a:cs typeface="Calibri" charset="0"/>
                      </a:endParaRPr>
                    </a:p>
                  </a:txBody>
                  <a:tcPr marL="54864" marR="54864" marT="54864" marB="54864"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050" dirty="0">
                          <a:solidFill>
                            <a:srgbClr val="1B2631"/>
                          </a:solidFill>
                          <a:latin typeface="Calibri" pitchFamily="34" charset="0"/>
                          <a:ea typeface="Calibri" pitchFamily="34" charset="-122"/>
                          <a:cs typeface="Calibri" pitchFamily="34" charset="-120"/>
                        </a:rPr>
                        <a:t>876,100 telemetry rows · 3,919 errors · 3,286 replacements · 761 failures</a:t>
                      </a:r>
                      <a:endParaRPr lang="en-US" sz="1050" dirty="0">
                        <a:latin typeface="Calibri" charset="0"/>
                        <a:ea typeface="Calibri" charset="0"/>
                        <a:cs typeface="Calibri" charset="0"/>
                      </a:endParaRPr>
                    </a:p>
                  </a:txBody>
                  <a:tcPr marL="54864" marR="54864" marT="54864" marB="54864"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r>
              <a:tr h="548640">
                <a:tc>
                  <a:txBody>
                    <a:bodyPr/>
                    <a:lstStyle/>
                    <a:p>
                      <a:pPr indent="0" marL="0">
                        <a:buNone/>
                      </a:pPr>
                      <a:r>
                        <a:rPr lang="en-US" sz="1050" b="1" dirty="0">
                          <a:solidFill>
                            <a:srgbClr val="34495E"/>
                          </a:solidFill>
                          <a:latin typeface="Calibri" pitchFamily="34" charset="0"/>
                          <a:ea typeface="Calibri" pitchFamily="34" charset="-122"/>
                          <a:cs typeface="Calibri" pitchFamily="34" charset="-120"/>
                        </a:rPr>
                        <a:t>Signals</a:t>
                      </a:r>
                      <a:endParaRPr lang="en-US" sz="1050" dirty="0">
                        <a:latin typeface="Calibri" charset="0"/>
                        <a:ea typeface="Calibri" charset="0"/>
                        <a:cs typeface="Calibri" charset="0"/>
                      </a:endParaRPr>
                    </a:p>
                  </a:txBody>
                  <a:tcPr marL="54864" marR="54864" marT="54864" marB="54864"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050" dirty="0">
                          <a:solidFill>
                            <a:srgbClr val="1B2631"/>
                          </a:solidFill>
                          <a:latin typeface="Calibri" pitchFamily="34" charset="0"/>
                          <a:ea typeface="Calibri" pitchFamily="34" charset="-122"/>
                          <a:cs typeface="Calibri" pitchFamily="34" charset="-120"/>
                        </a:rPr>
                        <a:t>Air/process temp, speed, torque, tool wear, quality variant L/M/H</a:t>
                      </a:r>
                      <a:endParaRPr lang="en-US" sz="1050" dirty="0">
                        <a:latin typeface="Calibri" charset="0"/>
                        <a:ea typeface="Calibri" charset="0"/>
                        <a:cs typeface="Calibri" charset="0"/>
                      </a:endParaRPr>
                    </a:p>
                  </a:txBody>
                  <a:tcPr marL="54864" marR="54864" marT="54864" marB="54864"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050" dirty="0">
                          <a:solidFill>
                            <a:srgbClr val="1B2631"/>
                          </a:solidFill>
                          <a:latin typeface="Calibri" pitchFamily="34" charset="0"/>
                          <a:ea typeface="Calibri" pitchFamily="34" charset="-122"/>
                          <a:cs typeface="Calibri" pitchFamily="34" charset="-120"/>
                        </a:rPr>
                        <a:t>Voltage, rotation, pressure, vibration; error codes; model &amp; age</a:t>
                      </a:r>
                      <a:endParaRPr lang="en-US" sz="1050" dirty="0">
                        <a:latin typeface="Calibri" charset="0"/>
                        <a:ea typeface="Calibri" charset="0"/>
                        <a:cs typeface="Calibri" charset="0"/>
                      </a:endParaRPr>
                    </a:p>
                  </a:txBody>
                  <a:tcPr marL="54864" marR="54864" marT="54864" marB="54864"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r>
              <a:tr h="548640">
                <a:tc>
                  <a:txBody>
                    <a:bodyPr/>
                    <a:lstStyle/>
                    <a:p>
                      <a:pPr indent="0" marL="0">
                        <a:buNone/>
                      </a:pPr>
                      <a:r>
                        <a:rPr lang="en-US" sz="1050" b="1" dirty="0">
                          <a:solidFill>
                            <a:srgbClr val="34495E"/>
                          </a:solidFill>
                          <a:latin typeface="Calibri" pitchFamily="34" charset="0"/>
                          <a:ea typeface="Calibri" pitchFamily="34" charset="-122"/>
                          <a:cs typeface="Calibri" pitchFamily="34" charset="-120"/>
                        </a:rPr>
                        <a:t>Labels</a:t>
                      </a:r>
                      <a:endParaRPr lang="en-US" sz="1050" dirty="0">
                        <a:latin typeface="Calibri" charset="0"/>
                        <a:ea typeface="Calibri" charset="0"/>
                        <a:cs typeface="Calibri" charset="0"/>
                      </a:endParaRPr>
                    </a:p>
                  </a:txBody>
                  <a:tcPr marL="54864" marR="54864" marT="54864" marB="54864"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050" dirty="0">
                          <a:solidFill>
                            <a:srgbClr val="1B2631"/>
                          </a:solidFill>
                          <a:latin typeface="Calibri" pitchFamily="34" charset="0"/>
                          <a:ea typeface="Calibri" pitchFamily="34" charset="-122"/>
                          <a:cs typeface="Calibri" pitchFamily="34" charset="-120"/>
                        </a:rPr>
                        <a:t>Failure + modes: TWF, HDF, PWF, OSF, RNF</a:t>
                      </a:r>
                      <a:endParaRPr lang="en-US" sz="1050" dirty="0">
                        <a:latin typeface="Calibri" charset="0"/>
                        <a:ea typeface="Calibri" charset="0"/>
                        <a:cs typeface="Calibri" charset="0"/>
                      </a:endParaRPr>
                    </a:p>
                  </a:txBody>
                  <a:tcPr marL="54864" marR="54864" marT="54864" marB="54864"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050" dirty="0">
                          <a:solidFill>
                            <a:srgbClr val="1B2631"/>
                          </a:solidFill>
                          <a:latin typeface="Calibri" pitchFamily="34" charset="0"/>
                          <a:ea typeface="Calibri" pitchFamily="34" charset="-122"/>
                          <a:cs typeface="Calibri" pitchFamily="34" charset="-120"/>
                        </a:rPr>
                        <a:t>Failure time per component (comp1–comp4)</a:t>
                      </a:r>
                      <a:endParaRPr lang="en-US" sz="1050" dirty="0">
                        <a:latin typeface="Calibri" charset="0"/>
                        <a:ea typeface="Calibri" charset="0"/>
                        <a:cs typeface="Calibri" charset="0"/>
                      </a:endParaRPr>
                    </a:p>
                  </a:txBody>
                  <a:tcPr marL="54864" marR="54864" marT="54864" marB="54864"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r>
              <a:tr h="548640">
                <a:tc>
                  <a:txBody>
                    <a:bodyPr/>
                    <a:lstStyle/>
                    <a:p>
                      <a:pPr indent="0" marL="0">
                        <a:buNone/>
                      </a:pPr>
                      <a:r>
                        <a:rPr lang="en-US" sz="1050" b="1" dirty="0">
                          <a:solidFill>
                            <a:srgbClr val="34495E"/>
                          </a:solidFill>
                          <a:latin typeface="Calibri" pitchFamily="34" charset="0"/>
                          <a:ea typeface="Calibri" pitchFamily="34" charset="-122"/>
                          <a:cs typeface="Calibri" pitchFamily="34" charset="-120"/>
                        </a:rPr>
                        <a:t>Used for</a:t>
                      </a:r>
                      <a:endParaRPr lang="en-US" sz="1050" dirty="0">
                        <a:latin typeface="Calibri" charset="0"/>
                        <a:ea typeface="Calibri" charset="0"/>
                        <a:cs typeface="Calibri" charset="0"/>
                      </a:endParaRPr>
                    </a:p>
                  </a:txBody>
                  <a:tcPr marL="54864" marR="54864" marT="54864" marB="54864"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050" dirty="0">
                          <a:solidFill>
                            <a:srgbClr val="1B2631"/>
                          </a:solidFill>
                          <a:latin typeface="Calibri" pitchFamily="34" charset="0"/>
                          <a:ea typeface="Calibri" pitchFamily="34" charset="-122"/>
                          <a:cs typeface="Calibri" pitchFamily="34" charset="-120"/>
                        </a:rPr>
                        <a:t>Process risk, failure-mode diagnosis, setpoint optimisation, quality KPI</a:t>
                      </a:r>
                      <a:endParaRPr lang="en-US" sz="1050" dirty="0">
                        <a:latin typeface="Calibri" charset="0"/>
                        <a:ea typeface="Calibri" charset="0"/>
                        <a:cs typeface="Calibri" charset="0"/>
                      </a:endParaRPr>
                    </a:p>
                  </a:txBody>
                  <a:tcPr marL="54864" marR="54864" marT="54864" marB="54864"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050" dirty="0">
                          <a:solidFill>
                            <a:srgbClr val="1B2631"/>
                          </a:solidFill>
                          <a:latin typeface="Calibri" pitchFamily="34" charset="0"/>
                          <a:ea typeface="Calibri" pitchFamily="34" charset="-122"/>
                          <a:cs typeface="Calibri" pitchFamily="34" charset="-120"/>
                        </a:rPr>
                        <a:t>Fleet health, component forecasts, anomalies, maintenance planning, availability</a:t>
                      </a:r>
                      <a:endParaRPr lang="en-US" sz="1050" dirty="0">
                        <a:latin typeface="Calibri" charset="0"/>
                        <a:ea typeface="Calibri" charset="0"/>
                        <a:cs typeface="Calibri" charset="0"/>
                      </a:endParaRPr>
                    </a:p>
                  </a:txBody>
                  <a:tcPr marL="54864" marR="54864" marT="54864" marB="54864"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r>
            </a:tbl>
          </a:graphicData>
        </a:graphic>
      </p:graphicFrame>
      <p:sp>
        <p:nvSpPr>
          <p:cNvPr id="6" name="Shape 3"/>
          <p:cNvSpPr/>
          <p:nvPr/>
        </p:nvSpPr>
        <p:spPr>
          <a:xfrm>
            <a:off x="6400800" y="1280160"/>
            <a:ext cx="2286000" cy="3429000"/>
          </a:xfrm>
          <a:prstGeom prst="roundRect">
            <a:avLst>
              <a:gd name="adj" fmla="val 3200"/>
            </a:avLst>
          </a:prstGeom>
          <a:solidFill>
            <a:srgbClr val="EEF2F5"/>
          </a:solidFill>
          <a:ln w="12700">
            <a:solidFill>
              <a:srgbClr val="EEF2F5"/>
            </a:solidFill>
            <a:prstDash val="solid"/>
          </a:ln>
        </p:spPr>
      </p:sp>
      <p:sp>
        <p:nvSpPr>
          <p:cNvPr id="7" name="Text 4"/>
          <p:cNvSpPr txBox="1"/>
          <p:nvPr/>
        </p:nvSpPr>
        <p:spPr>
          <a:xfrm>
            <a:off x="6583680" y="1417320"/>
            <a:ext cx="1920240" cy="274320"/>
          </a:xfrm>
          <a:prstGeom prst="rect">
            <a:avLst/>
          </a:prstGeom>
          <a:noFill/>
          <a:ln/>
        </p:spPr>
        <p:txBody>
          <a:bodyPr wrap="square" lIns="0" tIns="0" rIns="0" bIns="0" rtlCol="0" anchor="t"/>
          <a:lstStyle/>
          <a:p>
            <a:pPr indent="0" marL="0">
              <a:buNone/>
            </a:pPr>
            <a:r>
              <a:rPr lang="en-US" sz="1300" b="1" dirty="0">
                <a:solidFill>
                  <a:srgbClr val="1B2631"/>
                </a:solidFill>
                <a:latin typeface="Calibri" pitchFamily="34" charset="0"/>
                <a:ea typeface="Calibri" pitchFamily="34" charset="-122"/>
                <a:cs typeface="Calibri" pitchFamily="34" charset="-120"/>
              </a:rPr>
              <a:t>Evaluated, not used</a:t>
            </a:r>
            <a:endParaRPr lang="en-US" sz="1300" dirty="0"/>
          </a:p>
        </p:txBody>
      </p:sp>
      <p:sp>
        <p:nvSpPr>
          <p:cNvPr id="8" name="Text 5"/>
          <p:cNvSpPr txBox="1"/>
          <p:nvPr/>
        </p:nvSpPr>
        <p:spPr>
          <a:xfrm>
            <a:off x="6583680" y="1783080"/>
            <a:ext cx="1920240" cy="2011680"/>
          </a:xfrm>
          <a:prstGeom prst="rect">
            <a:avLst/>
          </a:prstGeom>
          <a:noFill/>
          <a:ln/>
        </p:spPr>
        <p:txBody>
          <a:bodyPr wrap="square" lIns="0" tIns="0" rIns="0" bIns="0" rtlCol="0" anchor="t"/>
          <a:lstStyle/>
          <a:p>
            <a:pPr indent="0" marL="0">
              <a:buNone/>
            </a:pPr>
            <a:r>
              <a:rPr lang="en-US" sz="1050" b="1" dirty="0">
                <a:solidFill>
                  <a:srgbClr val="1B2631"/>
                </a:solidFill>
                <a:latin typeface="Calibri" pitchFamily="34" charset="0"/>
                <a:ea typeface="Calibri" pitchFamily="34" charset="-122"/>
                <a:cs typeface="Calibri" pitchFamily="34" charset="-120"/>
              </a:rPr>
              <a:t>NASA C-MAPSS</a:t>
            </a:r>
            <a:endParaRPr lang="en-US" sz="1050" dirty="0"/>
          </a:p>
          <a:p>
            <a:pPr indent="0" marL="0">
              <a:buNone/>
            </a:pPr>
            <a:r>
              <a:rPr lang="en-US" sz="1050" dirty="0">
                <a:solidFill>
                  <a:srgbClr val="5F6B78"/>
                </a:solidFill>
                <a:latin typeface="Calibri" pitchFamily="34" charset="0"/>
                <a:ea typeface="Calibri" pitchFamily="34" charset="-122"/>
                <a:cs typeface="Calibri" pitchFamily="34" charset="-120"/>
              </a:rPr>
              <a:t>Turbofan engines, not factory machines</a:t>
            </a:r>
            <a:endParaRPr lang="en-US" sz="1050" dirty="0"/>
          </a:p>
          <a:p>
            <a:pPr indent="0" marL="0">
              <a:buNone/>
            </a:pPr>
            <a:r>
              <a:rPr lang="en-US" sz="500" dirty="0">
                <a:solidFill>
                  <a:srgbClr val="1B2631"/>
                </a:solidFill>
                <a:latin typeface="Calibri" pitchFamily="34" charset="0"/>
                <a:ea typeface="Calibri" pitchFamily="34" charset="-122"/>
                <a:cs typeface="Calibri" pitchFamily="34" charset="-120"/>
              </a:rPr>
              <a:t> </a:t>
            </a:r>
            <a:endParaRPr lang="en-US" sz="1050" dirty="0"/>
          </a:p>
          <a:p>
            <a:pPr indent="0" marL="0">
              <a:buNone/>
            </a:pPr>
            <a:r>
              <a:rPr lang="en-US" sz="1050" b="1" dirty="0">
                <a:solidFill>
                  <a:srgbClr val="1B2631"/>
                </a:solidFill>
                <a:latin typeface="Calibri" pitchFamily="34" charset="0"/>
                <a:ea typeface="Calibri" pitchFamily="34" charset="-122"/>
                <a:cs typeface="Calibri" pitchFamily="34" charset="-120"/>
              </a:rPr>
              <a:t>SECOM (UCI)</a:t>
            </a:r>
            <a:endParaRPr lang="en-US" sz="1050" dirty="0"/>
          </a:p>
          <a:p>
            <a:pPr indent="0" marL="0">
              <a:buNone/>
            </a:pPr>
            <a:r>
              <a:rPr lang="en-US" sz="1050" dirty="0">
                <a:solidFill>
                  <a:srgbClr val="5F6B78"/>
                </a:solidFill>
                <a:latin typeface="Calibri" pitchFamily="34" charset="0"/>
                <a:ea typeface="Calibri" pitchFamily="34" charset="-122"/>
                <a:cs typeface="Calibri" pitchFamily="34" charset="-120"/>
              </a:rPr>
              <a:t>Quality only; 590 anonymised sensors</a:t>
            </a:r>
            <a:endParaRPr lang="en-US" sz="1050" dirty="0"/>
          </a:p>
          <a:p>
            <a:pPr indent="0" marL="0">
              <a:buNone/>
            </a:pPr>
            <a:r>
              <a:rPr lang="en-US" sz="500" dirty="0">
                <a:solidFill>
                  <a:srgbClr val="1B2631"/>
                </a:solidFill>
                <a:latin typeface="Calibri" pitchFamily="34" charset="0"/>
                <a:ea typeface="Calibri" pitchFamily="34" charset="-122"/>
                <a:cs typeface="Calibri" pitchFamily="34" charset="-120"/>
              </a:rPr>
              <a:t> </a:t>
            </a:r>
            <a:endParaRPr lang="en-US" sz="1050" dirty="0"/>
          </a:p>
          <a:p>
            <a:pPr indent="0" marL="0">
              <a:buNone/>
            </a:pPr>
            <a:r>
              <a:rPr lang="en-US" sz="1050" b="1" dirty="0">
                <a:solidFill>
                  <a:srgbClr val="1B2631"/>
                </a:solidFill>
                <a:latin typeface="Calibri" pitchFamily="34" charset="0"/>
                <a:ea typeface="Calibri" pitchFamily="34" charset="-122"/>
                <a:cs typeface="Calibri" pitchFamily="34" charset="-120"/>
              </a:rPr>
              <a:t>Bosch Production Line</a:t>
            </a:r>
            <a:endParaRPr lang="en-US" sz="1050" dirty="0"/>
          </a:p>
          <a:p>
            <a:pPr indent="0" marL="0">
              <a:buNone/>
            </a:pPr>
            <a:r>
              <a:rPr lang="en-US" sz="1050" dirty="0">
                <a:solidFill>
                  <a:srgbClr val="5F6B78"/>
                </a:solidFill>
                <a:latin typeface="Calibri" pitchFamily="34" charset="0"/>
                <a:ea typeface="Calibri" pitchFamily="34" charset="-122"/>
                <a:cs typeface="Calibri" pitchFamily="34" charset="-120"/>
              </a:rPr>
              <a:t>~14 GB, anonymised, not explainable</a:t>
            </a:r>
            <a:endParaRPr lang="en-US" sz="1050" dirty="0"/>
          </a:p>
        </p:txBody>
      </p:sp>
      <p:sp>
        <p:nvSpPr>
          <p:cNvPr id="9" name="Text 6"/>
          <p:cNvSpPr txBox="1"/>
          <p:nvPr/>
        </p:nvSpPr>
        <p:spPr>
          <a:xfrm>
            <a:off x="6583680" y="3931920"/>
            <a:ext cx="1920240" cy="685800"/>
          </a:xfrm>
          <a:prstGeom prst="rect">
            <a:avLst/>
          </a:prstGeom>
          <a:noFill/>
          <a:ln/>
        </p:spPr>
        <p:txBody>
          <a:bodyPr wrap="square" lIns="0" tIns="0" rIns="0" bIns="0" rtlCol="0" anchor="t"/>
          <a:lstStyle/>
          <a:p>
            <a:pPr indent="0" marL="0">
              <a:buNone/>
            </a:pPr>
            <a:r>
              <a:rPr lang="en-US" sz="950" i="1" dirty="0">
                <a:solidFill>
                  <a:srgbClr val="C0392B"/>
                </a:solidFill>
                <a:latin typeface="Calibri" pitchFamily="34" charset="0"/>
                <a:ea typeface="Calibri" pitchFamily="34" charset="-122"/>
                <a:cs typeface="Calibri" pitchFamily="34" charset="-120"/>
              </a:rPr>
              <a:t>Both are synthetic (real physics / real plant patterns) — expect lower scores on real plant data.</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000" b="1" spc="200" kern="0" dirty="0">
                <a:solidFill>
                  <a:srgbClr val="E8910C"/>
                </a:solidFill>
                <a:latin typeface="Calibri" pitchFamily="34" charset="0"/>
                <a:ea typeface="Calibri" pitchFamily="34" charset="-122"/>
                <a:cs typeface="Calibri" pitchFamily="34" charset="-120"/>
              </a:rPr>
              <a:t>04 · ARCHITECTURE</a:t>
            </a:r>
            <a:endParaRPr lang="en-US" sz="10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1B2631"/>
                </a:solidFill>
                <a:latin typeface="Calibri" pitchFamily="34" charset="0"/>
                <a:ea typeface="Calibri" pitchFamily="34" charset="-122"/>
                <a:cs typeface="Calibri" pitchFamily="34" charset="-120"/>
              </a:rPr>
              <a:t>Layered architecture</a:t>
            </a:r>
            <a:endParaRPr lang="en-US" sz="2800" dirty="0"/>
          </a:p>
        </p:txBody>
      </p:sp>
      <p:sp>
        <p:nvSpPr>
          <p:cNvPr id="4" name="Text 2"/>
          <p:cNvSpPr txBox="1"/>
          <p:nvPr/>
        </p:nvSpPr>
        <p:spPr>
          <a:xfrm>
            <a:off x="7315200" y="4846320"/>
            <a:ext cx="1371600" cy="182880"/>
          </a:xfrm>
          <a:prstGeom prst="rect">
            <a:avLst/>
          </a:prstGeom>
          <a:noFill/>
          <a:ln/>
        </p:spPr>
        <p:txBody>
          <a:bodyPr wrap="square" lIns="0" tIns="0" rIns="0" bIns="0" rtlCol="0" anchor="t"/>
          <a:lstStyle/>
          <a:p>
            <a:pPr algn="r" indent="0" marL="0">
              <a:buNone/>
            </a:pPr>
            <a:r>
              <a:rPr lang="en-US" sz="900" dirty="0">
                <a:solidFill>
                  <a:srgbClr val="5F6B78"/>
                </a:solidFill>
                <a:latin typeface="Calibri" pitchFamily="34" charset="0"/>
                <a:ea typeface="Calibri" pitchFamily="34" charset="-122"/>
                <a:cs typeface="Calibri" pitchFamily="34" charset="-120"/>
              </a:rPr>
              <a:t>SMPO  ·  6</a:t>
            </a:r>
            <a:endParaRPr lang="en-US" sz="900" dirty="0"/>
          </a:p>
        </p:txBody>
      </p:sp>
      <p:sp>
        <p:nvSpPr>
          <p:cNvPr id="5" name="Shape 3"/>
          <p:cNvSpPr/>
          <p:nvPr/>
        </p:nvSpPr>
        <p:spPr>
          <a:xfrm>
            <a:off x="457200" y="1280160"/>
            <a:ext cx="1463040" cy="2788920"/>
          </a:xfrm>
          <a:prstGeom prst="roundRect">
            <a:avLst>
              <a:gd name="adj" fmla="val 5000"/>
            </a:avLst>
          </a:prstGeom>
          <a:solidFill>
            <a:srgbClr val="EEF2F5"/>
          </a:solidFill>
          <a:ln w="12700">
            <a:solidFill>
              <a:srgbClr val="EEF2F5"/>
            </a:solidFill>
            <a:prstDash val="solid"/>
          </a:ln>
        </p:spPr>
      </p:sp>
      <p:sp>
        <p:nvSpPr>
          <p:cNvPr id="6" name="Shape 4"/>
          <p:cNvSpPr/>
          <p:nvPr/>
        </p:nvSpPr>
        <p:spPr>
          <a:xfrm>
            <a:off x="457200" y="1280160"/>
            <a:ext cx="1463040" cy="548640"/>
          </a:xfrm>
          <a:prstGeom prst="roundRect">
            <a:avLst>
              <a:gd name="adj" fmla="val 13333"/>
            </a:avLst>
          </a:prstGeom>
          <a:solidFill>
            <a:srgbClr val="34495E"/>
          </a:solidFill>
          <a:ln w="12700">
            <a:solidFill>
              <a:srgbClr val="34495E"/>
            </a:solidFill>
            <a:prstDash val="solid"/>
          </a:ln>
        </p:spPr>
      </p:sp>
      <p:sp>
        <p:nvSpPr>
          <p:cNvPr id="7" name="Text 5"/>
          <p:cNvSpPr txBox="1"/>
          <p:nvPr/>
        </p:nvSpPr>
        <p:spPr>
          <a:xfrm>
            <a:off x="548640" y="1325880"/>
            <a:ext cx="1280160" cy="274320"/>
          </a:xfrm>
          <a:prstGeom prst="rect">
            <a:avLst/>
          </a:prstGeom>
          <a:noFill/>
          <a:ln/>
        </p:spPr>
        <p:txBody>
          <a:bodyPr wrap="square" lIns="0" tIns="0" rIns="0" bIns="0" rtlCol="0" anchor="t"/>
          <a:lstStyle/>
          <a:p>
            <a:pPr algn="ctr" indent="0" marL="0">
              <a:buNone/>
            </a:pPr>
            <a:r>
              <a:rPr lang="en-US" sz="1250" b="1" dirty="0">
                <a:solidFill>
                  <a:srgbClr val="FFFFFF"/>
                </a:solidFill>
                <a:latin typeface="Calibri" pitchFamily="34" charset="0"/>
                <a:ea typeface="Calibri" pitchFamily="34" charset="-122"/>
                <a:cs typeface="Calibri" pitchFamily="34" charset="-120"/>
              </a:rPr>
              <a:t>Data layer</a:t>
            </a:r>
            <a:endParaRPr lang="en-US" sz="1250" dirty="0"/>
          </a:p>
        </p:txBody>
      </p:sp>
      <p:sp>
        <p:nvSpPr>
          <p:cNvPr id="8" name="Text 6"/>
          <p:cNvSpPr txBox="1"/>
          <p:nvPr/>
        </p:nvSpPr>
        <p:spPr>
          <a:xfrm>
            <a:off x="548640" y="1572768"/>
            <a:ext cx="1280160" cy="201168"/>
          </a:xfrm>
          <a:prstGeom prst="rect">
            <a:avLst/>
          </a:prstGeom>
          <a:noFill/>
          <a:ln/>
        </p:spPr>
        <p:txBody>
          <a:bodyPr wrap="square" lIns="0" tIns="0" rIns="0" bIns="0" rtlCol="0" anchor="t"/>
          <a:lstStyle/>
          <a:p>
            <a:pPr algn="ctr" indent="0" marL="0">
              <a:buNone/>
            </a:pPr>
            <a:r>
              <a:rPr lang="en-US" sz="850" dirty="0">
                <a:solidFill>
                  <a:srgbClr val="FFFFFF"/>
                </a:solidFill>
                <a:latin typeface="Courier New" pitchFamily="34" charset="0"/>
                <a:ea typeface="Courier New" pitchFamily="34" charset="-122"/>
                <a:cs typeface="Courier New" pitchFamily="34" charset="-120"/>
              </a:rPr>
              <a:t>src/data</a:t>
            </a:r>
            <a:endParaRPr lang="en-US" sz="850" dirty="0"/>
          </a:p>
        </p:txBody>
      </p:sp>
      <p:sp>
        <p:nvSpPr>
          <p:cNvPr id="9" name="Shape 7"/>
          <p:cNvSpPr/>
          <p:nvPr/>
        </p:nvSpPr>
        <p:spPr>
          <a:xfrm>
            <a:off x="530352" y="1938528"/>
            <a:ext cx="1316736" cy="621792"/>
          </a:xfrm>
          <a:prstGeom prst="roundRect">
            <a:avLst>
              <a:gd name="adj" fmla="val 7353"/>
            </a:avLst>
          </a:prstGeom>
          <a:solidFill>
            <a:srgbClr val="FFFFFF"/>
          </a:solidFill>
          <a:ln w="9525">
            <a:solidFill>
              <a:srgbClr val="D5DCE3"/>
            </a:solidFill>
            <a:prstDash val="solid"/>
          </a:ln>
        </p:spPr>
      </p:sp>
      <p:sp>
        <p:nvSpPr>
          <p:cNvPr id="10" name="Text 8"/>
          <p:cNvSpPr txBox="1"/>
          <p:nvPr/>
        </p:nvSpPr>
        <p:spPr>
          <a:xfrm>
            <a:off x="585216" y="1984248"/>
            <a:ext cx="1207008" cy="182880"/>
          </a:xfrm>
          <a:prstGeom prst="rect">
            <a:avLst/>
          </a:prstGeom>
          <a:noFill/>
          <a:ln/>
        </p:spPr>
        <p:txBody>
          <a:bodyPr wrap="square" lIns="0" tIns="0" rIns="0" bIns="0" rtlCol="0" anchor="t"/>
          <a:lstStyle/>
          <a:p>
            <a:pPr indent="0" marL="0">
              <a:buNone/>
            </a:pPr>
            <a:r>
              <a:rPr lang="en-US" sz="750" b="1" dirty="0">
                <a:solidFill>
                  <a:srgbClr val="1B2631"/>
                </a:solidFill>
                <a:latin typeface="Courier New" pitchFamily="34" charset="0"/>
                <a:ea typeface="Courier New" pitchFamily="34" charset="-122"/>
                <a:cs typeface="Courier New" pitchFamily="34" charset="-120"/>
              </a:rPr>
              <a:t>download.py</a:t>
            </a:r>
            <a:endParaRPr lang="en-US" sz="750" dirty="0"/>
          </a:p>
        </p:txBody>
      </p:sp>
      <p:sp>
        <p:nvSpPr>
          <p:cNvPr id="11" name="Text 9"/>
          <p:cNvSpPr txBox="1"/>
          <p:nvPr/>
        </p:nvSpPr>
        <p:spPr>
          <a:xfrm>
            <a:off x="585216" y="2185416"/>
            <a:ext cx="1207008" cy="347472"/>
          </a:xfrm>
          <a:prstGeom prst="rect">
            <a:avLst/>
          </a:prstGeom>
          <a:noFill/>
          <a:ln/>
        </p:spPr>
        <p:txBody>
          <a:bodyPr wrap="square" lIns="0" tIns="0" rIns="0" bIns="0" rtlCol="0" anchor="t"/>
          <a:lstStyle/>
          <a:p>
            <a:pPr indent="0" marL="0">
              <a:buNone/>
            </a:pPr>
            <a:r>
              <a:rPr lang="en-US" sz="850" dirty="0">
                <a:solidFill>
                  <a:srgbClr val="5F6B78"/>
                </a:solidFill>
                <a:latin typeface="Calibri" pitchFamily="34" charset="0"/>
                <a:ea typeface="Calibri" pitchFamily="34" charset="-122"/>
                <a:cs typeface="Calibri" pitchFamily="34" charset="-120"/>
              </a:rPr>
              <a:t>UCI + GitHub mirror</a:t>
            </a:r>
            <a:endParaRPr lang="en-US" sz="850" dirty="0"/>
          </a:p>
        </p:txBody>
      </p:sp>
      <p:sp>
        <p:nvSpPr>
          <p:cNvPr id="12" name="Shape 10"/>
          <p:cNvSpPr/>
          <p:nvPr/>
        </p:nvSpPr>
        <p:spPr>
          <a:xfrm>
            <a:off x="530352" y="2633472"/>
            <a:ext cx="1316736" cy="621792"/>
          </a:xfrm>
          <a:prstGeom prst="roundRect">
            <a:avLst>
              <a:gd name="adj" fmla="val 7353"/>
            </a:avLst>
          </a:prstGeom>
          <a:solidFill>
            <a:srgbClr val="FFFFFF"/>
          </a:solidFill>
          <a:ln w="9525">
            <a:solidFill>
              <a:srgbClr val="D5DCE3"/>
            </a:solidFill>
            <a:prstDash val="solid"/>
          </a:ln>
        </p:spPr>
      </p:sp>
      <p:sp>
        <p:nvSpPr>
          <p:cNvPr id="13" name="Text 11"/>
          <p:cNvSpPr txBox="1"/>
          <p:nvPr/>
        </p:nvSpPr>
        <p:spPr>
          <a:xfrm>
            <a:off x="585216" y="2679192"/>
            <a:ext cx="1207008" cy="182880"/>
          </a:xfrm>
          <a:prstGeom prst="rect">
            <a:avLst/>
          </a:prstGeom>
          <a:noFill/>
          <a:ln/>
        </p:spPr>
        <p:txBody>
          <a:bodyPr wrap="square" lIns="0" tIns="0" rIns="0" bIns="0" rtlCol="0" anchor="t"/>
          <a:lstStyle/>
          <a:p>
            <a:pPr indent="0" marL="0">
              <a:buNone/>
            </a:pPr>
            <a:r>
              <a:rPr lang="en-US" sz="750" b="1" dirty="0">
                <a:solidFill>
                  <a:srgbClr val="1B2631"/>
                </a:solidFill>
                <a:latin typeface="Courier New" pitchFamily="34" charset="0"/>
                <a:ea typeface="Courier New" pitchFamily="34" charset="-122"/>
                <a:cs typeface="Courier New" pitchFamily="34" charset="-120"/>
              </a:rPr>
              <a:t>features.py</a:t>
            </a:r>
            <a:endParaRPr lang="en-US" sz="750" dirty="0"/>
          </a:p>
        </p:txBody>
      </p:sp>
      <p:sp>
        <p:nvSpPr>
          <p:cNvPr id="14" name="Text 12"/>
          <p:cNvSpPr txBox="1"/>
          <p:nvPr/>
        </p:nvSpPr>
        <p:spPr>
          <a:xfrm>
            <a:off x="585216" y="2880360"/>
            <a:ext cx="1207008" cy="347472"/>
          </a:xfrm>
          <a:prstGeom prst="rect">
            <a:avLst/>
          </a:prstGeom>
          <a:noFill/>
          <a:ln/>
        </p:spPr>
        <p:txBody>
          <a:bodyPr wrap="square" lIns="0" tIns="0" rIns="0" bIns="0" rtlCol="0" anchor="t"/>
          <a:lstStyle/>
          <a:p>
            <a:pPr indent="0" marL="0">
              <a:buNone/>
            </a:pPr>
            <a:r>
              <a:rPr lang="en-US" sz="850" dirty="0">
                <a:solidFill>
                  <a:srgbClr val="5F6B78"/>
                </a:solidFill>
                <a:latin typeface="Calibri" pitchFamily="34" charset="0"/>
                <a:ea typeface="Calibri" pitchFamily="34" charset="-122"/>
                <a:cs typeface="Calibri" pitchFamily="34" charset="-120"/>
              </a:rPr>
              <a:t>physics features, rolling stats, error counts, component age, labels</a:t>
            </a:r>
            <a:endParaRPr lang="en-US" sz="850" dirty="0"/>
          </a:p>
        </p:txBody>
      </p:sp>
      <p:sp>
        <p:nvSpPr>
          <p:cNvPr id="15" name="Shape 13"/>
          <p:cNvSpPr/>
          <p:nvPr/>
        </p:nvSpPr>
        <p:spPr>
          <a:xfrm>
            <a:off x="1938528" y="2651760"/>
            <a:ext cx="192024" cy="0"/>
          </a:xfrm>
          <a:prstGeom prst="line">
            <a:avLst/>
          </a:prstGeom>
          <a:noFill/>
          <a:ln w="25400">
            <a:solidFill>
              <a:srgbClr val="E8910C"/>
            </a:solidFill>
            <a:prstDash val="solid"/>
            <a:tailEnd type="triangle"/>
          </a:ln>
        </p:spPr>
      </p:sp>
      <p:sp>
        <p:nvSpPr>
          <p:cNvPr id="16" name="Shape 14"/>
          <p:cNvSpPr/>
          <p:nvPr/>
        </p:nvSpPr>
        <p:spPr>
          <a:xfrm>
            <a:off x="2148840" y="1280160"/>
            <a:ext cx="1463040" cy="2788920"/>
          </a:xfrm>
          <a:prstGeom prst="roundRect">
            <a:avLst>
              <a:gd name="adj" fmla="val 5000"/>
            </a:avLst>
          </a:prstGeom>
          <a:solidFill>
            <a:srgbClr val="EEF2F5"/>
          </a:solidFill>
          <a:ln w="12700">
            <a:solidFill>
              <a:srgbClr val="EEF2F5"/>
            </a:solidFill>
            <a:prstDash val="solid"/>
          </a:ln>
        </p:spPr>
      </p:sp>
      <p:sp>
        <p:nvSpPr>
          <p:cNvPr id="17" name="Shape 15"/>
          <p:cNvSpPr/>
          <p:nvPr/>
        </p:nvSpPr>
        <p:spPr>
          <a:xfrm>
            <a:off x="2148840" y="1280160"/>
            <a:ext cx="1463040" cy="548640"/>
          </a:xfrm>
          <a:prstGeom prst="roundRect">
            <a:avLst>
              <a:gd name="adj" fmla="val 13333"/>
            </a:avLst>
          </a:prstGeom>
          <a:solidFill>
            <a:srgbClr val="34495E"/>
          </a:solidFill>
          <a:ln w="12700">
            <a:solidFill>
              <a:srgbClr val="34495E"/>
            </a:solidFill>
            <a:prstDash val="solid"/>
          </a:ln>
        </p:spPr>
      </p:sp>
      <p:sp>
        <p:nvSpPr>
          <p:cNvPr id="18" name="Text 16"/>
          <p:cNvSpPr txBox="1"/>
          <p:nvPr/>
        </p:nvSpPr>
        <p:spPr>
          <a:xfrm>
            <a:off x="2240280" y="1325880"/>
            <a:ext cx="1280160" cy="274320"/>
          </a:xfrm>
          <a:prstGeom prst="rect">
            <a:avLst/>
          </a:prstGeom>
          <a:noFill/>
          <a:ln/>
        </p:spPr>
        <p:txBody>
          <a:bodyPr wrap="square" lIns="0" tIns="0" rIns="0" bIns="0" rtlCol="0" anchor="t"/>
          <a:lstStyle/>
          <a:p>
            <a:pPr algn="ctr" indent="0" marL="0">
              <a:buNone/>
            </a:pPr>
            <a:r>
              <a:rPr lang="en-US" sz="1250" b="1" dirty="0">
                <a:solidFill>
                  <a:srgbClr val="FFFFFF"/>
                </a:solidFill>
                <a:latin typeface="Calibri" pitchFamily="34" charset="0"/>
                <a:ea typeface="Calibri" pitchFamily="34" charset="-122"/>
                <a:cs typeface="Calibri" pitchFamily="34" charset="-120"/>
              </a:rPr>
              <a:t>ML layer</a:t>
            </a:r>
            <a:endParaRPr lang="en-US" sz="1250" dirty="0"/>
          </a:p>
        </p:txBody>
      </p:sp>
      <p:sp>
        <p:nvSpPr>
          <p:cNvPr id="19" name="Text 17"/>
          <p:cNvSpPr txBox="1"/>
          <p:nvPr/>
        </p:nvSpPr>
        <p:spPr>
          <a:xfrm>
            <a:off x="2240280" y="1572768"/>
            <a:ext cx="1280160" cy="201168"/>
          </a:xfrm>
          <a:prstGeom prst="rect">
            <a:avLst/>
          </a:prstGeom>
          <a:noFill/>
          <a:ln/>
        </p:spPr>
        <p:txBody>
          <a:bodyPr wrap="square" lIns="0" tIns="0" rIns="0" bIns="0" rtlCol="0" anchor="t"/>
          <a:lstStyle/>
          <a:p>
            <a:pPr algn="ctr" indent="0" marL="0">
              <a:buNone/>
            </a:pPr>
            <a:r>
              <a:rPr lang="en-US" sz="850" dirty="0">
                <a:solidFill>
                  <a:srgbClr val="FFFFFF"/>
                </a:solidFill>
                <a:latin typeface="Courier New" pitchFamily="34" charset="0"/>
                <a:ea typeface="Courier New" pitchFamily="34" charset="-122"/>
                <a:cs typeface="Courier New" pitchFamily="34" charset="-120"/>
              </a:rPr>
              <a:t>src/models</a:t>
            </a:r>
            <a:endParaRPr lang="en-US" sz="850" dirty="0"/>
          </a:p>
        </p:txBody>
      </p:sp>
      <p:sp>
        <p:nvSpPr>
          <p:cNvPr id="20" name="Shape 18"/>
          <p:cNvSpPr/>
          <p:nvPr/>
        </p:nvSpPr>
        <p:spPr>
          <a:xfrm>
            <a:off x="2221992" y="1938528"/>
            <a:ext cx="1316736" cy="621792"/>
          </a:xfrm>
          <a:prstGeom prst="roundRect">
            <a:avLst>
              <a:gd name="adj" fmla="val 7353"/>
            </a:avLst>
          </a:prstGeom>
          <a:solidFill>
            <a:srgbClr val="FFFFFF"/>
          </a:solidFill>
          <a:ln w="9525">
            <a:solidFill>
              <a:srgbClr val="D5DCE3"/>
            </a:solidFill>
            <a:prstDash val="solid"/>
          </a:ln>
        </p:spPr>
      </p:sp>
      <p:sp>
        <p:nvSpPr>
          <p:cNvPr id="21" name="Text 19"/>
          <p:cNvSpPr txBox="1"/>
          <p:nvPr/>
        </p:nvSpPr>
        <p:spPr>
          <a:xfrm>
            <a:off x="2276856" y="1984248"/>
            <a:ext cx="1207008" cy="182880"/>
          </a:xfrm>
          <a:prstGeom prst="rect">
            <a:avLst/>
          </a:prstGeom>
          <a:noFill/>
          <a:ln/>
        </p:spPr>
        <p:txBody>
          <a:bodyPr wrap="square" lIns="0" tIns="0" rIns="0" bIns="0" rtlCol="0" anchor="t"/>
          <a:lstStyle/>
          <a:p>
            <a:pPr indent="0" marL="0">
              <a:buNone/>
            </a:pPr>
            <a:r>
              <a:rPr lang="en-US" sz="750" b="1" dirty="0">
                <a:solidFill>
                  <a:srgbClr val="1B2631"/>
                </a:solidFill>
                <a:latin typeface="Courier New" pitchFamily="34" charset="0"/>
                <a:ea typeface="Courier New" pitchFamily="34" charset="-122"/>
                <a:cs typeface="Courier New" pitchFamily="34" charset="-120"/>
              </a:rPr>
              <a:t>train.py</a:t>
            </a:r>
            <a:endParaRPr lang="en-US" sz="750" dirty="0"/>
          </a:p>
        </p:txBody>
      </p:sp>
      <p:sp>
        <p:nvSpPr>
          <p:cNvPr id="22" name="Text 20"/>
          <p:cNvSpPr txBox="1"/>
          <p:nvPr/>
        </p:nvSpPr>
        <p:spPr>
          <a:xfrm>
            <a:off x="2276856" y="2185416"/>
            <a:ext cx="1207008" cy="347472"/>
          </a:xfrm>
          <a:prstGeom prst="rect">
            <a:avLst/>
          </a:prstGeom>
          <a:noFill/>
          <a:ln/>
        </p:spPr>
        <p:txBody>
          <a:bodyPr wrap="square" lIns="0" tIns="0" rIns="0" bIns="0" rtlCol="0" anchor="t"/>
          <a:lstStyle/>
          <a:p>
            <a:pPr indent="0" marL="0">
              <a:buNone/>
            </a:pPr>
            <a:r>
              <a:rPr lang="en-US" sz="850" dirty="0">
                <a:solidFill>
                  <a:srgbClr val="5F6B78"/>
                </a:solidFill>
                <a:latin typeface="Calibri" pitchFamily="34" charset="0"/>
                <a:ea typeface="Calibri" pitchFamily="34" charset="-122"/>
                <a:cs typeface="Calibri" pitchFamily="34" charset="-120"/>
              </a:rPr>
              <a:t>LightGBM, Isolation Forest</a:t>
            </a:r>
            <a:endParaRPr lang="en-US" sz="850" dirty="0"/>
          </a:p>
        </p:txBody>
      </p:sp>
      <p:sp>
        <p:nvSpPr>
          <p:cNvPr id="23" name="Shape 21"/>
          <p:cNvSpPr/>
          <p:nvPr/>
        </p:nvSpPr>
        <p:spPr>
          <a:xfrm>
            <a:off x="2221992" y="2633472"/>
            <a:ext cx="1316736" cy="621792"/>
          </a:xfrm>
          <a:prstGeom prst="roundRect">
            <a:avLst>
              <a:gd name="adj" fmla="val 7353"/>
            </a:avLst>
          </a:prstGeom>
          <a:solidFill>
            <a:srgbClr val="FFFFFF"/>
          </a:solidFill>
          <a:ln w="9525">
            <a:solidFill>
              <a:srgbClr val="D5DCE3"/>
            </a:solidFill>
            <a:prstDash val="solid"/>
          </a:ln>
        </p:spPr>
      </p:sp>
      <p:sp>
        <p:nvSpPr>
          <p:cNvPr id="24" name="Text 22"/>
          <p:cNvSpPr txBox="1"/>
          <p:nvPr/>
        </p:nvSpPr>
        <p:spPr>
          <a:xfrm>
            <a:off x="2276856" y="2679192"/>
            <a:ext cx="1207008" cy="182880"/>
          </a:xfrm>
          <a:prstGeom prst="rect">
            <a:avLst/>
          </a:prstGeom>
          <a:noFill/>
          <a:ln/>
        </p:spPr>
        <p:txBody>
          <a:bodyPr wrap="square" lIns="0" tIns="0" rIns="0" bIns="0" rtlCol="0" anchor="t"/>
          <a:lstStyle/>
          <a:p>
            <a:pPr indent="0" marL="0">
              <a:buNone/>
            </a:pPr>
            <a:r>
              <a:rPr lang="en-US" sz="750" b="1" dirty="0">
                <a:solidFill>
                  <a:srgbClr val="1B2631"/>
                </a:solidFill>
                <a:latin typeface="Courier New" pitchFamily="34" charset="0"/>
                <a:ea typeface="Courier New" pitchFamily="34" charset="-122"/>
                <a:cs typeface="Courier New" pitchFamily="34" charset="-120"/>
              </a:rPr>
              <a:t>predictor.py</a:t>
            </a:r>
            <a:endParaRPr lang="en-US" sz="750" dirty="0"/>
          </a:p>
        </p:txBody>
      </p:sp>
      <p:sp>
        <p:nvSpPr>
          <p:cNvPr id="25" name="Text 23"/>
          <p:cNvSpPr txBox="1"/>
          <p:nvPr/>
        </p:nvSpPr>
        <p:spPr>
          <a:xfrm>
            <a:off x="2276856" y="2880360"/>
            <a:ext cx="1207008" cy="347472"/>
          </a:xfrm>
          <a:prstGeom prst="rect">
            <a:avLst/>
          </a:prstGeom>
          <a:noFill/>
          <a:ln/>
        </p:spPr>
        <p:txBody>
          <a:bodyPr wrap="square" lIns="0" tIns="0" rIns="0" bIns="0" rtlCol="0" anchor="t"/>
          <a:lstStyle/>
          <a:p>
            <a:pPr indent="0" marL="0">
              <a:buNone/>
            </a:pPr>
            <a:r>
              <a:rPr lang="en-US" sz="850" dirty="0">
                <a:solidFill>
                  <a:srgbClr val="5F6B78"/>
                </a:solidFill>
                <a:latin typeface="Calibri" pitchFamily="34" charset="0"/>
                <a:ea typeface="Calibri" pitchFamily="34" charset="-122"/>
                <a:cs typeface="Calibri" pitchFamily="34" charset="-120"/>
              </a:rPr>
              <a:t>ProcessModel, FleetModel, SHAP</a:t>
            </a:r>
            <a:endParaRPr lang="en-US" sz="850" dirty="0"/>
          </a:p>
        </p:txBody>
      </p:sp>
      <p:sp>
        <p:nvSpPr>
          <p:cNvPr id="26" name="Shape 24"/>
          <p:cNvSpPr/>
          <p:nvPr/>
        </p:nvSpPr>
        <p:spPr>
          <a:xfrm>
            <a:off x="3630168" y="2651760"/>
            <a:ext cx="192024" cy="0"/>
          </a:xfrm>
          <a:prstGeom prst="line">
            <a:avLst/>
          </a:prstGeom>
          <a:noFill/>
          <a:ln w="25400">
            <a:solidFill>
              <a:srgbClr val="E8910C"/>
            </a:solidFill>
            <a:prstDash val="solid"/>
            <a:tailEnd type="triangle"/>
          </a:ln>
        </p:spPr>
      </p:sp>
      <p:sp>
        <p:nvSpPr>
          <p:cNvPr id="27" name="Shape 25"/>
          <p:cNvSpPr/>
          <p:nvPr/>
        </p:nvSpPr>
        <p:spPr>
          <a:xfrm>
            <a:off x="3840480" y="1280160"/>
            <a:ext cx="1463040" cy="2788920"/>
          </a:xfrm>
          <a:prstGeom prst="roundRect">
            <a:avLst>
              <a:gd name="adj" fmla="val 5000"/>
            </a:avLst>
          </a:prstGeom>
          <a:solidFill>
            <a:srgbClr val="EEF2F5"/>
          </a:solidFill>
          <a:ln w="12700">
            <a:solidFill>
              <a:srgbClr val="EEF2F5"/>
            </a:solidFill>
            <a:prstDash val="solid"/>
          </a:ln>
        </p:spPr>
      </p:sp>
      <p:sp>
        <p:nvSpPr>
          <p:cNvPr id="28" name="Shape 26"/>
          <p:cNvSpPr/>
          <p:nvPr/>
        </p:nvSpPr>
        <p:spPr>
          <a:xfrm>
            <a:off x="3840480" y="1280160"/>
            <a:ext cx="1463040" cy="548640"/>
          </a:xfrm>
          <a:prstGeom prst="roundRect">
            <a:avLst>
              <a:gd name="adj" fmla="val 13333"/>
            </a:avLst>
          </a:prstGeom>
          <a:solidFill>
            <a:srgbClr val="34495E"/>
          </a:solidFill>
          <a:ln w="12700">
            <a:solidFill>
              <a:srgbClr val="34495E"/>
            </a:solidFill>
            <a:prstDash val="solid"/>
          </a:ln>
        </p:spPr>
      </p:sp>
      <p:sp>
        <p:nvSpPr>
          <p:cNvPr id="29" name="Text 27"/>
          <p:cNvSpPr txBox="1"/>
          <p:nvPr/>
        </p:nvSpPr>
        <p:spPr>
          <a:xfrm>
            <a:off x="3931920" y="1325880"/>
            <a:ext cx="1280160" cy="274320"/>
          </a:xfrm>
          <a:prstGeom prst="rect">
            <a:avLst/>
          </a:prstGeom>
          <a:noFill/>
          <a:ln/>
        </p:spPr>
        <p:txBody>
          <a:bodyPr wrap="square" lIns="0" tIns="0" rIns="0" bIns="0" rtlCol="0" anchor="t"/>
          <a:lstStyle/>
          <a:p>
            <a:pPr algn="ctr" indent="0" marL="0">
              <a:buNone/>
            </a:pPr>
            <a:r>
              <a:rPr lang="en-US" sz="1250" b="1" dirty="0">
                <a:solidFill>
                  <a:srgbClr val="FFFFFF"/>
                </a:solidFill>
                <a:latin typeface="Calibri" pitchFamily="34" charset="0"/>
                <a:ea typeface="Calibri" pitchFamily="34" charset="-122"/>
                <a:cs typeface="Calibri" pitchFamily="34" charset="-120"/>
              </a:rPr>
              <a:t>Optimisation</a:t>
            </a:r>
            <a:endParaRPr lang="en-US" sz="1250" dirty="0"/>
          </a:p>
        </p:txBody>
      </p:sp>
      <p:sp>
        <p:nvSpPr>
          <p:cNvPr id="30" name="Text 28"/>
          <p:cNvSpPr txBox="1"/>
          <p:nvPr/>
        </p:nvSpPr>
        <p:spPr>
          <a:xfrm>
            <a:off x="3931920" y="1572768"/>
            <a:ext cx="1280160" cy="201168"/>
          </a:xfrm>
          <a:prstGeom prst="rect">
            <a:avLst/>
          </a:prstGeom>
          <a:noFill/>
          <a:ln/>
        </p:spPr>
        <p:txBody>
          <a:bodyPr wrap="square" lIns="0" tIns="0" rIns="0" bIns="0" rtlCol="0" anchor="t"/>
          <a:lstStyle/>
          <a:p>
            <a:pPr algn="ctr" indent="0" marL="0">
              <a:buNone/>
            </a:pPr>
            <a:r>
              <a:rPr lang="en-US" sz="850" dirty="0">
                <a:solidFill>
                  <a:srgbClr val="FFFFFF"/>
                </a:solidFill>
                <a:latin typeface="Courier New" pitchFamily="34" charset="0"/>
                <a:ea typeface="Courier New" pitchFamily="34" charset="-122"/>
                <a:cs typeface="Courier New" pitchFamily="34" charset="-120"/>
              </a:rPr>
              <a:t>src/optimization</a:t>
            </a:r>
            <a:endParaRPr lang="en-US" sz="850" dirty="0"/>
          </a:p>
        </p:txBody>
      </p:sp>
      <p:sp>
        <p:nvSpPr>
          <p:cNvPr id="31" name="Shape 29"/>
          <p:cNvSpPr/>
          <p:nvPr/>
        </p:nvSpPr>
        <p:spPr>
          <a:xfrm>
            <a:off x="3913632" y="1938528"/>
            <a:ext cx="1316736" cy="621792"/>
          </a:xfrm>
          <a:prstGeom prst="roundRect">
            <a:avLst>
              <a:gd name="adj" fmla="val 7353"/>
            </a:avLst>
          </a:prstGeom>
          <a:solidFill>
            <a:srgbClr val="FFFFFF"/>
          </a:solidFill>
          <a:ln w="9525">
            <a:solidFill>
              <a:srgbClr val="D5DCE3"/>
            </a:solidFill>
            <a:prstDash val="solid"/>
          </a:ln>
        </p:spPr>
      </p:sp>
      <p:sp>
        <p:nvSpPr>
          <p:cNvPr id="32" name="Text 30"/>
          <p:cNvSpPr txBox="1"/>
          <p:nvPr/>
        </p:nvSpPr>
        <p:spPr>
          <a:xfrm>
            <a:off x="3968496" y="1984248"/>
            <a:ext cx="1207008" cy="182880"/>
          </a:xfrm>
          <a:prstGeom prst="rect">
            <a:avLst/>
          </a:prstGeom>
          <a:noFill/>
          <a:ln/>
        </p:spPr>
        <p:txBody>
          <a:bodyPr wrap="square" lIns="0" tIns="0" rIns="0" bIns="0" rtlCol="0" anchor="t"/>
          <a:lstStyle/>
          <a:p>
            <a:pPr indent="0" marL="0">
              <a:buNone/>
            </a:pPr>
            <a:r>
              <a:rPr lang="en-US" sz="750" b="1" dirty="0">
                <a:solidFill>
                  <a:srgbClr val="1B2631"/>
                </a:solidFill>
                <a:latin typeface="Courier New" pitchFamily="34" charset="0"/>
                <a:ea typeface="Courier New" pitchFamily="34" charset="-122"/>
                <a:cs typeface="Courier New" pitchFamily="34" charset="-120"/>
              </a:rPr>
              <a:t>process_optimizer.py</a:t>
            </a:r>
            <a:endParaRPr lang="en-US" sz="750" dirty="0"/>
          </a:p>
        </p:txBody>
      </p:sp>
      <p:sp>
        <p:nvSpPr>
          <p:cNvPr id="33" name="Text 31"/>
          <p:cNvSpPr txBox="1"/>
          <p:nvPr/>
        </p:nvSpPr>
        <p:spPr>
          <a:xfrm>
            <a:off x="3968496" y="2185416"/>
            <a:ext cx="1207008" cy="347472"/>
          </a:xfrm>
          <a:prstGeom prst="rect">
            <a:avLst/>
          </a:prstGeom>
          <a:noFill/>
          <a:ln/>
        </p:spPr>
        <p:txBody>
          <a:bodyPr wrap="square" lIns="0" tIns="0" rIns="0" bIns="0" rtlCol="0" anchor="t"/>
          <a:lstStyle/>
          <a:p>
            <a:pPr indent="0" marL="0">
              <a:buNone/>
            </a:pPr>
            <a:r>
              <a:rPr lang="en-US" sz="850" dirty="0">
                <a:solidFill>
                  <a:srgbClr val="5F6B78"/>
                </a:solidFill>
                <a:latin typeface="Calibri" pitchFamily="34" charset="0"/>
                <a:ea typeface="Calibri" pitchFamily="34" charset="-122"/>
                <a:cs typeface="Calibri" pitchFamily="34" charset="-120"/>
              </a:rPr>
              <a:t>what-if + setpoint search</a:t>
            </a:r>
            <a:endParaRPr lang="en-US" sz="850" dirty="0"/>
          </a:p>
        </p:txBody>
      </p:sp>
      <p:sp>
        <p:nvSpPr>
          <p:cNvPr id="34" name="Shape 32"/>
          <p:cNvSpPr/>
          <p:nvPr/>
        </p:nvSpPr>
        <p:spPr>
          <a:xfrm>
            <a:off x="3913632" y="2633472"/>
            <a:ext cx="1316736" cy="621792"/>
          </a:xfrm>
          <a:prstGeom prst="roundRect">
            <a:avLst>
              <a:gd name="adj" fmla="val 7353"/>
            </a:avLst>
          </a:prstGeom>
          <a:solidFill>
            <a:srgbClr val="FFFFFF"/>
          </a:solidFill>
          <a:ln w="9525">
            <a:solidFill>
              <a:srgbClr val="D5DCE3"/>
            </a:solidFill>
            <a:prstDash val="solid"/>
          </a:ln>
        </p:spPr>
      </p:sp>
      <p:sp>
        <p:nvSpPr>
          <p:cNvPr id="35" name="Text 33"/>
          <p:cNvSpPr txBox="1"/>
          <p:nvPr/>
        </p:nvSpPr>
        <p:spPr>
          <a:xfrm>
            <a:off x="3968496" y="2679192"/>
            <a:ext cx="1207008" cy="182880"/>
          </a:xfrm>
          <a:prstGeom prst="rect">
            <a:avLst/>
          </a:prstGeom>
          <a:noFill/>
          <a:ln/>
        </p:spPr>
        <p:txBody>
          <a:bodyPr wrap="square" lIns="0" tIns="0" rIns="0" bIns="0" rtlCol="0" anchor="t"/>
          <a:lstStyle/>
          <a:p>
            <a:pPr indent="0" marL="0">
              <a:buNone/>
            </a:pPr>
            <a:r>
              <a:rPr lang="en-US" sz="750" b="1" dirty="0">
                <a:solidFill>
                  <a:srgbClr val="1B2631"/>
                </a:solidFill>
                <a:latin typeface="Courier New" pitchFamily="34" charset="0"/>
                <a:ea typeface="Courier New" pitchFamily="34" charset="-122"/>
                <a:cs typeface="Courier New" pitchFamily="34" charset="-120"/>
              </a:rPr>
              <a:t>scheduler.py</a:t>
            </a:r>
            <a:endParaRPr lang="en-US" sz="750" dirty="0"/>
          </a:p>
        </p:txBody>
      </p:sp>
      <p:sp>
        <p:nvSpPr>
          <p:cNvPr id="36" name="Text 34"/>
          <p:cNvSpPr txBox="1"/>
          <p:nvPr/>
        </p:nvSpPr>
        <p:spPr>
          <a:xfrm>
            <a:off x="3968496" y="2880360"/>
            <a:ext cx="1207008" cy="347472"/>
          </a:xfrm>
          <a:prstGeom prst="rect">
            <a:avLst/>
          </a:prstGeom>
          <a:noFill/>
          <a:ln/>
        </p:spPr>
        <p:txBody>
          <a:bodyPr wrap="square" lIns="0" tIns="0" rIns="0" bIns="0" rtlCol="0" anchor="t"/>
          <a:lstStyle/>
          <a:p>
            <a:pPr indent="0" marL="0">
              <a:buNone/>
            </a:pPr>
            <a:r>
              <a:rPr lang="en-US" sz="850" dirty="0">
                <a:solidFill>
                  <a:srgbClr val="5F6B78"/>
                </a:solidFill>
                <a:latin typeface="Calibri" pitchFamily="34" charset="0"/>
                <a:ea typeface="Calibri" pitchFamily="34" charset="-122"/>
                <a:cs typeface="Calibri" pitchFamily="34" charset="-120"/>
              </a:rPr>
              <a:t>CP-SAT maintenance plan</a:t>
            </a:r>
            <a:endParaRPr lang="en-US" sz="850" dirty="0"/>
          </a:p>
        </p:txBody>
      </p:sp>
      <p:sp>
        <p:nvSpPr>
          <p:cNvPr id="37" name="Shape 35"/>
          <p:cNvSpPr/>
          <p:nvPr/>
        </p:nvSpPr>
        <p:spPr>
          <a:xfrm>
            <a:off x="3913632" y="3328416"/>
            <a:ext cx="1316736" cy="621792"/>
          </a:xfrm>
          <a:prstGeom prst="roundRect">
            <a:avLst>
              <a:gd name="adj" fmla="val 7353"/>
            </a:avLst>
          </a:prstGeom>
          <a:solidFill>
            <a:srgbClr val="FFFFFF"/>
          </a:solidFill>
          <a:ln w="9525">
            <a:solidFill>
              <a:srgbClr val="D5DCE3"/>
            </a:solidFill>
            <a:prstDash val="solid"/>
          </a:ln>
        </p:spPr>
      </p:sp>
      <p:sp>
        <p:nvSpPr>
          <p:cNvPr id="38" name="Text 36"/>
          <p:cNvSpPr txBox="1"/>
          <p:nvPr/>
        </p:nvSpPr>
        <p:spPr>
          <a:xfrm>
            <a:off x="3968496" y="3374136"/>
            <a:ext cx="1207008" cy="182880"/>
          </a:xfrm>
          <a:prstGeom prst="rect">
            <a:avLst/>
          </a:prstGeom>
          <a:noFill/>
          <a:ln/>
        </p:spPr>
        <p:txBody>
          <a:bodyPr wrap="square" lIns="0" tIns="0" rIns="0" bIns="0" rtlCol="0" anchor="t"/>
          <a:lstStyle/>
          <a:p>
            <a:pPr indent="0" marL="0">
              <a:buNone/>
            </a:pPr>
            <a:r>
              <a:rPr lang="en-US" sz="750" b="1" dirty="0">
                <a:solidFill>
                  <a:srgbClr val="1B2631"/>
                </a:solidFill>
                <a:latin typeface="Courier New" pitchFamily="34" charset="0"/>
                <a:ea typeface="Courier New" pitchFamily="34" charset="-122"/>
                <a:cs typeface="Courier New" pitchFamily="34" charset="-120"/>
              </a:rPr>
              <a:t>kpis.py</a:t>
            </a:r>
            <a:endParaRPr lang="en-US" sz="750" dirty="0"/>
          </a:p>
        </p:txBody>
      </p:sp>
      <p:sp>
        <p:nvSpPr>
          <p:cNvPr id="39" name="Text 37"/>
          <p:cNvSpPr txBox="1"/>
          <p:nvPr/>
        </p:nvSpPr>
        <p:spPr>
          <a:xfrm>
            <a:off x="3968496" y="3575304"/>
            <a:ext cx="1207008" cy="347472"/>
          </a:xfrm>
          <a:prstGeom prst="rect">
            <a:avLst/>
          </a:prstGeom>
          <a:noFill/>
          <a:ln/>
        </p:spPr>
        <p:txBody>
          <a:bodyPr wrap="square" lIns="0" tIns="0" rIns="0" bIns="0" rtlCol="0" anchor="t"/>
          <a:lstStyle/>
          <a:p>
            <a:pPr indent="0" marL="0">
              <a:buNone/>
            </a:pPr>
            <a:r>
              <a:rPr lang="en-US" sz="850" dirty="0">
                <a:solidFill>
                  <a:srgbClr val="5F6B78"/>
                </a:solidFill>
                <a:latin typeface="Calibri" pitchFamily="34" charset="0"/>
                <a:ea typeface="Calibri" pitchFamily="34" charset="-122"/>
                <a:cs typeface="Calibri" pitchFamily="34" charset="-120"/>
              </a:rPr>
              <a:t>OEE + business case</a:t>
            </a:r>
            <a:endParaRPr lang="en-US" sz="850" dirty="0"/>
          </a:p>
        </p:txBody>
      </p:sp>
      <p:sp>
        <p:nvSpPr>
          <p:cNvPr id="40" name="Shape 38"/>
          <p:cNvSpPr/>
          <p:nvPr/>
        </p:nvSpPr>
        <p:spPr>
          <a:xfrm>
            <a:off x="5321808" y="2651760"/>
            <a:ext cx="192024" cy="0"/>
          </a:xfrm>
          <a:prstGeom prst="line">
            <a:avLst/>
          </a:prstGeom>
          <a:noFill/>
          <a:ln w="25400">
            <a:solidFill>
              <a:srgbClr val="E8910C"/>
            </a:solidFill>
            <a:prstDash val="solid"/>
            <a:tailEnd type="triangle"/>
          </a:ln>
        </p:spPr>
      </p:sp>
      <p:sp>
        <p:nvSpPr>
          <p:cNvPr id="41" name="Shape 39"/>
          <p:cNvSpPr/>
          <p:nvPr/>
        </p:nvSpPr>
        <p:spPr>
          <a:xfrm>
            <a:off x="5532120" y="1280160"/>
            <a:ext cx="1463040" cy="2788920"/>
          </a:xfrm>
          <a:prstGeom prst="roundRect">
            <a:avLst>
              <a:gd name="adj" fmla="val 5000"/>
            </a:avLst>
          </a:prstGeom>
          <a:solidFill>
            <a:srgbClr val="EEF2F5"/>
          </a:solidFill>
          <a:ln w="12700">
            <a:solidFill>
              <a:srgbClr val="EEF2F5"/>
            </a:solidFill>
            <a:prstDash val="solid"/>
          </a:ln>
        </p:spPr>
      </p:sp>
      <p:sp>
        <p:nvSpPr>
          <p:cNvPr id="42" name="Shape 40"/>
          <p:cNvSpPr/>
          <p:nvPr/>
        </p:nvSpPr>
        <p:spPr>
          <a:xfrm>
            <a:off x="5532120" y="1280160"/>
            <a:ext cx="1463040" cy="548640"/>
          </a:xfrm>
          <a:prstGeom prst="roundRect">
            <a:avLst>
              <a:gd name="adj" fmla="val 13333"/>
            </a:avLst>
          </a:prstGeom>
          <a:solidFill>
            <a:srgbClr val="E8910C"/>
          </a:solidFill>
          <a:ln w="12700">
            <a:solidFill>
              <a:srgbClr val="E8910C"/>
            </a:solidFill>
            <a:prstDash val="solid"/>
          </a:ln>
        </p:spPr>
      </p:sp>
      <p:sp>
        <p:nvSpPr>
          <p:cNvPr id="43" name="Text 41"/>
          <p:cNvSpPr txBox="1"/>
          <p:nvPr/>
        </p:nvSpPr>
        <p:spPr>
          <a:xfrm>
            <a:off x="5623560" y="1325880"/>
            <a:ext cx="1280160" cy="274320"/>
          </a:xfrm>
          <a:prstGeom prst="rect">
            <a:avLst/>
          </a:prstGeom>
          <a:noFill/>
          <a:ln/>
        </p:spPr>
        <p:txBody>
          <a:bodyPr wrap="square" lIns="0" tIns="0" rIns="0" bIns="0" rtlCol="0" anchor="t"/>
          <a:lstStyle/>
          <a:p>
            <a:pPr algn="ctr" indent="0" marL="0">
              <a:buNone/>
            </a:pPr>
            <a:r>
              <a:rPr lang="en-US" sz="1250" b="1" dirty="0">
                <a:solidFill>
                  <a:srgbClr val="FFFFFF"/>
                </a:solidFill>
                <a:latin typeface="Calibri" pitchFamily="34" charset="0"/>
                <a:ea typeface="Calibri" pitchFamily="34" charset="-122"/>
                <a:cs typeface="Calibri" pitchFamily="34" charset="-120"/>
              </a:rPr>
              <a:t>Agent layer</a:t>
            </a:r>
            <a:endParaRPr lang="en-US" sz="1250" dirty="0"/>
          </a:p>
        </p:txBody>
      </p:sp>
      <p:sp>
        <p:nvSpPr>
          <p:cNvPr id="44" name="Text 42"/>
          <p:cNvSpPr txBox="1"/>
          <p:nvPr/>
        </p:nvSpPr>
        <p:spPr>
          <a:xfrm>
            <a:off x="5623560" y="1572768"/>
            <a:ext cx="1280160" cy="201168"/>
          </a:xfrm>
          <a:prstGeom prst="rect">
            <a:avLst/>
          </a:prstGeom>
          <a:noFill/>
          <a:ln/>
        </p:spPr>
        <p:txBody>
          <a:bodyPr wrap="square" lIns="0" tIns="0" rIns="0" bIns="0" rtlCol="0" anchor="t"/>
          <a:lstStyle/>
          <a:p>
            <a:pPr algn="ctr" indent="0" marL="0">
              <a:buNone/>
            </a:pPr>
            <a:r>
              <a:rPr lang="en-US" sz="850" dirty="0">
                <a:solidFill>
                  <a:srgbClr val="FFFFFF"/>
                </a:solidFill>
                <a:latin typeface="Courier New" pitchFamily="34" charset="0"/>
                <a:ea typeface="Courier New" pitchFamily="34" charset="-122"/>
                <a:cs typeface="Courier New" pitchFamily="34" charset="-120"/>
              </a:rPr>
              <a:t>src/agents</a:t>
            </a:r>
            <a:endParaRPr lang="en-US" sz="850" dirty="0"/>
          </a:p>
        </p:txBody>
      </p:sp>
      <p:sp>
        <p:nvSpPr>
          <p:cNvPr id="45" name="Shape 43"/>
          <p:cNvSpPr/>
          <p:nvPr/>
        </p:nvSpPr>
        <p:spPr>
          <a:xfrm>
            <a:off x="5605272" y="1938528"/>
            <a:ext cx="1316736" cy="621792"/>
          </a:xfrm>
          <a:prstGeom prst="roundRect">
            <a:avLst>
              <a:gd name="adj" fmla="val 7353"/>
            </a:avLst>
          </a:prstGeom>
          <a:solidFill>
            <a:srgbClr val="FFFFFF"/>
          </a:solidFill>
          <a:ln w="9525">
            <a:solidFill>
              <a:srgbClr val="D5DCE3"/>
            </a:solidFill>
            <a:prstDash val="solid"/>
          </a:ln>
        </p:spPr>
      </p:sp>
      <p:sp>
        <p:nvSpPr>
          <p:cNvPr id="46" name="Text 44"/>
          <p:cNvSpPr txBox="1"/>
          <p:nvPr/>
        </p:nvSpPr>
        <p:spPr>
          <a:xfrm>
            <a:off x="5660136" y="1984248"/>
            <a:ext cx="1207008" cy="182880"/>
          </a:xfrm>
          <a:prstGeom prst="rect">
            <a:avLst/>
          </a:prstGeom>
          <a:noFill/>
          <a:ln/>
        </p:spPr>
        <p:txBody>
          <a:bodyPr wrap="square" lIns="0" tIns="0" rIns="0" bIns="0" rtlCol="0" anchor="t"/>
          <a:lstStyle/>
          <a:p>
            <a:pPr indent="0" marL="0">
              <a:buNone/>
            </a:pPr>
            <a:r>
              <a:rPr lang="en-US" sz="750" b="1" dirty="0">
                <a:solidFill>
                  <a:srgbClr val="1B2631"/>
                </a:solidFill>
                <a:latin typeface="Courier New" pitchFamily="34" charset="0"/>
                <a:ea typeface="Courier New" pitchFamily="34" charset="-122"/>
                <a:cs typeface="Courier New" pitchFamily="34" charset="-120"/>
              </a:rPr>
              <a:t>tools.py</a:t>
            </a:r>
            <a:endParaRPr lang="en-US" sz="750" dirty="0"/>
          </a:p>
        </p:txBody>
      </p:sp>
      <p:sp>
        <p:nvSpPr>
          <p:cNvPr id="47" name="Text 45"/>
          <p:cNvSpPr txBox="1"/>
          <p:nvPr/>
        </p:nvSpPr>
        <p:spPr>
          <a:xfrm>
            <a:off x="5660136" y="2185416"/>
            <a:ext cx="1207008" cy="347472"/>
          </a:xfrm>
          <a:prstGeom prst="rect">
            <a:avLst/>
          </a:prstGeom>
          <a:noFill/>
          <a:ln/>
        </p:spPr>
        <p:txBody>
          <a:bodyPr wrap="square" lIns="0" tIns="0" rIns="0" bIns="0" rtlCol="0" anchor="t"/>
          <a:lstStyle/>
          <a:p>
            <a:pPr indent="0" marL="0">
              <a:buNone/>
            </a:pPr>
            <a:r>
              <a:rPr lang="en-US" sz="850" dirty="0">
                <a:solidFill>
                  <a:srgbClr val="5F6B78"/>
                </a:solidFill>
                <a:latin typeface="Calibri" pitchFamily="34" charset="0"/>
                <a:ea typeface="Calibri" pitchFamily="34" charset="-122"/>
                <a:cs typeface="Calibri" pitchFamily="34" charset="-120"/>
              </a:rPr>
              <a:t>7 strict tools</a:t>
            </a:r>
            <a:endParaRPr lang="en-US" sz="850" dirty="0"/>
          </a:p>
        </p:txBody>
      </p:sp>
      <p:sp>
        <p:nvSpPr>
          <p:cNvPr id="48" name="Shape 46"/>
          <p:cNvSpPr/>
          <p:nvPr/>
        </p:nvSpPr>
        <p:spPr>
          <a:xfrm>
            <a:off x="5605272" y="2633472"/>
            <a:ext cx="1316736" cy="621792"/>
          </a:xfrm>
          <a:prstGeom prst="roundRect">
            <a:avLst>
              <a:gd name="adj" fmla="val 7353"/>
            </a:avLst>
          </a:prstGeom>
          <a:solidFill>
            <a:srgbClr val="FFFFFF"/>
          </a:solidFill>
          <a:ln w="9525">
            <a:solidFill>
              <a:srgbClr val="D5DCE3"/>
            </a:solidFill>
            <a:prstDash val="solid"/>
          </a:ln>
        </p:spPr>
      </p:sp>
      <p:sp>
        <p:nvSpPr>
          <p:cNvPr id="49" name="Text 47"/>
          <p:cNvSpPr txBox="1"/>
          <p:nvPr/>
        </p:nvSpPr>
        <p:spPr>
          <a:xfrm>
            <a:off x="5660136" y="2679192"/>
            <a:ext cx="1207008" cy="182880"/>
          </a:xfrm>
          <a:prstGeom prst="rect">
            <a:avLst/>
          </a:prstGeom>
          <a:noFill/>
          <a:ln/>
        </p:spPr>
        <p:txBody>
          <a:bodyPr wrap="square" lIns="0" tIns="0" rIns="0" bIns="0" rtlCol="0" anchor="t"/>
          <a:lstStyle/>
          <a:p>
            <a:pPr indent="0" marL="0">
              <a:buNone/>
            </a:pPr>
            <a:r>
              <a:rPr lang="en-US" sz="750" b="1" dirty="0">
                <a:solidFill>
                  <a:srgbClr val="1B2631"/>
                </a:solidFill>
                <a:latin typeface="Courier New" pitchFamily="34" charset="0"/>
                <a:ea typeface="Courier New" pitchFamily="34" charset="-122"/>
                <a:cs typeface="Courier New" pitchFamily="34" charset="-120"/>
              </a:rPr>
              <a:t>orchestrator.py</a:t>
            </a:r>
            <a:endParaRPr lang="en-US" sz="750" dirty="0"/>
          </a:p>
        </p:txBody>
      </p:sp>
      <p:sp>
        <p:nvSpPr>
          <p:cNvPr id="50" name="Text 48"/>
          <p:cNvSpPr txBox="1"/>
          <p:nvPr/>
        </p:nvSpPr>
        <p:spPr>
          <a:xfrm>
            <a:off x="5660136" y="2880360"/>
            <a:ext cx="1207008" cy="347472"/>
          </a:xfrm>
          <a:prstGeom prst="rect">
            <a:avLst/>
          </a:prstGeom>
          <a:noFill/>
          <a:ln/>
        </p:spPr>
        <p:txBody>
          <a:bodyPr wrap="square" lIns="0" tIns="0" rIns="0" bIns="0" rtlCol="0" anchor="t"/>
          <a:lstStyle/>
          <a:p>
            <a:pPr indent="0" marL="0">
              <a:buNone/>
            </a:pPr>
            <a:r>
              <a:rPr lang="en-US" sz="850" dirty="0">
                <a:solidFill>
                  <a:srgbClr val="5F6B78"/>
                </a:solidFill>
                <a:latin typeface="Calibri" pitchFamily="34" charset="0"/>
                <a:ea typeface="Calibri" pitchFamily="34" charset="-122"/>
                <a:cs typeface="Calibri" pitchFamily="34" charset="-120"/>
              </a:rPr>
              <a:t>agent modes, rule-based fallback</a:t>
            </a:r>
            <a:endParaRPr lang="en-US" sz="850" dirty="0"/>
          </a:p>
        </p:txBody>
      </p:sp>
      <p:sp>
        <p:nvSpPr>
          <p:cNvPr id="51" name="Shape 49"/>
          <p:cNvSpPr/>
          <p:nvPr/>
        </p:nvSpPr>
        <p:spPr>
          <a:xfrm>
            <a:off x="5605272" y="3328416"/>
            <a:ext cx="1316736" cy="621792"/>
          </a:xfrm>
          <a:prstGeom prst="roundRect">
            <a:avLst>
              <a:gd name="adj" fmla="val 7353"/>
            </a:avLst>
          </a:prstGeom>
          <a:solidFill>
            <a:srgbClr val="FFFFFF"/>
          </a:solidFill>
          <a:ln w="9525">
            <a:solidFill>
              <a:srgbClr val="D5DCE3"/>
            </a:solidFill>
            <a:prstDash val="solid"/>
          </a:ln>
        </p:spPr>
      </p:sp>
      <p:sp>
        <p:nvSpPr>
          <p:cNvPr id="52" name="Text 50"/>
          <p:cNvSpPr txBox="1"/>
          <p:nvPr/>
        </p:nvSpPr>
        <p:spPr>
          <a:xfrm>
            <a:off x="5660136" y="3374136"/>
            <a:ext cx="1207008" cy="182880"/>
          </a:xfrm>
          <a:prstGeom prst="rect">
            <a:avLst/>
          </a:prstGeom>
          <a:noFill/>
          <a:ln/>
        </p:spPr>
        <p:txBody>
          <a:bodyPr wrap="square" lIns="0" tIns="0" rIns="0" bIns="0" rtlCol="0" anchor="t"/>
          <a:lstStyle/>
          <a:p>
            <a:pPr indent="0" marL="0">
              <a:buNone/>
            </a:pPr>
            <a:r>
              <a:rPr lang="en-US" sz="750" b="1" dirty="0">
                <a:solidFill>
                  <a:srgbClr val="1B2631"/>
                </a:solidFill>
                <a:latin typeface="Courier New" pitchFamily="34" charset="0"/>
                <a:ea typeface="Courier New" pitchFamily="34" charset="-122"/>
                <a:cs typeface="Courier New" pitchFamily="34" charset="-120"/>
              </a:rPr>
              <a:t>runners</a:t>
            </a:r>
            <a:endParaRPr lang="en-US" sz="750" dirty="0"/>
          </a:p>
        </p:txBody>
      </p:sp>
      <p:sp>
        <p:nvSpPr>
          <p:cNvPr id="53" name="Text 51"/>
          <p:cNvSpPr txBox="1"/>
          <p:nvPr/>
        </p:nvSpPr>
        <p:spPr>
          <a:xfrm>
            <a:off x="5660136" y="3575304"/>
            <a:ext cx="1207008" cy="347472"/>
          </a:xfrm>
          <a:prstGeom prst="rect">
            <a:avLst/>
          </a:prstGeom>
          <a:noFill/>
          <a:ln/>
        </p:spPr>
        <p:txBody>
          <a:bodyPr wrap="square" lIns="0" tIns="0" rIns="0" bIns="0" rtlCol="0" anchor="t"/>
          <a:lstStyle/>
          <a:p>
            <a:pPr indent="0" marL="0">
              <a:buNone/>
            </a:pPr>
            <a:r>
              <a:rPr lang="en-US" sz="850" dirty="0">
                <a:solidFill>
                  <a:srgbClr val="5F6B78"/>
                </a:solidFill>
                <a:latin typeface="Calibri" pitchFamily="34" charset="0"/>
                <a:ea typeface="Calibri" pitchFamily="34" charset="-122"/>
                <a:cs typeface="Calibri" pitchFamily="34" charset="-120"/>
              </a:rPr>
              <a:t>Claude · ollama_runner.py</a:t>
            </a:r>
            <a:endParaRPr lang="en-US" sz="850" dirty="0"/>
          </a:p>
        </p:txBody>
      </p:sp>
      <p:sp>
        <p:nvSpPr>
          <p:cNvPr id="54" name="Shape 52"/>
          <p:cNvSpPr/>
          <p:nvPr/>
        </p:nvSpPr>
        <p:spPr>
          <a:xfrm>
            <a:off x="7013448" y="2651760"/>
            <a:ext cx="192024" cy="0"/>
          </a:xfrm>
          <a:prstGeom prst="line">
            <a:avLst/>
          </a:prstGeom>
          <a:noFill/>
          <a:ln w="25400">
            <a:solidFill>
              <a:srgbClr val="E8910C"/>
            </a:solidFill>
            <a:prstDash val="solid"/>
            <a:tailEnd type="triangle"/>
          </a:ln>
        </p:spPr>
      </p:sp>
      <p:sp>
        <p:nvSpPr>
          <p:cNvPr id="55" name="Shape 53"/>
          <p:cNvSpPr/>
          <p:nvPr/>
        </p:nvSpPr>
        <p:spPr>
          <a:xfrm>
            <a:off x="7223760" y="1280160"/>
            <a:ext cx="1463040" cy="2788920"/>
          </a:xfrm>
          <a:prstGeom prst="roundRect">
            <a:avLst>
              <a:gd name="adj" fmla="val 5000"/>
            </a:avLst>
          </a:prstGeom>
          <a:solidFill>
            <a:srgbClr val="EEF2F5"/>
          </a:solidFill>
          <a:ln w="12700">
            <a:solidFill>
              <a:srgbClr val="EEF2F5"/>
            </a:solidFill>
            <a:prstDash val="solid"/>
          </a:ln>
        </p:spPr>
      </p:sp>
      <p:sp>
        <p:nvSpPr>
          <p:cNvPr id="56" name="Shape 54"/>
          <p:cNvSpPr/>
          <p:nvPr/>
        </p:nvSpPr>
        <p:spPr>
          <a:xfrm>
            <a:off x="7223760" y="1280160"/>
            <a:ext cx="1463040" cy="548640"/>
          </a:xfrm>
          <a:prstGeom prst="roundRect">
            <a:avLst>
              <a:gd name="adj" fmla="val 13333"/>
            </a:avLst>
          </a:prstGeom>
          <a:solidFill>
            <a:srgbClr val="138D75"/>
          </a:solidFill>
          <a:ln w="12700">
            <a:solidFill>
              <a:srgbClr val="138D75"/>
            </a:solidFill>
            <a:prstDash val="solid"/>
          </a:ln>
        </p:spPr>
      </p:sp>
      <p:sp>
        <p:nvSpPr>
          <p:cNvPr id="57" name="Text 55"/>
          <p:cNvSpPr txBox="1"/>
          <p:nvPr/>
        </p:nvSpPr>
        <p:spPr>
          <a:xfrm>
            <a:off x="7315200" y="1325880"/>
            <a:ext cx="1280160" cy="274320"/>
          </a:xfrm>
          <a:prstGeom prst="rect">
            <a:avLst/>
          </a:prstGeom>
          <a:noFill/>
          <a:ln/>
        </p:spPr>
        <p:txBody>
          <a:bodyPr wrap="square" lIns="0" tIns="0" rIns="0" bIns="0" rtlCol="0" anchor="t"/>
          <a:lstStyle/>
          <a:p>
            <a:pPr algn="ctr" indent="0" marL="0">
              <a:buNone/>
            </a:pPr>
            <a:r>
              <a:rPr lang="en-US" sz="1250" b="1" dirty="0">
                <a:solidFill>
                  <a:srgbClr val="FFFFFF"/>
                </a:solidFill>
                <a:latin typeface="Calibri" pitchFamily="34" charset="0"/>
                <a:ea typeface="Calibri" pitchFamily="34" charset="-122"/>
                <a:cs typeface="Calibri" pitchFamily="34" charset="-120"/>
              </a:rPr>
              <a:t>Presentation</a:t>
            </a:r>
            <a:endParaRPr lang="en-US" sz="1250" dirty="0"/>
          </a:p>
        </p:txBody>
      </p:sp>
      <p:sp>
        <p:nvSpPr>
          <p:cNvPr id="58" name="Text 56"/>
          <p:cNvSpPr txBox="1"/>
          <p:nvPr/>
        </p:nvSpPr>
        <p:spPr>
          <a:xfrm>
            <a:off x="7315200" y="1572768"/>
            <a:ext cx="1280160" cy="201168"/>
          </a:xfrm>
          <a:prstGeom prst="rect">
            <a:avLst/>
          </a:prstGeom>
          <a:noFill/>
          <a:ln/>
        </p:spPr>
        <p:txBody>
          <a:bodyPr wrap="square" lIns="0" tIns="0" rIns="0" bIns="0" rtlCol="0" anchor="t"/>
          <a:lstStyle/>
          <a:p>
            <a:pPr algn="ctr" indent="0" marL="0">
              <a:buNone/>
            </a:pPr>
            <a:r>
              <a:rPr lang="en-US" sz="850" dirty="0">
                <a:solidFill>
                  <a:srgbClr val="FFFFFF"/>
                </a:solidFill>
                <a:latin typeface="Courier New" pitchFamily="34" charset="0"/>
                <a:ea typeface="Courier New" pitchFamily="34" charset="-122"/>
                <a:cs typeface="Courier New" pitchFamily="34" charset="-120"/>
              </a:rPr>
              <a:t>app/</a:t>
            </a:r>
            <a:endParaRPr lang="en-US" sz="850" dirty="0"/>
          </a:p>
        </p:txBody>
      </p:sp>
      <p:sp>
        <p:nvSpPr>
          <p:cNvPr id="59" name="Shape 57"/>
          <p:cNvSpPr/>
          <p:nvPr/>
        </p:nvSpPr>
        <p:spPr>
          <a:xfrm>
            <a:off x="7296912" y="1938528"/>
            <a:ext cx="1316736" cy="621792"/>
          </a:xfrm>
          <a:prstGeom prst="roundRect">
            <a:avLst>
              <a:gd name="adj" fmla="val 7353"/>
            </a:avLst>
          </a:prstGeom>
          <a:solidFill>
            <a:srgbClr val="FFFFFF"/>
          </a:solidFill>
          <a:ln w="9525">
            <a:solidFill>
              <a:srgbClr val="D5DCE3"/>
            </a:solidFill>
            <a:prstDash val="solid"/>
          </a:ln>
        </p:spPr>
      </p:sp>
      <p:sp>
        <p:nvSpPr>
          <p:cNvPr id="60" name="Text 58"/>
          <p:cNvSpPr txBox="1"/>
          <p:nvPr/>
        </p:nvSpPr>
        <p:spPr>
          <a:xfrm>
            <a:off x="7351776" y="1984248"/>
            <a:ext cx="1207008" cy="182880"/>
          </a:xfrm>
          <a:prstGeom prst="rect">
            <a:avLst/>
          </a:prstGeom>
          <a:noFill/>
          <a:ln/>
        </p:spPr>
        <p:txBody>
          <a:bodyPr wrap="square" lIns="0" tIns="0" rIns="0" bIns="0" rtlCol="0" anchor="t"/>
          <a:lstStyle/>
          <a:p>
            <a:pPr indent="0" marL="0">
              <a:buNone/>
            </a:pPr>
            <a:r>
              <a:rPr lang="en-US" sz="750" b="1" dirty="0">
                <a:solidFill>
                  <a:srgbClr val="1B2631"/>
                </a:solidFill>
                <a:latin typeface="Courier New" pitchFamily="34" charset="0"/>
                <a:ea typeface="Courier New" pitchFamily="34" charset="-122"/>
                <a:cs typeface="Courier New" pitchFamily="34" charset="-120"/>
              </a:rPr>
              <a:t>Streamlit</a:t>
            </a:r>
            <a:endParaRPr lang="en-US" sz="750" dirty="0"/>
          </a:p>
        </p:txBody>
      </p:sp>
      <p:sp>
        <p:nvSpPr>
          <p:cNvPr id="61" name="Text 59"/>
          <p:cNvSpPr txBox="1"/>
          <p:nvPr/>
        </p:nvSpPr>
        <p:spPr>
          <a:xfrm>
            <a:off x="7351776" y="2185416"/>
            <a:ext cx="1207008" cy="347472"/>
          </a:xfrm>
          <a:prstGeom prst="rect">
            <a:avLst/>
          </a:prstGeom>
          <a:noFill/>
          <a:ln/>
        </p:spPr>
        <p:txBody>
          <a:bodyPr wrap="square" lIns="0" tIns="0" rIns="0" bIns="0" rtlCol="0" anchor="t"/>
          <a:lstStyle/>
          <a:p>
            <a:pPr indent="0" marL="0">
              <a:buNone/>
            </a:pPr>
            <a:r>
              <a:rPr lang="en-US" sz="850" dirty="0">
                <a:solidFill>
                  <a:srgbClr val="5F6B78"/>
                </a:solidFill>
                <a:latin typeface="Calibri" pitchFamily="34" charset="0"/>
                <a:ea typeface="Calibri" pitchFamily="34" charset="-122"/>
                <a:cs typeface="Calibri" pitchFamily="34" charset="-120"/>
              </a:rPr>
              <a:t>dashboard, 7 pages</a:t>
            </a:r>
            <a:endParaRPr lang="en-US" sz="850" dirty="0"/>
          </a:p>
        </p:txBody>
      </p:sp>
      <p:sp>
        <p:nvSpPr>
          <p:cNvPr id="62" name="Shape 60"/>
          <p:cNvSpPr/>
          <p:nvPr/>
        </p:nvSpPr>
        <p:spPr>
          <a:xfrm>
            <a:off x="7296912" y="2633472"/>
            <a:ext cx="1316736" cy="621792"/>
          </a:xfrm>
          <a:prstGeom prst="roundRect">
            <a:avLst>
              <a:gd name="adj" fmla="val 7353"/>
            </a:avLst>
          </a:prstGeom>
          <a:solidFill>
            <a:srgbClr val="FFFFFF"/>
          </a:solidFill>
          <a:ln w="9525">
            <a:solidFill>
              <a:srgbClr val="D5DCE3"/>
            </a:solidFill>
            <a:prstDash val="solid"/>
          </a:ln>
        </p:spPr>
      </p:sp>
      <p:sp>
        <p:nvSpPr>
          <p:cNvPr id="63" name="Text 61"/>
          <p:cNvSpPr txBox="1"/>
          <p:nvPr/>
        </p:nvSpPr>
        <p:spPr>
          <a:xfrm>
            <a:off x="7351776" y="2679192"/>
            <a:ext cx="1207008" cy="182880"/>
          </a:xfrm>
          <a:prstGeom prst="rect">
            <a:avLst/>
          </a:prstGeom>
          <a:noFill/>
          <a:ln/>
        </p:spPr>
        <p:txBody>
          <a:bodyPr wrap="square" lIns="0" tIns="0" rIns="0" bIns="0" rtlCol="0" anchor="t"/>
          <a:lstStyle/>
          <a:p>
            <a:pPr indent="0" marL="0">
              <a:buNone/>
            </a:pPr>
            <a:r>
              <a:rPr lang="en-US" sz="750" b="1" dirty="0">
                <a:solidFill>
                  <a:srgbClr val="1B2631"/>
                </a:solidFill>
                <a:latin typeface="Courier New" pitchFamily="34" charset="0"/>
                <a:ea typeface="Courier New" pitchFamily="34" charset="-122"/>
                <a:cs typeface="Courier New" pitchFamily="34" charset="-120"/>
              </a:rPr>
              <a:t>decisions.jsonl</a:t>
            </a:r>
            <a:endParaRPr lang="en-US" sz="750" dirty="0"/>
          </a:p>
        </p:txBody>
      </p:sp>
      <p:sp>
        <p:nvSpPr>
          <p:cNvPr id="64" name="Text 62"/>
          <p:cNvSpPr txBox="1"/>
          <p:nvPr/>
        </p:nvSpPr>
        <p:spPr>
          <a:xfrm>
            <a:off x="7351776" y="2880360"/>
            <a:ext cx="1207008" cy="347472"/>
          </a:xfrm>
          <a:prstGeom prst="rect">
            <a:avLst/>
          </a:prstGeom>
          <a:noFill/>
          <a:ln/>
        </p:spPr>
        <p:txBody>
          <a:bodyPr wrap="square" lIns="0" tIns="0" rIns="0" bIns="0" rtlCol="0" anchor="t"/>
          <a:lstStyle/>
          <a:p>
            <a:pPr indent="0" marL="0">
              <a:buNone/>
            </a:pPr>
            <a:r>
              <a:rPr lang="en-US" sz="850" dirty="0">
                <a:solidFill>
                  <a:srgbClr val="5F6B78"/>
                </a:solidFill>
                <a:latin typeface="Calibri" pitchFamily="34" charset="0"/>
                <a:ea typeface="Calibri" pitchFamily="34" charset="-122"/>
                <a:cs typeface="Calibri" pitchFamily="34" charset="-120"/>
              </a:rPr>
              <a:t>accept / reject log</a:t>
            </a:r>
            <a:endParaRPr lang="en-US" sz="850" dirty="0"/>
          </a:p>
        </p:txBody>
      </p:sp>
      <p:sp>
        <p:nvSpPr>
          <p:cNvPr id="65" name="Shape 63"/>
          <p:cNvSpPr/>
          <p:nvPr/>
        </p:nvSpPr>
        <p:spPr>
          <a:xfrm>
            <a:off x="3840480" y="4206240"/>
            <a:ext cx="3154680" cy="502920"/>
          </a:xfrm>
          <a:prstGeom prst="roundRect">
            <a:avLst>
              <a:gd name="adj" fmla="val 10909"/>
            </a:avLst>
          </a:prstGeom>
          <a:solidFill>
            <a:srgbClr val="FFFFFF"/>
          </a:solidFill>
          <a:ln w="15875">
            <a:solidFill>
              <a:srgbClr val="E8910C"/>
            </a:solidFill>
            <a:prstDash val="dash"/>
          </a:ln>
        </p:spPr>
      </p:sp>
      <p:sp>
        <p:nvSpPr>
          <p:cNvPr id="66" name="Text 64"/>
          <p:cNvSpPr txBox="1"/>
          <p:nvPr/>
        </p:nvSpPr>
        <p:spPr>
          <a:xfrm>
            <a:off x="3950208" y="4224528"/>
            <a:ext cx="2935224" cy="457200"/>
          </a:xfrm>
          <a:prstGeom prst="rect">
            <a:avLst/>
          </a:prstGeom>
          <a:noFill/>
          <a:ln/>
        </p:spPr>
        <p:txBody>
          <a:bodyPr wrap="square" lIns="0" tIns="0" rIns="0" bIns="0" rtlCol="0" anchor="ctr"/>
          <a:lstStyle/>
          <a:p>
            <a:pPr indent="0" marL="0">
              <a:buNone/>
            </a:pPr>
            <a:r>
              <a:rPr lang="en-US" sz="950" b="1" dirty="0">
                <a:solidFill>
                  <a:srgbClr val="1B2631"/>
                </a:solidFill>
                <a:latin typeface="Calibri" pitchFamily="34" charset="0"/>
                <a:ea typeface="Calibri" pitchFamily="34" charset="-122"/>
                <a:cs typeface="Calibri" pitchFamily="34" charset="-120"/>
              </a:rPr>
              <a:t>Simulation  </a:t>
            </a:r>
            <a:pPr indent="0" marL="0">
              <a:buNone/>
            </a:pPr>
            <a:r>
              <a:rPr lang="en-US" sz="950" dirty="0">
                <a:solidFill>
                  <a:srgbClr val="5F6B78"/>
                </a:solidFill>
                <a:latin typeface="Calibri" pitchFamily="34" charset="0"/>
                <a:ea typeface="Calibri" pitchFamily="34" charset="-122"/>
                <a:cs typeface="Calibri" pitchFamily="34" charset="-120"/>
              </a:rPr>
              <a:t>src/simulation/stream.py — FactoryState replays held-out data → feeds agent tools</a:t>
            </a:r>
            <a:endParaRPr lang="en-US" sz="950" dirty="0"/>
          </a:p>
        </p:txBody>
      </p:sp>
      <p:sp>
        <p:nvSpPr>
          <p:cNvPr id="67" name="Text 65"/>
          <p:cNvSpPr txBox="1"/>
          <p:nvPr/>
        </p:nvSpPr>
        <p:spPr>
          <a:xfrm>
            <a:off x="457200" y="4224528"/>
            <a:ext cx="2651760" cy="457200"/>
          </a:xfrm>
          <a:prstGeom prst="rect">
            <a:avLst/>
          </a:prstGeom>
          <a:noFill/>
          <a:ln/>
        </p:spPr>
        <p:txBody>
          <a:bodyPr wrap="square" lIns="0" tIns="0" rIns="0" bIns="0" rtlCol="0" anchor="ctr"/>
          <a:lstStyle/>
          <a:p>
            <a:pPr indent="0" marL="0">
              <a:buNone/>
            </a:pPr>
            <a:r>
              <a:rPr lang="en-US" sz="950" i="1" dirty="0">
                <a:solidFill>
                  <a:srgbClr val="5F6B78"/>
                </a:solidFill>
                <a:latin typeface="Calibri" pitchFamily="34" charset="0"/>
                <a:ea typeface="Calibri" pitchFamily="34" charset="-122"/>
                <a:cs typeface="Calibri" pitchFamily="34" charset="-120"/>
              </a:rPr>
              <a:t>Models, optimiser and KPIs also feed the dashboard directly — the UI works even with no LLM.</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000" b="1" spc="200" kern="0" dirty="0">
                <a:solidFill>
                  <a:srgbClr val="E8910C"/>
                </a:solidFill>
                <a:latin typeface="Calibri" pitchFamily="34" charset="0"/>
                <a:ea typeface="Calibri" pitchFamily="34" charset="-122"/>
                <a:cs typeface="Calibri" pitchFamily="34" charset="-120"/>
              </a:rPr>
              <a:t>04 · ARCHITECTURE</a:t>
            </a:r>
            <a:endParaRPr lang="en-US" sz="10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1B2631"/>
                </a:solidFill>
                <a:latin typeface="Calibri" pitchFamily="34" charset="0"/>
                <a:ea typeface="Calibri" pitchFamily="34" charset="-122"/>
                <a:cs typeface="Calibri" pitchFamily="34" charset="-120"/>
              </a:rPr>
              <a:t>Request flow for an agent run</a:t>
            </a:r>
            <a:endParaRPr lang="en-US" sz="2800" dirty="0"/>
          </a:p>
        </p:txBody>
      </p:sp>
      <p:sp>
        <p:nvSpPr>
          <p:cNvPr id="4" name="Text 2"/>
          <p:cNvSpPr txBox="1"/>
          <p:nvPr/>
        </p:nvSpPr>
        <p:spPr>
          <a:xfrm>
            <a:off x="7315200" y="4846320"/>
            <a:ext cx="1371600" cy="182880"/>
          </a:xfrm>
          <a:prstGeom prst="rect">
            <a:avLst/>
          </a:prstGeom>
          <a:noFill/>
          <a:ln/>
        </p:spPr>
        <p:txBody>
          <a:bodyPr wrap="square" lIns="0" tIns="0" rIns="0" bIns="0" rtlCol="0" anchor="t"/>
          <a:lstStyle/>
          <a:p>
            <a:pPr algn="r" indent="0" marL="0">
              <a:buNone/>
            </a:pPr>
            <a:r>
              <a:rPr lang="en-US" sz="900" dirty="0">
                <a:solidFill>
                  <a:srgbClr val="5F6B78"/>
                </a:solidFill>
                <a:latin typeface="Calibri" pitchFamily="34" charset="0"/>
                <a:ea typeface="Calibri" pitchFamily="34" charset="-122"/>
                <a:cs typeface="Calibri" pitchFamily="34" charset="-120"/>
              </a:rPr>
              <a:t>SMPO  ·  7</a:t>
            </a:r>
            <a:endParaRPr lang="en-US" sz="900" dirty="0"/>
          </a:p>
        </p:txBody>
      </p:sp>
      <p:sp>
        <p:nvSpPr>
          <p:cNvPr id="5" name="Shape 3"/>
          <p:cNvSpPr/>
          <p:nvPr/>
        </p:nvSpPr>
        <p:spPr>
          <a:xfrm>
            <a:off x="365760" y="1188720"/>
            <a:ext cx="1463040" cy="457200"/>
          </a:xfrm>
          <a:prstGeom prst="roundRect">
            <a:avLst>
              <a:gd name="adj" fmla="val 12000"/>
            </a:avLst>
          </a:prstGeom>
          <a:solidFill>
            <a:srgbClr val="138D75"/>
          </a:solidFill>
          <a:ln w="12700">
            <a:solidFill>
              <a:srgbClr val="138D75"/>
            </a:solidFill>
            <a:prstDash val="solid"/>
          </a:ln>
        </p:spPr>
      </p:sp>
      <p:sp>
        <p:nvSpPr>
          <p:cNvPr id="6" name="Text 4"/>
          <p:cNvSpPr txBox="1"/>
          <p:nvPr/>
        </p:nvSpPr>
        <p:spPr>
          <a:xfrm>
            <a:off x="365760" y="1188720"/>
            <a:ext cx="1463040" cy="45720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Supervisor</a:t>
            </a:r>
            <a:endParaRPr lang="en-US" sz="950" dirty="0"/>
          </a:p>
          <a:p>
            <a:pPr algn="ctr" indent="0" marL="0">
              <a:buNone/>
            </a:pPr>
            <a:r>
              <a:rPr lang="en-US" sz="950" b="1" dirty="0">
                <a:solidFill>
                  <a:srgbClr val="FFFFFF"/>
                </a:solidFill>
                <a:latin typeface="Calibri" pitchFamily="34" charset="0"/>
                <a:ea typeface="Calibri" pitchFamily="34" charset="-122"/>
                <a:cs typeface="Calibri" pitchFamily="34" charset="-120"/>
              </a:rPr>
              <a:t>(dashboard)</a:t>
            </a:r>
            <a:endParaRPr lang="en-US" sz="950" dirty="0"/>
          </a:p>
        </p:txBody>
      </p:sp>
      <p:sp>
        <p:nvSpPr>
          <p:cNvPr id="7" name="Shape 5"/>
          <p:cNvSpPr/>
          <p:nvPr/>
        </p:nvSpPr>
        <p:spPr>
          <a:xfrm>
            <a:off x="1097280" y="1645920"/>
            <a:ext cx="0" cy="3108960"/>
          </a:xfrm>
          <a:prstGeom prst="line">
            <a:avLst/>
          </a:prstGeom>
          <a:noFill/>
          <a:ln w="12700">
            <a:solidFill>
              <a:srgbClr val="C3CCD5"/>
            </a:solidFill>
            <a:prstDash val="dash"/>
          </a:ln>
        </p:spPr>
      </p:sp>
      <p:sp>
        <p:nvSpPr>
          <p:cNvPr id="8" name="Shape 6"/>
          <p:cNvSpPr/>
          <p:nvPr/>
        </p:nvSpPr>
        <p:spPr>
          <a:xfrm>
            <a:off x="2057400" y="1188720"/>
            <a:ext cx="1463040" cy="457200"/>
          </a:xfrm>
          <a:prstGeom prst="roundRect">
            <a:avLst>
              <a:gd name="adj" fmla="val 12000"/>
            </a:avLst>
          </a:prstGeom>
          <a:solidFill>
            <a:srgbClr val="34495E"/>
          </a:solidFill>
          <a:ln w="12700">
            <a:solidFill>
              <a:srgbClr val="34495E"/>
            </a:solidFill>
            <a:prstDash val="solid"/>
          </a:ln>
        </p:spPr>
      </p:sp>
      <p:sp>
        <p:nvSpPr>
          <p:cNvPr id="9" name="Text 7"/>
          <p:cNvSpPr txBox="1"/>
          <p:nvPr/>
        </p:nvSpPr>
        <p:spPr>
          <a:xfrm>
            <a:off x="2057400" y="1188720"/>
            <a:ext cx="1463040" cy="45720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Orchestrator</a:t>
            </a:r>
            <a:endParaRPr lang="en-US" sz="950" dirty="0"/>
          </a:p>
        </p:txBody>
      </p:sp>
      <p:sp>
        <p:nvSpPr>
          <p:cNvPr id="10" name="Shape 8"/>
          <p:cNvSpPr/>
          <p:nvPr/>
        </p:nvSpPr>
        <p:spPr>
          <a:xfrm>
            <a:off x="2788920" y="1645920"/>
            <a:ext cx="0" cy="3108960"/>
          </a:xfrm>
          <a:prstGeom prst="line">
            <a:avLst/>
          </a:prstGeom>
          <a:noFill/>
          <a:ln w="12700">
            <a:solidFill>
              <a:srgbClr val="C3CCD5"/>
            </a:solidFill>
            <a:prstDash val="dash"/>
          </a:ln>
        </p:spPr>
      </p:sp>
      <p:sp>
        <p:nvSpPr>
          <p:cNvPr id="11" name="Shape 9"/>
          <p:cNvSpPr/>
          <p:nvPr/>
        </p:nvSpPr>
        <p:spPr>
          <a:xfrm>
            <a:off x="3749040" y="1188720"/>
            <a:ext cx="1463040" cy="457200"/>
          </a:xfrm>
          <a:prstGeom prst="roundRect">
            <a:avLst>
              <a:gd name="adj" fmla="val 12000"/>
            </a:avLst>
          </a:prstGeom>
          <a:solidFill>
            <a:srgbClr val="34495E"/>
          </a:solidFill>
          <a:ln w="12700">
            <a:solidFill>
              <a:srgbClr val="34495E"/>
            </a:solidFill>
            <a:prstDash val="solid"/>
          </a:ln>
        </p:spPr>
      </p:sp>
      <p:sp>
        <p:nvSpPr>
          <p:cNvPr id="12" name="Text 10"/>
          <p:cNvSpPr txBox="1"/>
          <p:nvPr/>
        </p:nvSpPr>
        <p:spPr>
          <a:xfrm>
            <a:off x="3749040" y="1188720"/>
            <a:ext cx="1463040" cy="45720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ToolBox</a:t>
            </a:r>
            <a:endParaRPr lang="en-US" sz="950" dirty="0"/>
          </a:p>
        </p:txBody>
      </p:sp>
      <p:sp>
        <p:nvSpPr>
          <p:cNvPr id="13" name="Shape 11"/>
          <p:cNvSpPr/>
          <p:nvPr/>
        </p:nvSpPr>
        <p:spPr>
          <a:xfrm>
            <a:off x="4480560" y="1645920"/>
            <a:ext cx="0" cy="3108960"/>
          </a:xfrm>
          <a:prstGeom prst="line">
            <a:avLst/>
          </a:prstGeom>
          <a:noFill/>
          <a:ln w="12700">
            <a:solidFill>
              <a:srgbClr val="C3CCD5"/>
            </a:solidFill>
            <a:prstDash val="dash"/>
          </a:ln>
        </p:spPr>
      </p:sp>
      <p:sp>
        <p:nvSpPr>
          <p:cNvPr id="14" name="Shape 12"/>
          <p:cNvSpPr/>
          <p:nvPr/>
        </p:nvSpPr>
        <p:spPr>
          <a:xfrm>
            <a:off x="5440680" y="1188720"/>
            <a:ext cx="1463040" cy="457200"/>
          </a:xfrm>
          <a:prstGeom prst="roundRect">
            <a:avLst>
              <a:gd name="adj" fmla="val 12000"/>
            </a:avLst>
          </a:prstGeom>
          <a:solidFill>
            <a:srgbClr val="34495E"/>
          </a:solidFill>
          <a:ln w="12700">
            <a:solidFill>
              <a:srgbClr val="34495E"/>
            </a:solidFill>
            <a:prstDash val="solid"/>
          </a:ln>
        </p:spPr>
      </p:sp>
      <p:sp>
        <p:nvSpPr>
          <p:cNvPr id="15" name="Text 13"/>
          <p:cNvSpPr txBox="1"/>
          <p:nvPr/>
        </p:nvSpPr>
        <p:spPr>
          <a:xfrm>
            <a:off x="5440680" y="1188720"/>
            <a:ext cx="1463040" cy="45720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Models / optimiser</a:t>
            </a:r>
            <a:endParaRPr lang="en-US" sz="950" dirty="0"/>
          </a:p>
          <a:p>
            <a:pPr algn="ctr" indent="0" marL="0">
              <a:buNone/>
            </a:pPr>
            <a:r>
              <a:rPr lang="en-US" sz="950" b="1" dirty="0">
                <a:solidFill>
                  <a:srgbClr val="FFFFFF"/>
                </a:solidFill>
                <a:latin typeface="Calibri" pitchFamily="34" charset="0"/>
                <a:ea typeface="Calibri" pitchFamily="34" charset="-122"/>
                <a:cs typeface="Calibri" pitchFamily="34" charset="-120"/>
              </a:rPr>
              <a:t>/ scheduler</a:t>
            </a:r>
            <a:endParaRPr lang="en-US" sz="950" dirty="0"/>
          </a:p>
        </p:txBody>
      </p:sp>
      <p:sp>
        <p:nvSpPr>
          <p:cNvPr id="16" name="Shape 14"/>
          <p:cNvSpPr/>
          <p:nvPr/>
        </p:nvSpPr>
        <p:spPr>
          <a:xfrm>
            <a:off x="6172200" y="1645920"/>
            <a:ext cx="0" cy="3108960"/>
          </a:xfrm>
          <a:prstGeom prst="line">
            <a:avLst/>
          </a:prstGeom>
          <a:noFill/>
          <a:ln w="12700">
            <a:solidFill>
              <a:srgbClr val="C3CCD5"/>
            </a:solidFill>
            <a:prstDash val="dash"/>
          </a:ln>
        </p:spPr>
      </p:sp>
      <p:sp>
        <p:nvSpPr>
          <p:cNvPr id="17" name="Shape 15"/>
          <p:cNvSpPr/>
          <p:nvPr/>
        </p:nvSpPr>
        <p:spPr>
          <a:xfrm>
            <a:off x="7132320" y="1188720"/>
            <a:ext cx="1463040" cy="457200"/>
          </a:xfrm>
          <a:prstGeom prst="roundRect">
            <a:avLst>
              <a:gd name="adj" fmla="val 12000"/>
            </a:avLst>
          </a:prstGeom>
          <a:solidFill>
            <a:srgbClr val="E8910C"/>
          </a:solidFill>
          <a:ln w="12700">
            <a:solidFill>
              <a:srgbClr val="E8910C"/>
            </a:solidFill>
            <a:prstDash val="solid"/>
          </a:ln>
        </p:spPr>
      </p:sp>
      <p:sp>
        <p:nvSpPr>
          <p:cNvPr id="18" name="Text 16"/>
          <p:cNvSpPr txBox="1"/>
          <p:nvPr/>
        </p:nvSpPr>
        <p:spPr>
          <a:xfrm>
            <a:off x="7132320" y="1188720"/>
            <a:ext cx="1463040" cy="45720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LLM</a:t>
            </a:r>
            <a:endParaRPr lang="en-US" sz="950" dirty="0"/>
          </a:p>
          <a:p>
            <a:pPr algn="ctr" indent="0" marL="0">
              <a:buNone/>
            </a:pPr>
            <a:r>
              <a:rPr lang="en-US" sz="950" b="1" dirty="0">
                <a:solidFill>
                  <a:srgbClr val="FFFFFF"/>
                </a:solidFill>
                <a:latin typeface="Calibri" pitchFamily="34" charset="0"/>
                <a:ea typeface="Calibri" pitchFamily="34" charset="-122"/>
                <a:cs typeface="Calibri" pitchFamily="34" charset="-120"/>
              </a:rPr>
              <a:t>(Ollama or Claude)</a:t>
            </a:r>
            <a:endParaRPr lang="en-US" sz="950" dirty="0"/>
          </a:p>
        </p:txBody>
      </p:sp>
      <p:sp>
        <p:nvSpPr>
          <p:cNvPr id="19" name="Shape 17"/>
          <p:cNvSpPr/>
          <p:nvPr/>
        </p:nvSpPr>
        <p:spPr>
          <a:xfrm>
            <a:off x="7863840" y="1645920"/>
            <a:ext cx="0" cy="3108960"/>
          </a:xfrm>
          <a:prstGeom prst="line">
            <a:avLst/>
          </a:prstGeom>
          <a:noFill/>
          <a:ln w="12700">
            <a:solidFill>
              <a:srgbClr val="C3CCD5"/>
            </a:solidFill>
            <a:prstDash val="dash"/>
          </a:ln>
        </p:spPr>
      </p:sp>
      <p:sp>
        <p:nvSpPr>
          <p:cNvPr id="20" name="Shape 18"/>
          <p:cNvSpPr/>
          <p:nvPr/>
        </p:nvSpPr>
        <p:spPr>
          <a:xfrm>
            <a:off x="1124712" y="1938528"/>
            <a:ext cx="1636776" cy="0"/>
          </a:xfrm>
          <a:prstGeom prst="line">
            <a:avLst/>
          </a:prstGeom>
          <a:noFill/>
          <a:ln w="15875">
            <a:solidFill>
              <a:srgbClr val="1B2631"/>
            </a:solidFill>
            <a:prstDash val="solid"/>
            <a:tailEnd type="triangle"/>
          </a:ln>
        </p:spPr>
      </p:sp>
      <p:sp>
        <p:nvSpPr>
          <p:cNvPr id="21" name="Text 19"/>
          <p:cNvSpPr txBox="1"/>
          <p:nvPr/>
        </p:nvSpPr>
        <p:spPr>
          <a:xfrm>
            <a:off x="617220" y="1755648"/>
            <a:ext cx="2651760" cy="164592"/>
          </a:xfrm>
          <a:prstGeom prst="rect">
            <a:avLst/>
          </a:prstGeom>
          <a:noFill/>
          <a:ln/>
        </p:spPr>
        <p:txBody>
          <a:bodyPr wrap="square" lIns="0" tIns="0" rIns="0" bIns="0" rtlCol="0" anchor="t">
            <a:normAutofit/>
          </a:bodyPr>
          <a:lstStyle/>
          <a:p>
            <a:pPr algn="ctr" indent="0" marL="0">
              <a:buNone/>
            </a:pPr>
            <a:r>
              <a:rPr lang="en-US" sz="850" dirty="0">
                <a:solidFill>
                  <a:srgbClr val="1B2631"/>
                </a:solidFill>
                <a:latin typeface="Calibri" pitchFamily="34" charset="0"/>
                <a:ea typeface="Calibri" pitchFamily="34" charset="-122"/>
                <a:cs typeface="Calibri" pitchFamily="34" charset="-120"/>
              </a:rPr>
              <a:t>1  Run agent analysis (current factory time)</a:t>
            </a:r>
            <a:endParaRPr lang="en-US" sz="850" dirty="0"/>
          </a:p>
        </p:txBody>
      </p:sp>
      <p:sp>
        <p:nvSpPr>
          <p:cNvPr id="22" name="Shape 20"/>
          <p:cNvSpPr/>
          <p:nvPr/>
        </p:nvSpPr>
        <p:spPr>
          <a:xfrm>
            <a:off x="2816352" y="2276856"/>
            <a:ext cx="1636776" cy="0"/>
          </a:xfrm>
          <a:prstGeom prst="line">
            <a:avLst/>
          </a:prstGeom>
          <a:noFill/>
          <a:ln w="15875">
            <a:solidFill>
              <a:srgbClr val="1B2631"/>
            </a:solidFill>
            <a:prstDash val="solid"/>
            <a:tailEnd type="triangle"/>
          </a:ln>
        </p:spPr>
      </p:sp>
      <p:sp>
        <p:nvSpPr>
          <p:cNvPr id="23" name="Text 21"/>
          <p:cNvSpPr txBox="1"/>
          <p:nvPr/>
        </p:nvSpPr>
        <p:spPr>
          <a:xfrm>
            <a:off x="2308860" y="2093976"/>
            <a:ext cx="2651760" cy="164592"/>
          </a:xfrm>
          <a:prstGeom prst="rect">
            <a:avLst/>
          </a:prstGeom>
          <a:noFill/>
          <a:ln/>
        </p:spPr>
        <p:txBody>
          <a:bodyPr wrap="square" lIns="0" tIns="0" rIns="0" bIns="0" rtlCol="0" anchor="t">
            <a:normAutofit/>
          </a:bodyPr>
          <a:lstStyle/>
          <a:p>
            <a:pPr algn="ctr" indent="0" marL="0">
              <a:buNone/>
            </a:pPr>
            <a:r>
              <a:rPr lang="en-US" sz="850" dirty="0">
                <a:solidFill>
                  <a:srgbClr val="1B2631"/>
                </a:solidFill>
                <a:latin typeface="Calibri" pitchFamily="34" charset="0"/>
                <a:ea typeface="Calibri" pitchFamily="34" charset="-122"/>
                <a:cs typeface="Calibri" pitchFamily="34" charset="-120"/>
              </a:rPr>
              <a:t>2  Gather evidence / tool calls</a:t>
            </a:r>
            <a:endParaRPr lang="en-US" sz="850" dirty="0"/>
          </a:p>
        </p:txBody>
      </p:sp>
      <p:sp>
        <p:nvSpPr>
          <p:cNvPr id="24" name="Shape 22"/>
          <p:cNvSpPr/>
          <p:nvPr/>
        </p:nvSpPr>
        <p:spPr>
          <a:xfrm>
            <a:off x="4507992" y="2615184"/>
            <a:ext cx="1636776" cy="0"/>
          </a:xfrm>
          <a:prstGeom prst="line">
            <a:avLst/>
          </a:prstGeom>
          <a:noFill/>
          <a:ln w="15875">
            <a:solidFill>
              <a:srgbClr val="1B2631"/>
            </a:solidFill>
            <a:prstDash val="solid"/>
            <a:tailEnd type="triangle"/>
          </a:ln>
        </p:spPr>
      </p:sp>
      <p:sp>
        <p:nvSpPr>
          <p:cNvPr id="25" name="Text 23"/>
          <p:cNvSpPr txBox="1"/>
          <p:nvPr/>
        </p:nvSpPr>
        <p:spPr>
          <a:xfrm>
            <a:off x="4000500" y="2432304"/>
            <a:ext cx="2651760" cy="164592"/>
          </a:xfrm>
          <a:prstGeom prst="rect">
            <a:avLst/>
          </a:prstGeom>
          <a:noFill/>
          <a:ln/>
        </p:spPr>
        <p:txBody>
          <a:bodyPr wrap="square" lIns="0" tIns="0" rIns="0" bIns="0" rtlCol="0" anchor="t">
            <a:normAutofit/>
          </a:bodyPr>
          <a:lstStyle/>
          <a:p>
            <a:pPr algn="ctr" indent="0" marL="0">
              <a:buNone/>
            </a:pPr>
            <a:r>
              <a:rPr lang="en-US" sz="850" dirty="0">
                <a:solidFill>
                  <a:srgbClr val="1B2631"/>
                </a:solidFill>
                <a:latin typeface="Calibri" pitchFamily="34" charset="0"/>
                <a:ea typeface="Calibri" pitchFamily="34" charset="-122"/>
                <a:cs typeface="Calibri" pitchFamily="34" charset="-120"/>
              </a:rPr>
              <a:t>3  Snapshot, diagnose, optimise, schedule</a:t>
            </a:r>
            <a:endParaRPr lang="en-US" sz="850" dirty="0"/>
          </a:p>
        </p:txBody>
      </p:sp>
      <p:sp>
        <p:nvSpPr>
          <p:cNvPr id="26" name="Shape 24"/>
          <p:cNvSpPr/>
          <p:nvPr/>
        </p:nvSpPr>
        <p:spPr>
          <a:xfrm>
            <a:off x="4507992" y="2953512"/>
            <a:ext cx="1636776" cy="0"/>
          </a:xfrm>
          <a:prstGeom prst="line">
            <a:avLst/>
          </a:prstGeom>
          <a:noFill/>
          <a:ln w="15875">
            <a:solidFill>
              <a:srgbClr val="5F6B78"/>
            </a:solidFill>
            <a:prstDash val="dash"/>
            <a:headEnd type="triangle"/>
          </a:ln>
        </p:spPr>
      </p:sp>
      <p:sp>
        <p:nvSpPr>
          <p:cNvPr id="27" name="Text 25"/>
          <p:cNvSpPr txBox="1"/>
          <p:nvPr/>
        </p:nvSpPr>
        <p:spPr>
          <a:xfrm>
            <a:off x="4000500" y="2770632"/>
            <a:ext cx="2651760" cy="164592"/>
          </a:xfrm>
          <a:prstGeom prst="rect">
            <a:avLst/>
          </a:prstGeom>
          <a:noFill/>
          <a:ln/>
        </p:spPr>
        <p:txBody>
          <a:bodyPr wrap="square" lIns="0" tIns="0" rIns="0" bIns="0" rtlCol="0" anchor="t">
            <a:normAutofit/>
          </a:bodyPr>
          <a:lstStyle/>
          <a:p>
            <a:pPr algn="ctr" indent="0" marL="0">
              <a:buNone/>
            </a:pPr>
            <a:r>
              <a:rPr lang="en-US" sz="850" dirty="0">
                <a:solidFill>
                  <a:srgbClr val="5F6B78"/>
                </a:solidFill>
                <a:latin typeface="Calibri" pitchFamily="34" charset="0"/>
                <a:ea typeface="Calibri" pitchFamily="34" charset="-122"/>
                <a:cs typeface="Calibri" pitchFamily="34" charset="-120"/>
              </a:rPr>
              <a:t>4  Probabilities, SHAP, candidates, plan</a:t>
            </a:r>
            <a:endParaRPr lang="en-US" sz="850" dirty="0"/>
          </a:p>
        </p:txBody>
      </p:sp>
      <p:sp>
        <p:nvSpPr>
          <p:cNvPr id="28" name="Shape 26"/>
          <p:cNvSpPr/>
          <p:nvPr/>
        </p:nvSpPr>
        <p:spPr>
          <a:xfrm>
            <a:off x="2816352" y="3291840"/>
            <a:ext cx="1636776" cy="0"/>
          </a:xfrm>
          <a:prstGeom prst="line">
            <a:avLst/>
          </a:prstGeom>
          <a:noFill/>
          <a:ln w="15875">
            <a:solidFill>
              <a:srgbClr val="5F6B78"/>
            </a:solidFill>
            <a:prstDash val="dash"/>
            <a:headEnd type="triangle"/>
          </a:ln>
        </p:spPr>
      </p:sp>
      <p:sp>
        <p:nvSpPr>
          <p:cNvPr id="29" name="Text 27"/>
          <p:cNvSpPr txBox="1"/>
          <p:nvPr/>
        </p:nvSpPr>
        <p:spPr>
          <a:xfrm>
            <a:off x="2308860" y="3108960"/>
            <a:ext cx="2651760" cy="164592"/>
          </a:xfrm>
          <a:prstGeom prst="rect">
            <a:avLst/>
          </a:prstGeom>
          <a:noFill/>
          <a:ln/>
        </p:spPr>
        <p:txBody>
          <a:bodyPr wrap="square" lIns="0" tIns="0" rIns="0" bIns="0" rtlCol="0" anchor="t">
            <a:normAutofit/>
          </a:bodyPr>
          <a:lstStyle/>
          <a:p>
            <a:pPr algn="ctr" indent="0" marL="0">
              <a:buNone/>
            </a:pPr>
            <a:r>
              <a:rPr lang="en-US" sz="850" dirty="0">
                <a:solidFill>
                  <a:srgbClr val="5F6B78"/>
                </a:solidFill>
                <a:latin typeface="Calibri" pitchFamily="34" charset="0"/>
                <a:ea typeface="Calibri" pitchFamily="34" charset="-122"/>
                <a:cs typeface="Calibri" pitchFamily="34" charset="-120"/>
              </a:rPr>
              <a:t>5  Compact JSON</a:t>
            </a:r>
            <a:endParaRPr lang="en-US" sz="850" dirty="0"/>
          </a:p>
        </p:txBody>
      </p:sp>
      <p:sp>
        <p:nvSpPr>
          <p:cNvPr id="30" name="Shape 28"/>
          <p:cNvSpPr/>
          <p:nvPr/>
        </p:nvSpPr>
        <p:spPr>
          <a:xfrm>
            <a:off x="2816352" y="3630168"/>
            <a:ext cx="5020056" cy="0"/>
          </a:xfrm>
          <a:prstGeom prst="line">
            <a:avLst/>
          </a:prstGeom>
          <a:noFill/>
          <a:ln w="15875">
            <a:solidFill>
              <a:srgbClr val="1B2631"/>
            </a:solidFill>
            <a:prstDash val="solid"/>
            <a:tailEnd type="triangle"/>
          </a:ln>
        </p:spPr>
      </p:sp>
      <p:sp>
        <p:nvSpPr>
          <p:cNvPr id="31" name="Text 29"/>
          <p:cNvSpPr txBox="1"/>
          <p:nvPr/>
        </p:nvSpPr>
        <p:spPr>
          <a:xfrm>
            <a:off x="2880360" y="3447288"/>
            <a:ext cx="4892040" cy="164592"/>
          </a:xfrm>
          <a:prstGeom prst="rect">
            <a:avLst/>
          </a:prstGeom>
          <a:noFill/>
          <a:ln/>
        </p:spPr>
        <p:txBody>
          <a:bodyPr wrap="square" lIns="0" tIns="0" rIns="0" bIns="0" rtlCol="0" anchor="t">
            <a:normAutofit/>
          </a:bodyPr>
          <a:lstStyle/>
          <a:p>
            <a:pPr algn="ctr" indent="0" marL="0">
              <a:buNone/>
            </a:pPr>
            <a:r>
              <a:rPr lang="en-US" sz="850" dirty="0">
                <a:solidFill>
                  <a:srgbClr val="1B2631"/>
                </a:solidFill>
                <a:latin typeface="Calibri" pitchFamily="34" charset="0"/>
                <a:ea typeface="Calibri" pitchFamily="34" charset="-122"/>
                <a:cs typeface="Calibri" pitchFamily="34" charset="-120"/>
              </a:rPr>
              <a:t>6  Evidence + role prompt</a:t>
            </a:r>
            <a:endParaRPr lang="en-US" sz="850" dirty="0"/>
          </a:p>
        </p:txBody>
      </p:sp>
      <p:sp>
        <p:nvSpPr>
          <p:cNvPr id="32" name="Shape 30"/>
          <p:cNvSpPr/>
          <p:nvPr/>
        </p:nvSpPr>
        <p:spPr>
          <a:xfrm>
            <a:off x="2816352" y="3968496"/>
            <a:ext cx="5020056" cy="0"/>
          </a:xfrm>
          <a:prstGeom prst="line">
            <a:avLst/>
          </a:prstGeom>
          <a:noFill/>
          <a:ln w="15875">
            <a:solidFill>
              <a:srgbClr val="5F6B78"/>
            </a:solidFill>
            <a:prstDash val="dash"/>
            <a:headEnd type="triangle"/>
          </a:ln>
        </p:spPr>
      </p:sp>
      <p:sp>
        <p:nvSpPr>
          <p:cNvPr id="33" name="Text 31"/>
          <p:cNvSpPr txBox="1"/>
          <p:nvPr/>
        </p:nvSpPr>
        <p:spPr>
          <a:xfrm>
            <a:off x="2880360" y="3785616"/>
            <a:ext cx="4892040" cy="164592"/>
          </a:xfrm>
          <a:prstGeom prst="rect">
            <a:avLst/>
          </a:prstGeom>
          <a:noFill/>
          <a:ln/>
        </p:spPr>
        <p:txBody>
          <a:bodyPr wrap="square" lIns="0" tIns="0" rIns="0" bIns="0" rtlCol="0" anchor="t">
            <a:normAutofit/>
          </a:bodyPr>
          <a:lstStyle/>
          <a:p>
            <a:pPr algn="ctr" indent="0" marL="0">
              <a:buNone/>
            </a:pPr>
            <a:r>
              <a:rPr lang="en-US" sz="850" dirty="0">
                <a:solidFill>
                  <a:srgbClr val="5F6B78"/>
                </a:solidFill>
                <a:latin typeface="Calibri" pitchFamily="34" charset="0"/>
                <a:ea typeface="Calibri" pitchFamily="34" charset="-122"/>
                <a:cs typeface="Calibri" pitchFamily="34" charset="-120"/>
              </a:rPr>
              <a:t>7  Report / structured plan (JSON schema)</a:t>
            </a:r>
            <a:endParaRPr lang="en-US" sz="850" dirty="0"/>
          </a:p>
        </p:txBody>
      </p:sp>
      <p:sp>
        <p:nvSpPr>
          <p:cNvPr id="34" name="Shape 32"/>
          <p:cNvSpPr/>
          <p:nvPr/>
        </p:nvSpPr>
        <p:spPr>
          <a:xfrm>
            <a:off x="1124712" y="4306824"/>
            <a:ext cx="1636776" cy="0"/>
          </a:xfrm>
          <a:prstGeom prst="line">
            <a:avLst/>
          </a:prstGeom>
          <a:noFill/>
          <a:ln w="15875">
            <a:solidFill>
              <a:srgbClr val="5F6B78"/>
            </a:solidFill>
            <a:prstDash val="dash"/>
            <a:headEnd type="triangle"/>
          </a:ln>
        </p:spPr>
      </p:sp>
      <p:sp>
        <p:nvSpPr>
          <p:cNvPr id="35" name="Text 33"/>
          <p:cNvSpPr txBox="1"/>
          <p:nvPr/>
        </p:nvSpPr>
        <p:spPr>
          <a:xfrm>
            <a:off x="617220" y="4123944"/>
            <a:ext cx="2651760" cy="164592"/>
          </a:xfrm>
          <a:prstGeom prst="rect">
            <a:avLst/>
          </a:prstGeom>
          <a:noFill/>
          <a:ln/>
        </p:spPr>
        <p:txBody>
          <a:bodyPr wrap="square" lIns="0" tIns="0" rIns="0" bIns="0" rtlCol="0" anchor="t">
            <a:normAutofit/>
          </a:bodyPr>
          <a:lstStyle/>
          <a:p>
            <a:pPr algn="ctr" indent="0" marL="0">
              <a:buNone/>
            </a:pPr>
            <a:r>
              <a:rPr lang="en-US" sz="850" dirty="0">
                <a:solidFill>
                  <a:srgbClr val="5F6B78"/>
                </a:solidFill>
                <a:latin typeface="Calibri" pitchFamily="34" charset="0"/>
                <a:ea typeface="Calibri" pitchFamily="34" charset="-122"/>
                <a:cs typeface="Calibri" pitchFamily="34" charset="-120"/>
              </a:rPr>
              <a:t>8  Action plan + reasoning trace</a:t>
            </a:r>
            <a:endParaRPr lang="en-US" sz="850" dirty="0"/>
          </a:p>
        </p:txBody>
      </p:sp>
      <p:sp>
        <p:nvSpPr>
          <p:cNvPr id="36" name="Shape 34"/>
          <p:cNvSpPr/>
          <p:nvPr/>
        </p:nvSpPr>
        <p:spPr>
          <a:xfrm>
            <a:off x="411480" y="4572000"/>
            <a:ext cx="2743200" cy="292608"/>
          </a:xfrm>
          <a:prstGeom prst="roundRect">
            <a:avLst>
              <a:gd name="adj" fmla="val 15625"/>
            </a:avLst>
          </a:prstGeom>
          <a:solidFill>
            <a:srgbClr val="E3F2EE"/>
          </a:solidFill>
          <a:ln w="9525">
            <a:solidFill>
              <a:srgbClr val="138D75"/>
            </a:solidFill>
            <a:prstDash val="solid"/>
          </a:ln>
        </p:spPr>
      </p:sp>
      <p:sp>
        <p:nvSpPr>
          <p:cNvPr id="37" name="Text 35"/>
          <p:cNvSpPr txBox="1"/>
          <p:nvPr/>
        </p:nvSpPr>
        <p:spPr>
          <a:xfrm>
            <a:off x="457200" y="4572000"/>
            <a:ext cx="2651760" cy="292608"/>
          </a:xfrm>
          <a:prstGeom prst="rect">
            <a:avLst/>
          </a:prstGeom>
          <a:noFill/>
          <a:ln/>
        </p:spPr>
        <p:txBody>
          <a:bodyPr wrap="square" lIns="0" tIns="0" rIns="0" bIns="0" rtlCol="0" anchor="ctr"/>
          <a:lstStyle/>
          <a:p>
            <a:pPr indent="0" marL="0">
              <a:buNone/>
            </a:pPr>
            <a:r>
              <a:rPr lang="en-US" sz="850" b="1" dirty="0">
                <a:solidFill>
                  <a:srgbClr val="138D75"/>
                </a:solidFill>
                <a:latin typeface="Calibri" pitchFamily="34" charset="0"/>
                <a:ea typeface="Calibri" pitchFamily="34" charset="-122"/>
                <a:cs typeface="Calibri" pitchFamily="34" charset="-120"/>
              </a:rPr>
              <a:t>9  Accept / reject each action → data/decisions.jsonl</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000" b="1" spc="200" kern="0" dirty="0">
                <a:solidFill>
                  <a:srgbClr val="E8910C"/>
                </a:solidFill>
                <a:latin typeface="Calibri" pitchFamily="34" charset="0"/>
                <a:ea typeface="Calibri" pitchFamily="34" charset="-122"/>
                <a:cs typeface="Calibri" pitchFamily="34" charset="-120"/>
              </a:rPr>
              <a:t>04 · ARCHITECTURE</a:t>
            </a:r>
            <a:endParaRPr lang="en-US" sz="10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1B2631"/>
                </a:solidFill>
                <a:latin typeface="Calibri" pitchFamily="34" charset="0"/>
                <a:ea typeface="Calibri" pitchFamily="34" charset="-122"/>
                <a:cs typeface="Calibri" pitchFamily="34" charset="-120"/>
              </a:rPr>
              <a:t>Factory simulation: replaying held-out data</a:t>
            </a:r>
            <a:endParaRPr lang="en-US" sz="2800" dirty="0"/>
          </a:p>
        </p:txBody>
      </p:sp>
      <p:sp>
        <p:nvSpPr>
          <p:cNvPr id="4" name="Text 2"/>
          <p:cNvSpPr txBox="1"/>
          <p:nvPr/>
        </p:nvSpPr>
        <p:spPr>
          <a:xfrm>
            <a:off x="7315200" y="4846320"/>
            <a:ext cx="1371600" cy="182880"/>
          </a:xfrm>
          <a:prstGeom prst="rect">
            <a:avLst/>
          </a:prstGeom>
          <a:noFill/>
          <a:ln/>
        </p:spPr>
        <p:txBody>
          <a:bodyPr wrap="square" lIns="0" tIns="0" rIns="0" bIns="0" rtlCol="0" anchor="t"/>
          <a:lstStyle/>
          <a:p>
            <a:pPr algn="r" indent="0" marL="0">
              <a:buNone/>
            </a:pPr>
            <a:r>
              <a:rPr lang="en-US" sz="900" dirty="0">
                <a:solidFill>
                  <a:srgbClr val="5F6B78"/>
                </a:solidFill>
                <a:latin typeface="Calibri" pitchFamily="34" charset="0"/>
                <a:ea typeface="Calibri" pitchFamily="34" charset="-122"/>
                <a:cs typeface="Calibri" pitchFamily="34" charset="-120"/>
              </a:rPr>
              <a:t>SMPO  ·  8</a:t>
            </a:r>
            <a:endParaRPr lang="en-US" sz="900" dirty="0"/>
          </a:p>
        </p:txBody>
      </p:sp>
      <p:sp>
        <p:nvSpPr>
          <p:cNvPr id="5" name="Shape 3"/>
          <p:cNvSpPr/>
          <p:nvPr/>
        </p:nvSpPr>
        <p:spPr>
          <a:xfrm>
            <a:off x="457200" y="1325880"/>
            <a:ext cx="2560320" cy="2103120"/>
          </a:xfrm>
          <a:prstGeom prst="roundRect">
            <a:avLst>
              <a:gd name="adj" fmla="val 3478"/>
            </a:avLst>
          </a:prstGeom>
          <a:solidFill>
            <a:srgbClr val="EEF2F5"/>
          </a:solidFill>
          <a:ln w="12700">
            <a:solidFill>
              <a:srgbClr val="EEF2F5"/>
            </a:solidFill>
            <a:prstDash val="solid"/>
          </a:ln>
        </p:spPr>
      </p:sp>
      <p:sp>
        <p:nvSpPr>
          <p:cNvPr id="6" name="Shape 4"/>
          <p:cNvSpPr/>
          <p:nvPr/>
        </p:nvSpPr>
        <p:spPr>
          <a:xfrm>
            <a:off x="685800" y="1554480"/>
            <a:ext cx="548640" cy="548640"/>
          </a:xfrm>
          <a:prstGeom prst="ellipse">
            <a:avLst/>
          </a:prstGeom>
          <a:solidFill>
            <a:srgbClr val="34495E"/>
          </a:solidFill>
          <a:ln w="12700">
            <a:solidFill>
              <a:srgbClr val="34495E"/>
            </a:solidFill>
            <a:prstDash val="solid"/>
          </a:ln>
        </p:spPr>
      </p:sp>
      <p:pic>
        <p:nvPicPr>
          <p:cNvPr id="7" name="Image 0" descr="preencoded.png">    </p:cNvPr>
          <p:cNvPicPr>
            <a:picLocks noChangeAspect="1"/>
          </p:cNvPicPr>
          <p:nvPr/>
        </p:nvPicPr>
        <p:blipFill>
          <a:blip r:embed="rId1"/>
          <a:stretch>
            <a:fillRect/>
          </a:stretch>
        </p:blipFill>
        <p:spPr>
          <a:xfrm>
            <a:off x="822960" y="1691640"/>
            <a:ext cx="274320" cy="274320"/>
          </a:xfrm>
          <a:prstGeom prst="rect">
            <a:avLst/>
          </a:prstGeom>
        </p:spPr>
      </p:pic>
      <p:sp>
        <p:nvSpPr>
          <p:cNvPr id="8" name="Text 5"/>
          <p:cNvSpPr txBox="1"/>
          <p:nvPr/>
        </p:nvSpPr>
        <p:spPr>
          <a:xfrm>
            <a:off x="685800" y="2240280"/>
            <a:ext cx="2103120" cy="320040"/>
          </a:xfrm>
          <a:prstGeom prst="rect">
            <a:avLst/>
          </a:prstGeom>
          <a:noFill/>
          <a:ln/>
        </p:spPr>
        <p:txBody>
          <a:bodyPr wrap="square" lIns="0" tIns="0" rIns="0" bIns="0" rtlCol="0" anchor="t"/>
          <a:lstStyle/>
          <a:p>
            <a:pPr indent="0" marL="0">
              <a:buNone/>
            </a:pPr>
            <a:r>
              <a:rPr lang="en-US" sz="1600" b="1" dirty="0">
                <a:solidFill>
                  <a:srgbClr val="1B2631"/>
                </a:solidFill>
                <a:latin typeface="Calibri" pitchFamily="34" charset="0"/>
                <a:ea typeface="Calibri" pitchFamily="34" charset="-122"/>
                <a:cs typeface="Calibri" pitchFamily="34" charset="-120"/>
              </a:rPr>
              <a:t>Fleet clock</a:t>
            </a:r>
            <a:endParaRPr lang="en-US" sz="1600" dirty="0"/>
          </a:p>
        </p:txBody>
      </p:sp>
      <p:sp>
        <p:nvSpPr>
          <p:cNvPr id="9" name="Text 6"/>
          <p:cNvSpPr txBox="1"/>
          <p:nvPr/>
        </p:nvSpPr>
        <p:spPr>
          <a:xfrm>
            <a:off x="685800" y="2606040"/>
            <a:ext cx="2103120" cy="731520"/>
          </a:xfrm>
          <a:prstGeom prst="rect">
            <a:avLst/>
          </a:prstGeom>
          <a:noFill/>
          <a:ln/>
        </p:spPr>
        <p:txBody>
          <a:bodyPr wrap="square" lIns="0" tIns="0" rIns="0" bIns="0" rtlCol="0" anchor="t"/>
          <a:lstStyle/>
          <a:p>
            <a:pPr indent="0" marL="0">
              <a:buNone/>
            </a:pPr>
            <a:r>
              <a:rPr lang="en-US" sz="1150" dirty="0">
                <a:solidFill>
                  <a:srgbClr val="5F6B78"/>
                </a:solidFill>
                <a:latin typeface="Calibri" pitchFamily="34" charset="0"/>
                <a:ea typeface="Calibri" pitchFamily="34" charset="-122"/>
                <a:cs typeface="Calibri" pitchFamily="34" charset="-120"/>
              </a:rPr>
              <a:t>Azure test period (1 Sep 2015 onwards) advanced in 3-hour steps across 100 machines.</a:t>
            </a:r>
            <a:endParaRPr lang="en-US" sz="1150" dirty="0"/>
          </a:p>
        </p:txBody>
      </p:sp>
      <p:sp>
        <p:nvSpPr>
          <p:cNvPr id="10" name="Shape 7"/>
          <p:cNvSpPr/>
          <p:nvPr/>
        </p:nvSpPr>
        <p:spPr>
          <a:xfrm>
            <a:off x="3246120" y="1325880"/>
            <a:ext cx="2560320" cy="2103120"/>
          </a:xfrm>
          <a:prstGeom prst="roundRect">
            <a:avLst>
              <a:gd name="adj" fmla="val 3478"/>
            </a:avLst>
          </a:prstGeom>
          <a:solidFill>
            <a:srgbClr val="EEF2F5"/>
          </a:solidFill>
          <a:ln w="12700">
            <a:solidFill>
              <a:srgbClr val="EEF2F5"/>
            </a:solidFill>
            <a:prstDash val="solid"/>
          </a:ln>
        </p:spPr>
      </p:sp>
      <p:sp>
        <p:nvSpPr>
          <p:cNvPr id="11" name="Shape 8"/>
          <p:cNvSpPr/>
          <p:nvPr/>
        </p:nvSpPr>
        <p:spPr>
          <a:xfrm>
            <a:off x="3474720" y="1554480"/>
            <a:ext cx="548640" cy="548640"/>
          </a:xfrm>
          <a:prstGeom prst="ellipse">
            <a:avLst/>
          </a:prstGeom>
          <a:solidFill>
            <a:srgbClr val="34495E"/>
          </a:solidFill>
          <a:ln w="12700">
            <a:solidFill>
              <a:srgbClr val="34495E"/>
            </a:solidFill>
            <a:prstDash val="solid"/>
          </a:ln>
        </p:spPr>
      </p:sp>
      <p:pic>
        <p:nvPicPr>
          <p:cNvPr id="12" name="Image 1" descr="preencoded.png">    </p:cNvPr>
          <p:cNvPicPr>
            <a:picLocks noChangeAspect="1"/>
          </p:cNvPicPr>
          <p:nvPr/>
        </p:nvPicPr>
        <p:blipFill>
          <a:blip r:embed="rId2"/>
          <a:stretch>
            <a:fillRect/>
          </a:stretch>
        </p:blipFill>
        <p:spPr>
          <a:xfrm>
            <a:off x="3611880" y="1691640"/>
            <a:ext cx="274320" cy="274320"/>
          </a:xfrm>
          <a:prstGeom prst="rect">
            <a:avLst/>
          </a:prstGeom>
        </p:spPr>
      </p:pic>
      <p:sp>
        <p:nvSpPr>
          <p:cNvPr id="13" name="Text 9"/>
          <p:cNvSpPr txBox="1"/>
          <p:nvPr/>
        </p:nvSpPr>
        <p:spPr>
          <a:xfrm>
            <a:off x="3474720" y="2240280"/>
            <a:ext cx="2103120" cy="320040"/>
          </a:xfrm>
          <a:prstGeom prst="rect">
            <a:avLst/>
          </a:prstGeom>
          <a:noFill/>
          <a:ln/>
        </p:spPr>
        <p:txBody>
          <a:bodyPr wrap="square" lIns="0" tIns="0" rIns="0" bIns="0" rtlCol="0" anchor="t"/>
          <a:lstStyle/>
          <a:p>
            <a:pPr indent="0" marL="0">
              <a:buNone/>
            </a:pPr>
            <a:r>
              <a:rPr lang="en-US" sz="1600" b="1" dirty="0">
                <a:solidFill>
                  <a:srgbClr val="1B2631"/>
                </a:solidFill>
                <a:latin typeface="Calibri" pitchFamily="34" charset="0"/>
                <a:ea typeface="Calibri" pitchFamily="34" charset="-122"/>
                <a:cs typeface="Calibri" pitchFamily="34" charset="-120"/>
              </a:rPr>
              <a:t>Machining line</a:t>
            </a:r>
            <a:endParaRPr lang="en-US" sz="1600" dirty="0"/>
          </a:p>
        </p:txBody>
      </p:sp>
      <p:sp>
        <p:nvSpPr>
          <p:cNvPr id="14" name="Text 10"/>
          <p:cNvSpPr txBox="1"/>
          <p:nvPr/>
        </p:nvSpPr>
        <p:spPr>
          <a:xfrm>
            <a:off x="3474720" y="2606040"/>
            <a:ext cx="2103120" cy="731520"/>
          </a:xfrm>
          <a:prstGeom prst="rect">
            <a:avLst/>
          </a:prstGeom>
          <a:noFill/>
          <a:ln/>
        </p:spPr>
        <p:txBody>
          <a:bodyPr wrap="square" lIns="0" tIns="0" rIns="0" bIns="0" rtlCol="0" anchor="t"/>
          <a:lstStyle/>
          <a:p>
            <a:pPr indent="0" marL="0">
              <a:buNone/>
            </a:pPr>
            <a:r>
              <a:rPr lang="en-US" sz="1150" dirty="0">
                <a:solidFill>
                  <a:srgbClr val="5F6B78"/>
                </a:solidFill>
                <a:latin typeface="Calibri" pitchFamily="34" charset="0"/>
                <a:ea typeface="Calibri" pitchFamily="34" charset="-122"/>
                <a:cs typeface="Calibri" pitchFamily="34" charset="-120"/>
              </a:rPr>
              <a:t>AI4I 20% test cycles — including every failing cycle — replayed as the production line.</a:t>
            </a:r>
            <a:endParaRPr lang="en-US" sz="1150" dirty="0"/>
          </a:p>
        </p:txBody>
      </p:sp>
      <p:sp>
        <p:nvSpPr>
          <p:cNvPr id="15" name="Shape 11"/>
          <p:cNvSpPr/>
          <p:nvPr/>
        </p:nvSpPr>
        <p:spPr>
          <a:xfrm>
            <a:off x="6035040" y="1325880"/>
            <a:ext cx="2651760" cy="3383280"/>
          </a:xfrm>
          <a:prstGeom prst="roundRect">
            <a:avLst>
              <a:gd name="adj" fmla="val 2759"/>
            </a:avLst>
          </a:prstGeom>
          <a:solidFill>
            <a:srgbClr val="1B2631"/>
          </a:solidFill>
          <a:ln w="12700">
            <a:solidFill>
              <a:srgbClr val="1B2631"/>
            </a:solidFill>
            <a:prstDash val="solid"/>
          </a:ln>
        </p:spPr>
      </p:sp>
      <p:sp>
        <p:nvSpPr>
          <p:cNvPr id="16" name="Shape 12"/>
          <p:cNvSpPr/>
          <p:nvPr/>
        </p:nvSpPr>
        <p:spPr>
          <a:xfrm>
            <a:off x="6263640" y="1554480"/>
            <a:ext cx="548640" cy="548640"/>
          </a:xfrm>
          <a:prstGeom prst="ellipse">
            <a:avLst/>
          </a:prstGeom>
          <a:solidFill>
            <a:srgbClr val="E8910C"/>
          </a:solidFill>
          <a:ln w="12700">
            <a:solidFill>
              <a:srgbClr val="E8910C"/>
            </a:solidFill>
            <a:prstDash val="solid"/>
          </a:ln>
        </p:spPr>
      </p:sp>
      <p:pic>
        <p:nvPicPr>
          <p:cNvPr id="17" name="Image 2" descr="preencoded.png">    </p:cNvPr>
          <p:cNvPicPr>
            <a:picLocks noChangeAspect="1"/>
          </p:cNvPicPr>
          <p:nvPr/>
        </p:nvPicPr>
        <p:blipFill>
          <a:blip r:embed="rId3"/>
          <a:stretch>
            <a:fillRect/>
          </a:stretch>
        </p:blipFill>
        <p:spPr>
          <a:xfrm>
            <a:off x="6400800" y="1691640"/>
            <a:ext cx="274320" cy="274320"/>
          </a:xfrm>
          <a:prstGeom prst="rect">
            <a:avLst/>
          </a:prstGeom>
        </p:spPr>
      </p:pic>
      <p:sp>
        <p:nvSpPr>
          <p:cNvPr id="18" name="Text 13"/>
          <p:cNvSpPr txBox="1"/>
          <p:nvPr/>
        </p:nvSpPr>
        <p:spPr>
          <a:xfrm>
            <a:off x="6263640" y="2240280"/>
            <a:ext cx="2194560" cy="32004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No look-ahead</a:t>
            </a:r>
            <a:endParaRPr lang="en-US" sz="1600" dirty="0"/>
          </a:p>
        </p:txBody>
      </p:sp>
      <p:sp>
        <p:nvSpPr>
          <p:cNvPr id="19" name="Text 14"/>
          <p:cNvSpPr txBox="1"/>
          <p:nvPr/>
        </p:nvSpPr>
        <p:spPr>
          <a:xfrm>
            <a:off x="6263640" y="2606040"/>
            <a:ext cx="2240280" cy="201168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B8C4D0"/>
                </a:solidFill>
                <a:latin typeface="Calibri" pitchFamily="34" charset="0"/>
                <a:ea typeface="Calibri" pitchFamily="34" charset="-122"/>
                <a:cs typeface="Calibri" pitchFamily="34" charset="-120"/>
              </a:rPr>
              <a:t>Models &amp; agents see only the state at the current clock position</a:t>
            </a:r>
            <a:endParaRPr lang="en-US" sz="1100" dirty="0"/>
          </a:p>
          <a:p>
            <a:pPr marL="342900" indent="-342900">
              <a:spcAft>
                <a:spcPts val="400"/>
              </a:spcAft>
              <a:buSzPct val="100000"/>
              <a:buChar char="•"/>
            </a:pPr>
            <a:r>
              <a:rPr lang="en-US" sz="1100" dirty="0">
                <a:solidFill>
                  <a:srgbClr val="B8C4D0"/>
                </a:solidFill>
                <a:latin typeface="Calibri" pitchFamily="34" charset="0"/>
                <a:ea typeface="Calibri" pitchFamily="34" charset="-122"/>
                <a:cs typeface="Calibri" pitchFamily="34" charset="-120"/>
              </a:rPr>
              <a:t>Actual future failures appear only in a “ground truth” expander for demo evaluation</a:t>
            </a:r>
            <a:endParaRPr lang="en-US" sz="1100" dirty="0"/>
          </a:p>
          <a:p>
            <a:pPr marL="342900" indent="-342900">
              <a:spcAft>
                <a:spcPts val="400"/>
              </a:spcAft>
              <a:buSzPct val="100000"/>
              <a:buChar char="•"/>
            </a:pPr>
            <a:r>
              <a:rPr lang="en-US" sz="1100" dirty="0">
                <a:solidFill>
                  <a:srgbClr val="B8C4D0"/>
                </a:solidFill>
                <a:latin typeface="Calibri" pitchFamily="34" charset="0"/>
                <a:ea typeface="Calibri" pitchFamily="34" charset="-122"/>
                <a:cs typeface="Calibri" pitchFamily="34" charset="-120"/>
              </a:rPr>
              <a:t>Ground truth is never passed to the agents</a:t>
            </a:r>
            <a:endParaRPr lang="en-US" sz="1100" dirty="0"/>
          </a:p>
        </p:txBody>
      </p:sp>
      <p:sp>
        <p:nvSpPr>
          <p:cNvPr id="20" name="Shape 15"/>
          <p:cNvSpPr/>
          <p:nvPr/>
        </p:nvSpPr>
        <p:spPr>
          <a:xfrm>
            <a:off x="457200" y="3611880"/>
            <a:ext cx="5349240" cy="1097280"/>
          </a:xfrm>
          <a:prstGeom prst="roundRect">
            <a:avLst>
              <a:gd name="adj" fmla="val 6667"/>
            </a:avLst>
          </a:prstGeom>
          <a:solidFill>
            <a:srgbClr val="EEF2F5"/>
          </a:solidFill>
          <a:ln w="12700">
            <a:solidFill>
              <a:srgbClr val="EEF2F5"/>
            </a:solidFill>
            <a:prstDash val="solid"/>
          </a:ln>
        </p:spPr>
      </p:sp>
      <p:sp>
        <p:nvSpPr>
          <p:cNvPr id="21" name="Text 16"/>
          <p:cNvSpPr txBox="1"/>
          <p:nvPr/>
        </p:nvSpPr>
        <p:spPr>
          <a:xfrm>
            <a:off x="685800" y="3721608"/>
            <a:ext cx="4846320" cy="274320"/>
          </a:xfrm>
          <a:prstGeom prst="rect">
            <a:avLst/>
          </a:prstGeom>
          <a:noFill/>
          <a:ln/>
        </p:spPr>
        <p:txBody>
          <a:bodyPr wrap="square" lIns="0" tIns="0" rIns="0" bIns="0" rtlCol="0" anchor="t"/>
          <a:lstStyle/>
          <a:p>
            <a:pPr indent="0" marL="0">
              <a:buNone/>
            </a:pPr>
            <a:r>
              <a:rPr lang="en-US" sz="1300" b="1" dirty="0">
                <a:solidFill>
                  <a:srgbClr val="1B2631"/>
                </a:solidFill>
                <a:latin typeface="Calibri" pitchFamily="34" charset="0"/>
                <a:ea typeface="Calibri" pitchFamily="34" charset="-122"/>
                <a:cs typeface="Calibri" pitchFamily="34" charset="-120"/>
              </a:rPr>
              <a:t>Sidebar controls</a:t>
            </a:r>
            <a:endParaRPr lang="en-US" sz="1300" dirty="0"/>
          </a:p>
        </p:txBody>
      </p:sp>
      <p:sp>
        <p:nvSpPr>
          <p:cNvPr id="22" name="Text 17"/>
          <p:cNvSpPr txBox="1"/>
          <p:nvPr/>
        </p:nvSpPr>
        <p:spPr>
          <a:xfrm>
            <a:off x="685800" y="4023360"/>
            <a:ext cx="4937760" cy="594360"/>
          </a:xfrm>
          <a:prstGeom prst="rect">
            <a:avLst/>
          </a:prstGeom>
          <a:noFill/>
          <a:ln/>
        </p:spPr>
        <p:txBody>
          <a:bodyPr wrap="square" lIns="0" tIns="0" rIns="0" bIns="0" rtlCol="0" anchor="t"/>
          <a:lstStyle/>
          <a:p>
            <a:pPr indent="0" marL="0">
              <a:buNone/>
            </a:pPr>
            <a:r>
              <a:rPr lang="en-US" sz="1100" dirty="0">
                <a:solidFill>
                  <a:srgbClr val="5F6B78"/>
                </a:solidFill>
                <a:latin typeface="Calibri" pitchFamily="34" charset="0"/>
                <a:ea typeface="Calibri" pitchFamily="34" charset="-122"/>
                <a:cs typeface="Calibri" pitchFamily="34" charset="-120"/>
              </a:rPr>
              <a:t>Factory clock slider · +3 h · +1 day · production-cycle picker · active decision engine (Ollama / Claude / rule-based).</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000" b="1" spc="200" kern="0" dirty="0">
                <a:solidFill>
                  <a:srgbClr val="E8910C"/>
                </a:solidFill>
                <a:latin typeface="Calibri" pitchFamily="34" charset="0"/>
                <a:ea typeface="Calibri" pitchFamily="34" charset="-122"/>
                <a:cs typeface="Calibri" pitchFamily="34" charset="-120"/>
              </a:rPr>
              <a:t>05 · DATA PIPELINE</a:t>
            </a:r>
            <a:endParaRPr lang="en-US" sz="10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1B2631"/>
                </a:solidFill>
                <a:latin typeface="Calibri" pitchFamily="34" charset="0"/>
                <a:ea typeface="Calibri" pitchFamily="34" charset="-122"/>
                <a:cs typeface="Calibri" pitchFamily="34" charset="-120"/>
              </a:rPr>
              <a:t>Three commands from raw data to trained models</a:t>
            </a:r>
            <a:endParaRPr lang="en-US" sz="2800" dirty="0"/>
          </a:p>
        </p:txBody>
      </p:sp>
      <p:sp>
        <p:nvSpPr>
          <p:cNvPr id="4" name="Text 2"/>
          <p:cNvSpPr txBox="1"/>
          <p:nvPr/>
        </p:nvSpPr>
        <p:spPr>
          <a:xfrm>
            <a:off x="7315200" y="4846320"/>
            <a:ext cx="1371600" cy="182880"/>
          </a:xfrm>
          <a:prstGeom prst="rect">
            <a:avLst/>
          </a:prstGeom>
          <a:noFill/>
          <a:ln/>
        </p:spPr>
        <p:txBody>
          <a:bodyPr wrap="square" lIns="0" tIns="0" rIns="0" bIns="0" rtlCol="0" anchor="t"/>
          <a:lstStyle/>
          <a:p>
            <a:pPr algn="r" indent="0" marL="0">
              <a:buNone/>
            </a:pPr>
            <a:r>
              <a:rPr lang="en-US" sz="900" dirty="0">
                <a:solidFill>
                  <a:srgbClr val="5F6B78"/>
                </a:solidFill>
                <a:latin typeface="Calibri" pitchFamily="34" charset="0"/>
                <a:ea typeface="Calibri" pitchFamily="34" charset="-122"/>
                <a:cs typeface="Calibri" pitchFamily="34" charset="-120"/>
              </a:rPr>
              <a:t>SMPO  ·  9</a:t>
            </a:r>
            <a:endParaRPr lang="en-US" sz="900" dirty="0"/>
          </a:p>
        </p:txBody>
      </p:sp>
      <p:sp>
        <p:nvSpPr>
          <p:cNvPr id="5" name="Shape 3"/>
          <p:cNvSpPr/>
          <p:nvPr/>
        </p:nvSpPr>
        <p:spPr>
          <a:xfrm>
            <a:off x="457200" y="1280160"/>
            <a:ext cx="2606040" cy="731520"/>
          </a:xfrm>
          <a:prstGeom prst="roundRect">
            <a:avLst>
              <a:gd name="adj" fmla="val 7500"/>
            </a:avLst>
          </a:prstGeom>
          <a:solidFill>
            <a:srgbClr val="1B2631"/>
          </a:solidFill>
          <a:ln w="12700">
            <a:solidFill>
              <a:srgbClr val="1B2631"/>
            </a:solidFill>
            <a:prstDash val="solid"/>
          </a:ln>
        </p:spPr>
      </p:sp>
      <p:sp>
        <p:nvSpPr>
          <p:cNvPr id="6" name="Text 4"/>
          <p:cNvSpPr txBox="1"/>
          <p:nvPr/>
        </p:nvSpPr>
        <p:spPr>
          <a:xfrm>
            <a:off x="566928" y="1344168"/>
            <a:ext cx="2423160" cy="274320"/>
          </a:xfrm>
          <a:prstGeom prst="rect">
            <a:avLst/>
          </a:prstGeom>
          <a:noFill/>
          <a:ln/>
        </p:spPr>
        <p:txBody>
          <a:bodyPr wrap="square" lIns="0" tIns="0" rIns="0" bIns="0" rtlCol="0" anchor="t"/>
          <a:lstStyle/>
          <a:p>
            <a:pPr indent="0" marL="0">
              <a:buNone/>
            </a:pPr>
            <a:r>
              <a:rPr lang="en-US" sz="1000" b="1" dirty="0">
                <a:solidFill>
                  <a:srgbClr val="E8910C"/>
                </a:solidFill>
                <a:latin typeface="Courier New" pitchFamily="34" charset="0"/>
                <a:ea typeface="Courier New" pitchFamily="34" charset="-122"/>
                <a:cs typeface="Courier New" pitchFamily="34" charset="-120"/>
              </a:rPr>
              <a:t>python -m src.data.download</a:t>
            </a:r>
            <a:endParaRPr lang="en-US" sz="1000" dirty="0"/>
          </a:p>
        </p:txBody>
      </p:sp>
      <p:sp>
        <p:nvSpPr>
          <p:cNvPr id="7" name="Text 5"/>
          <p:cNvSpPr txBox="1"/>
          <p:nvPr/>
        </p:nvSpPr>
        <p:spPr>
          <a:xfrm>
            <a:off x="566928" y="1645920"/>
            <a:ext cx="2423160" cy="274320"/>
          </a:xfrm>
          <a:prstGeom prst="rect">
            <a:avLst/>
          </a:prstGeom>
          <a:noFill/>
          <a:ln/>
        </p:spPr>
        <p:txBody>
          <a:bodyPr wrap="square" lIns="0" tIns="0" rIns="0" bIns="0" rtlCol="0" anchor="t"/>
          <a:lstStyle/>
          <a:p>
            <a:pPr indent="0" marL="0">
              <a:buNone/>
            </a:pPr>
            <a:r>
              <a:rPr lang="en-US" sz="900" dirty="0">
                <a:solidFill>
                  <a:srgbClr val="B8C4D0"/>
                </a:solidFill>
                <a:latin typeface="Calibri" pitchFamily="34" charset="0"/>
                <a:ea typeface="Calibri" pitchFamily="34" charset="-122"/>
                <a:cs typeface="Calibri" pitchFamily="34" charset="-120"/>
              </a:rPr>
              <a:t>→ data/raw/*.csv  (~80 MB)</a:t>
            </a:r>
            <a:endParaRPr lang="en-US" sz="900" dirty="0"/>
          </a:p>
        </p:txBody>
      </p:sp>
      <p:sp>
        <p:nvSpPr>
          <p:cNvPr id="8" name="Text 6"/>
          <p:cNvSpPr txBox="1"/>
          <p:nvPr/>
        </p:nvSpPr>
        <p:spPr>
          <a:xfrm>
            <a:off x="3063240" y="1280160"/>
            <a:ext cx="182880" cy="731520"/>
          </a:xfrm>
          <a:prstGeom prst="rect">
            <a:avLst/>
          </a:prstGeom>
          <a:noFill/>
          <a:ln/>
        </p:spPr>
        <p:txBody>
          <a:bodyPr wrap="square" lIns="0" tIns="0" rIns="0" bIns="0" rtlCol="0" anchor="ctr"/>
          <a:lstStyle/>
          <a:p>
            <a:pPr algn="ctr" indent="0" marL="0">
              <a:buNone/>
            </a:pPr>
            <a:r>
              <a:rPr lang="en-US" sz="2200" b="1" dirty="0">
                <a:solidFill>
                  <a:srgbClr val="E8910C"/>
                </a:solidFill>
                <a:latin typeface="Calibri" pitchFamily="34" charset="0"/>
                <a:ea typeface="Calibri" pitchFamily="34" charset="-122"/>
                <a:cs typeface="Calibri" pitchFamily="34" charset="-120"/>
              </a:rPr>
              <a:t>›</a:t>
            </a:r>
            <a:endParaRPr lang="en-US" sz="2200" dirty="0"/>
          </a:p>
        </p:txBody>
      </p:sp>
      <p:sp>
        <p:nvSpPr>
          <p:cNvPr id="9" name="Shape 7"/>
          <p:cNvSpPr/>
          <p:nvPr/>
        </p:nvSpPr>
        <p:spPr>
          <a:xfrm>
            <a:off x="3246120" y="1280160"/>
            <a:ext cx="2606040" cy="731520"/>
          </a:xfrm>
          <a:prstGeom prst="roundRect">
            <a:avLst>
              <a:gd name="adj" fmla="val 7500"/>
            </a:avLst>
          </a:prstGeom>
          <a:solidFill>
            <a:srgbClr val="1B2631"/>
          </a:solidFill>
          <a:ln w="12700">
            <a:solidFill>
              <a:srgbClr val="1B2631"/>
            </a:solidFill>
            <a:prstDash val="solid"/>
          </a:ln>
        </p:spPr>
      </p:sp>
      <p:sp>
        <p:nvSpPr>
          <p:cNvPr id="10" name="Text 8"/>
          <p:cNvSpPr txBox="1"/>
          <p:nvPr/>
        </p:nvSpPr>
        <p:spPr>
          <a:xfrm>
            <a:off x="3355848" y="1344168"/>
            <a:ext cx="2423160" cy="274320"/>
          </a:xfrm>
          <a:prstGeom prst="rect">
            <a:avLst/>
          </a:prstGeom>
          <a:noFill/>
          <a:ln/>
        </p:spPr>
        <p:txBody>
          <a:bodyPr wrap="square" lIns="0" tIns="0" rIns="0" bIns="0" rtlCol="0" anchor="t"/>
          <a:lstStyle/>
          <a:p>
            <a:pPr indent="0" marL="0">
              <a:buNone/>
            </a:pPr>
            <a:r>
              <a:rPr lang="en-US" sz="1000" b="1" dirty="0">
                <a:solidFill>
                  <a:srgbClr val="E8910C"/>
                </a:solidFill>
                <a:latin typeface="Courier New" pitchFamily="34" charset="0"/>
                <a:ea typeface="Courier New" pitchFamily="34" charset="-122"/>
                <a:cs typeface="Courier New" pitchFamily="34" charset="-120"/>
              </a:rPr>
              <a:t>python -m src.data.features</a:t>
            </a:r>
            <a:endParaRPr lang="en-US" sz="1000" dirty="0"/>
          </a:p>
        </p:txBody>
      </p:sp>
      <p:sp>
        <p:nvSpPr>
          <p:cNvPr id="11" name="Text 9"/>
          <p:cNvSpPr txBox="1"/>
          <p:nvPr/>
        </p:nvSpPr>
        <p:spPr>
          <a:xfrm>
            <a:off x="3355848" y="1645920"/>
            <a:ext cx="2423160" cy="274320"/>
          </a:xfrm>
          <a:prstGeom prst="rect">
            <a:avLst/>
          </a:prstGeom>
          <a:noFill/>
          <a:ln/>
        </p:spPr>
        <p:txBody>
          <a:bodyPr wrap="square" lIns="0" tIns="0" rIns="0" bIns="0" rtlCol="0" anchor="t"/>
          <a:lstStyle/>
          <a:p>
            <a:pPr indent="0" marL="0">
              <a:buNone/>
            </a:pPr>
            <a:r>
              <a:rPr lang="en-US" sz="900" dirty="0">
                <a:solidFill>
                  <a:srgbClr val="B8C4D0"/>
                </a:solidFill>
                <a:latin typeface="Calibri" pitchFamily="34" charset="0"/>
                <a:ea typeface="Calibri" pitchFamily="34" charset="-122"/>
                <a:cs typeface="Calibri" pitchFamily="34" charset="-120"/>
              </a:rPr>
              <a:t>→ ai4i / azure_features.parquet  (~10 s)</a:t>
            </a:r>
            <a:endParaRPr lang="en-US" sz="900" dirty="0"/>
          </a:p>
        </p:txBody>
      </p:sp>
      <p:sp>
        <p:nvSpPr>
          <p:cNvPr id="12" name="Text 10"/>
          <p:cNvSpPr txBox="1"/>
          <p:nvPr/>
        </p:nvSpPr>
        <p:spPr>
          <a:xfrm>
            <a:off x="5852160" y="1280160"/>
            <a:ext cx="182880" cy="731520"/>
          </a:xfrm>
          <a:prstGeom prst="rect">
            <a:avLst/>
          </a:prstGeom>
          <a:noFill/>
          <a:ln/>
        </p:spPr>
        <p:txBody>
          <a:bodyPr wrap="square" lIns="0" tIns="0" rIns="0" bIns="0" rtlCol="0" anchor="ctr"/>
          <a:lstStyle/>
          <a:p>
            <a:pPr algn="ctr" indent="0" marL="0">
              <a:buNone/>
            </a:pPr>
            <a:r>
              <a:rPr lang="en-US" sz="2200" b="1" dirty="0">
                <a:solidFill>
                  <a:srgbClr val="E8910C"/>
                </a:solidFill>
                <a:latin typeface="Calibri" pitchFamily="34" charset="0"/>
                <a:ea typeface="Calibri" pitchFamily="34" charset="-122"/>
                <a:cs typeface="Calibri" pitchFamily="34" charset="-120"/>
              </a:rPr>
              <a:t>›</a:t>
            </a:r>
            <a:endParaRPr lang="en-US" sz="2200" dirty="0"/>
          </a:p>
        </p:txBody>
      </p:sp>
      <p:sp>
        <p:nvSpPr>
          <p:cNvPr id="13" name="Shape 11"/>
          <p:cNvSpPr/>
          <p:nvPr/>
        </p:nvSpPr>
        <p:spPr>
          <a:xfrm>
            <a:off x="6035040" y="1280160"/>
            <a:ext cx="2606040" cy="731520"/>
          </a:xfrm>
          <a:prstGeom prst="roundRect">
            <a:avLst>
              <a:gd name="adj" fmla="val 7500"/>
            </a:avLst>
          </a:prstGeom>
          <a:solidFill>
            <a:srgbClr val="1B2631"/>
          </a:solidFill>
          <a:ln w="12700">
            <a:solidFill>
              <a:srgbClr val="1B2631"/>
            </a:solidFill>
            <a:prstDash val="solid"/>
          </a:ln>
        </p:spPr>
      </p:sp>
      <p:sp>
        <p:nvSpPr>
          <p:cNvPr id="14" name="Text 12"/>
          <p:cNvSpPr txBox="1"/>
          <p:nvPr/>
        </p:nvSpPr>
        <p:spPr>
          <a:xfrm>
            <a:off x="6144768" y="1344168"/>
            <a:ext cx="2423160" cy="274320"/>
          </a:xfrm>
          <a:prstGeom prst="rect">
            <a:avLst/>
          </a:prstGeom>
          <a:noFill/>
          <a:ln/>
        </p:spPr>
        <p:txBody>
          <a:bodyPr wrap="square" lIns="0" tIns="0" rIns="0" bIns="0" rtlCol="0" anchor="t"/>
          <a:lstStyle/>
          <a:p>
            <a:pPr indent="0" marL="0">
              <a:buNone/>
            </a:pPr>
            <a:r>
              <a:rPr lang="en-US" sz="1000" b="1" dirty="0">
                <a:solidFill>
                  <a:srgbClr val="E8910C"/>
                </a:solidFill>
                <a:latin typeface="Courier New" pitchFamily="34" charset="0"/>
                <a:ea typeface="Courier New" pitchFamily="34" charset="-122"/>
                <a:cs typeface="Courier New" pitchFamily="34" charset="-120"/>
              </a:rPr>
              <a:t>python -m src.models.train</a:t>
            </a:r>
            <a:endParaRPr lang="en-US" sz="1000" dirty="0"/>
          </a:p>
        </p:txBody>
      </p:sp>
      <p:sp>
        <p:nvSpPr>
          <p:cNvPr id="15" name="Text 13"/>
          <p:cNvSpPr txBox="1"/>
          <p:nvPr/>
        </p:nvSpPr>
        <p:spPr>
          <a:xfrm>
            <a:off x="6144768" y="1645920"/>
            <a:ext cx="2423160" cy="274320"/>
          </a:xfrm>
          <a:prstGeom prst="rect">
            <a:avLst/>
          </a:prstGeom>
          <a:noFill/>
          <a:ln/>
        </p:spPr>
        <p:txBody>
          <a:bodyPr wrap="square" lIns="0" tIns="0" rIns="0" bIns="0" rtlCol="0" anchor="t"/>
          <a:lstStyle/>
          <a:p>
            <a:pPr indent="0" marL="0">
              <a:buNone/>
            </a:pPr>
            <a:r>
              <a:rPr lang="en-US" sz="900" dirty="0">
                <a:solidFill>
                  <a:srgbClr val="B8C4D0"/>
                </a:solidFill>
                <a:latin typeface="Calibri" pitchFamily="34" charset="0"/>
                <a:ea typeface="Calibri" pitchFamily="34" charset="-122"/>
                <a:cs typeface="Calibri" pitchFamily="34" charset="-120"/>
              </a:rPr>
              <a:t>→ models/*.joblib, reports/metrics.json  (~1 min)</a:t>
            </a:r>
            <a:endParaRPr lang="en-US" sz="900" dirty="0"/>
          </a:p>
        </p:txBody>
      </p:sp>
      <p:sp>
        <p:nvSpPr>
          <p:cNvPr id="16" name="Shape 14"/>
          <p:cNvSpPr/>
          <p:nvPr/>
        </p:nvSpPr>
        <p:spPr>
          <a:xfrm>
            <a:off x="457200" y="2240280"/>
            <a:ext cx="4023360" cy="2468880"/>
          </a:xfrm>
          <a:prstGeom prst="roundRect">
            <a:avLst>
              <a:gd name="adj" fmla="val 2963"/>
            </a:avLst>
          </a:prstGeom>
          <a:solidFill>
            <a:srgbClr val="EEF2F5"/>
          </a:solidFill>
          <a:ln w="12700">
            <a:solidFill>
              <a:srgbClr val="EEF2F5"/>
            </a:solidFill>
            <a:prstDash val="solid"/>
          </a:ln>
        </p:spPr>
      </p:sp>
      <p:sp>
        <p:nvSpPr>
          <p:cNvPr id="17" name="Text 15"/>
          <p:cNvSpPr txBox="1"/>
          <p:nvPr/>
        </p:nvSpPr>
        <p:spPr>
          <a:xfrm>
            <a:off x="640080" y="2350008"/>
            <a:ext cx="3657600" cy="274320"/>
          </a:xfrm>
          <a:prstGeom prst="rect">
            <a:avLst/>
          </a:prstGeom>
          <a:noFill/>
          <a:ln/>
        </p:spPr>
        <p:txBody>
          <a:bodyPr wrap="square" lIns="0" tIns="0" rIns="0" bIns="0" rtlCol="0" anchor="t"/>
          <a:lstStyle/>
          <a:p>
            <a:pPr indent="0" marL="0">
              <a:buNone/>
            </a:pPr>
            <a:r>
              <a:rPr lang="en-US" sz="1300" b="1" dirty="0">
                <a:solidFill>
                  <a:srgbClr val="1B2631"/>
                </a:solidFill>
                <a:latin typeface="Calibri" pitchFamily="34" charset="0"/>
                <a:ea typeface="Calibri" pitchFamily="34" charset="-122"/>
                <a:cs typeface="Calibri" pitchFamily="34" charset="-120"/>
              </a:rPr>
              <a:t>AI4I features — per production cycle</a:t>
            </a:r>
            <a:endParaRPr lang="en-US" sz="1300" dirty="0"/>
          </a:p>
        </p:txBody>
      </p:sp>
      <p:sp>
        <p:nvSpPr>
          <p:cNvPr id="18" name="Text 16"/>
          <p:cNvSpPr txBox="1"/>
          <p:nvPr/>
        </p:nvSpPr>
        <p:spPr>
          <a:xfrm>
            <a:off x="640080" y="2670048"/>
            <a:ext cx="3703320" cy="196596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1B2631"/>
                </a:solidFill>
                <a:latin typeface="Calibri" pitchFamily="34" charset="0"/>
                <a:ea typeface="Calibri" pitchFamily="34" charset="-122"/>
                <a:cs typeface="Calibri" pitchFamily="34" charset="-120"/>
              </a:rPr>
              <a:t>temp_diff_k: process − air temp (HDF when &lt; 8.6 K at low speed)</a:t>
            </a:r>
            <a:endParaRPr lang="en-US" sz="1050" dirty="0"/>
          </a:p>
          <a:p>
            <a:pPr marL="342900" indent="-342900">
              <a:spcAft>
                <a:spcPts val="400"/>
              </a:spcAft>
              <a:buSzPct val="100000"/>
              <a:buChar char="•"/>
            </a:pPr>
            <a:r>
              <a:rPr lang="en-US" sz="1050" dirty="0">
                <a:solidFill>
                  <a:srgbClr val="1B2631"/>
                </a:solidFill>
                <a:latin typeface="Calibri" pitchFamily="34" charset="0"/>
                <a:ea typeface="Calibri" pitchFamily="34" charset="-122"/>
                <a:cs typeface="Calibri" pitchFamily="34" charset="-120"/>
              </a:rPr>
              <a:t>power_w: torque × rpm × 2π/60 (PWF outside 3,500–9,000 W)</a:t>
            </a:r>
            <a:endParaRPr lang="en-US" sz="1050" dirty="0"/>
          </a:p>
          <a:p>
            <a:pPr marL="342900" indent="-342900">
              <a:spcAft>
                <a:spcPts val="400"/>
              </a:spcAft>
              <a:buSzPct val="100000"/>
              <a:buChar char="•"/>
            </a:pPr>
            <a:r>
              <a:rPr lang="en-US" sz="1050" dirty="0">
                <a:solidFill>
                  <a:srgbClr val="1B2631"/>
                </a:solidFill>
                <a:latin typeface="Calibri" pitchFamily="34" charset="0"/>
                <a:ea typeface="Calibri" pitchFamily="34" charset="-122"/>
                <a:cs typeface="Calibri" pitchFamily="34" charset="-120"/>
              </a:rPr>
              <a:t>strain_minnm: tool wear × torque (OSF &gt; 11k/12k/13k for L/M/H)</a:t>
            </a:r>
            <a:endParaRPr lang="en-US" sz="1050" dirty="0"/>
          </a:p>
          <a:p>
            <a:pPr marL="342900" indent="-342900">
              <a:spcAft>
                <a:spcPts val="400"/>
              </a:spcAft>
              <a:buSzPct val="100000"/>
              <a:buChar char="•"/>
            </a:pPr>
            <a:r>
              <a:rPr lang="en-US" sz="1050" dirty="0">
                <a:solidFill>
                  <a:srgbClr val="1B2631"/>
                </a:solidFill>
                <a:latin typeface="Calibri" pitchFamily="34" charset="0"/>
                <a:ea typeface="Calibri" pitchFamily="34" charset="-122"/>
                <a:cs typeface="Calibri" pitchFamily="34" charset="-120"/>
              </a:rPr>
              <a:t>strain_ratio, type_code, raw setpoints</a:t>
            </a:r>
            <a:endParaRPr lang="en-US" sz="1050" dirty="0"/>
          </a:p>
          <a:p>
            <a:pPr marL="342900" indent="-342900">
              <a:spcAft>
                <a:spcPts val="400"/>
              </a:spcAft>
              <a:buSzPct val="100000"/>
              <a:buChar char="•"/>
            </a:pPr>
            <a:r>
              <a:rPr lang="en-US" sz="1050" b="1" dirty="0">
                <a:solidFill>
                  <a:srgbClr val="138D75"/>
                </a:solidFill>
                <a:latin typeface="Calibri" pitchFamily="34" charset="0"/>
                <a:ea typeface="Calibri" pitchFamily="34" charset="-122"/>
                <a:cs typeface="Calibri" pitchFamily="34" charset="-120"/>
              </a:rPr>
              <a:t>Physics-rule flags → hard, explainable evidence; covers tool wear (flag from 190 min)</a:t>
            </a:r>
            <a:endParaRPr lang="en-US" sz="1050" dirty="0"/>
          </a:p>
        </p:txBody>
      </p:sp>
      <p:sp>
        <p:nvSpPr>
          <p:cNvPr id="19" name="Shape 17"/>
          <p:cNvSpPr/>
          <p:nvPr/>
        </p:nvSpPr>
        <p:spPr>
          <a:xfrm>
            <a:off x="4663440" y="2240280"/>
            <a:ext cx="4023360" cy="2468880"/>
          </a:xfrm>
          <a:prstGeom prst="roundRect">
            <a:avLst>
              <a:gd name="adj" fmla="val 2963"/>
            </a:avLst>
          </a:prstGeom>
          <a:solidFill>
            <a:srgbClr val="EEF2F5"/>
          </a:solidFill>
          <a:ln w="12700">
            <a:solidFill>
              <a:srgbClr val="EEF2F5"/>
            </a:solidFill>
            <a:prstDash val="solid"/>
          </a:ln>
        </p:spPr>
      </p:sp>
      <p:sp>
        <p:nvSpPr>
          <p:cNvPr id="20" name="Text 18"/>
          <p:cNvSpPr txBox="1"/>
          <p:nvPr/>
        </p:nvSpPr>
        <p:spPr>
          <a:xfrm>
            <a:off x="4846320" y="2350008"/>
            <a:ext cx="3657600" cy="274320"/>
          </a:xfrm>
          <a:prstGeom prst="rect">
            <a:avLst/>
          </a:prstGeom>
          <a:noFill/>
          <a:ln/>
        </p:spPr>
        <p:txBody>
          <a:bodyPr wrap="square" lIns="0" tIns="0" rIns="0" bIns="0" rtlCol="0" anchor="t"/>
          <a:lstStyle/>
          <a:p>
            <a:pPr indent="0" marL="0">
              <a:buNone/>
            </a:pPr>
            <a:r>
              <a:rPr lang="en-US" sz="1300" b="1" dirty="0">
                <a:solidFill>
                  <a:srgbClr val="1B2631"/>
                </a:solidFill>
                <a:latin typeface="Calibri" pitchFamily="34" charset="0"/>
                <a:ea typeface="Calibri" pitchFamily="34" charset="-122"/>
                <a:cs typeface="Calibri" pitchFamily="34" charset="-120"/>
              </a:rPr>
              <a:t>Azure features — per machine, every 3 h</a:t>
            </a:r>
            <a:endParaRPr lang="en-US" sz="1300" dirty="0"/>
          </a:p>
        </p:txBody>
      </p:sp>
      <p:sp>
        <p:nvSpPr>
          <p:cNvPr id="21" name="Text 19"/>
          <p:cNvSpPr txBox="1"/>
          <p:nvPr/>
        </p:nvSpPr>
        <p:spPr>
          <a:xfrm>
            <a:off x="4846320" y="2670048"/>
            <a:ext cx="2514600" cy="196596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1B2631"/>
                </a:solidFill>
                <a:latin typeface="Calibri" pitchFamily="34" charset="0"/>
                <a:ea typeface="Calibri" pitchFamily="34" charset="-122"/>
                <a:cs typeface="Calibri" pitchFamily="34" charset="-120"/>
              </a:rPr>
              <a:t>Telemetry: volt, rotate, pressure, vibration + 3 h / 24 h rolling mean &amp; std</a:t>
            </a:r>
            <a:endParaRPr lang="en-US" sz="1050" dirty="0"/>
          </a:p>
          <a:p>
            <a:pPr marL="342900" indent="-342900">
              <a:spcAft>
                <a:spcPts val="400"/>
              </a:spcAft>
              <a:buSzPct val="100000"/>
              <a:buChar char="•"/>
            </a:pPr>
            <a:r>
              <a:rPr lang="en-US" sz="1050" dirty="0">
                <a:solidFill>
                  <a:srgbClr val="1B2631"/>
                </a:solidFill>
                <a:latin typeface="Calibri" pitchFamily="34" charset="0"/>
                <a:ea typeface="Calibri" pitchFamily="34" charset="-122"/>
                <a:cs typeface="Calibri" pitchFamily="34" charset="-120"/>
              </a:rPr>
              <a:t>Errors: count of error1–error5 in the last 24 h</a:t>
            </a:r>
            <a:endParaRPr lang="en-US" sz="1050" dirty="0"/>
          </a:p>
          <a:p>
            <a:pPr marL="342900" indent="-342900">
              <a:spcAft>
                <a:spcPts val="400"/>
              </a:spcAft>
              <a:buSzPct val="100000"/>
              <a:buChar char="•"/>
            </a:pPr>
            <a:r>
              <a:rPr lang="en-US" sz="1050" dirty="0">
                <a:solidFill>
                  <a:srgbClr val="1B2631"/>
                </a:solidFill>
                <a:latin typeface="Calibri" pitchFamily="34" charset="0"/>
                <a:ea typeface="Calibri" pitchFamily="34" charset="-122"/>
                <a:cs typeface="Calibri" pitchFamily="34" charset="-120"/>
              </a:rPr>
              <a:t>Component age: days since last replacement (strictly before t — no leakage)</a:t>
            </a:r>
            <a:endParaRPr lang="en-US" sz="1050" dirty="0"/>
          </a:p>
          <a:p>
            <a:pPr marL="342900" indent="-342900">
              <a:spcAft>
                <a:spcPts val="400"/>
              </a:spcAft>
              <a:buSzPct val="100000"/>
              <a:buChar char="•"/>
            </a:pPr>
            <a:r>
              <a:rPr lang="en-US" sz="1050" dirty="0">
                <a:solidFill>
                  <a:srgbClr val="1B2631"/>
                </a:solidFill>
                <a:latin typeface="Calibri" pitchFamily="34" charset="0"/>
                <a:ea typeface="Calibri" pitchFamily="34" charset="-122"/>
                <a:cs typeface="Calibri" pitchFamily="34" charset="-120"/>
              </a:rPr>
              <a:t>Machine: model, age</a:t>
            </a:r>
            <a:endParaRPr lang="en-US" sz="1050" dirty="0"/>
          </a:p>
          <a:p>
            <a:pPr marL="342900" indent="-342900">
              <a:spcAft>
                <a:spcPts val="400"/>
              </a:spcAft>
              <a:buSzPct val="100000"/>
              <a:buChar char="•"/>
            </a:pPr>
            <a:r>
              <a:rPr lang="en-US" sz="1050" dirty="0">
                <a:solidFill>
                  <a:srgbClr val="1B2631"/>
                </a:solidFill>
                <a:latin typeface="Calibri" pitchFamily="34" charset="0"/>
                <a:ea typeface="Calibri" pitchFamily="34" charset="-122"/>
                <a:cs typeface="Calibri" pitchFamily="34" charset="-120"/>
              </a:rPr>
              <a:t>Labels: component fails within 24 h / 7 days (strictly after t)</a:t>
            </a:r>
            <a:endParaRPr lang="en-US" sz="1050" dirty="0"/>
          </a:p>
        </p:txBody>
      </p:sp>
      <p:sp>
        <p:nvSpPr>
          <p:cNvPr id="22" name="Text 20"/>
          <p:cNvSpPr txBox="1"/>
          <p:nvPr/>
        </p:nvSpPr>
        <p:spPr>
          <a:xfrm>
            <a:off x="7452360" y="3017520"/>
            <a:ext cx="1143000" cy="822960"/>
          </a:xfrm>
          <a:prstGeom prst="rect">
            <a:avLst/>
          </a:prstGeom>
          <a:noFill/>
          <a:ln/>
        </p:spPr>
        <p:txBody>
          <a:bodyPr wrap="square" lIns="0" tIns="0" rIns="0" bIns="0" rtlCol="0" anchor="t"/>
          <a:lstStyle/>
          <a:p>
            <a:pPr algn="ctr" indent="0" marL="0">
              <a:buNone/>
            </a:pPr>
            <a:r>
              <a:rPr lang="en-US" sz="2200" b="1" dirty="0">
                <a:solidFill>
                  <a:srgbClr val="E8910C"/>
                </a:solidFill>
                <a:latin typeface="Calibri" pitchFamily="34" charset="0"/>
                <a:ea typeface="Calibri" pitchFamily="34" charset="-122"/>
                <a:cs typeface="Calibri" pitchFamily="34" charset="-120"/>
              </a:rPr>
              <a:t>292,100</a:t>
            </a:r>
            <a:endParaRPr lang="en-US" sz="2200" dirty="0"/>
          </a:p>
          <a:p>
            <a:pPr algn="ctr" indent="0" marL="0">
              <a:buNone/>
            </a:pPr>
            <a:r>
              <a:rPr lang="en-US" sz="1000" dirty="0">
                <a:solidFill>
                  <a:srgbClr val="5F6B78"/>
                </a:solidFill>
                <a:latin typeface="Calibri" pitchFamily="34" charset="0"/>
                <a:ea typeface="Calibri" pitchFamily="34" charset="-122"/>
                <a:cs typeface="Calibri" pitchFamily="34" charset="-120"/>
              </a:rPr>
              <a:t>rows × 41 columns</a:t>
            </a:r>
            <a:endParaRPr lang="en-US" sz="2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000" b="1" spc="200" kern="0" dirty="0">
                <a:solidFill>
                  <a:srgbClr val="E8910C"/>
                </a:solidFill>
                <a:latin typeface="Calibri" pitchFamily="34" charset="0"/>
                <a:ea typeface="Calibri" pitchFamily="34" charset="-122"/>
                <a:cs typeface="Calibri" pitchFamily="34" charset="-120"/>
              </a:rPr>
              <a:t>06 · PREDICTIVE MODELS</a:t>
            </a:r>
            <a:endParaRPr lang="en-US" sz="10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1B2631"/>
                </a:solidFill>
                <a:latin typeface="Calibri" pitchFamily="34" charset="0"/>
                <a:ea typeface="Calibri" pitchFamily="34" charset="-122"/>
                <a:cs typeface="Calibri" pitchFamily="34" charset="-120"/>
              </a:rPr>
              <a:t>Seven model families, all explainable</a:t>
            </a:r>
            <a:endParaRPr lang="en-US" sz="2800" dirty="0"/>
          </a:p>
        </p:txBody>
      </p:sp>
      <p:sp>
        <p:nvSpPr>
          <p:cNvPr id="4" name="Text 2"/>
          <p:cNvSpPr txBox="1"/>
          <p:nvPr/>
        </p:nvSpPr>
        <p:spPr>
          <a:xfrm>
            <a:off x="7315200" y="4846320"/>
            <a:ext cx="1371600" cy="182880"/>
          </a:xfrm>
          <a:prstGeom prst="rect">
            <a:avLst/>
          </a:prstGeom>
          <a:noFill/>
          <a:ln/>
        </p:spPr>
        <p:txBody>
          <a:bodyPr wrap="square" lIns="0" tIns="0" rIns="0" bIns="0" rtlCol="0" anchor="t"/>
          <a:lstStyle/>
          <a:p>
            <a:pPr algn="r" indent="0" marL="0">
              <a:buNone/>
            </a:pPr>
            <a:r>
              <a:rPr lang="en-US" sz="900" dirty="0">
                <a:solidFill>
                  <a:srgbClr val="5F6B78"/>
                </a:solidFill>
                <a:latin typeface="Calibri" pitchFamily="34" charset="0"/>
                <a:ea typeface="Calibri" pitchFamily="34" charset="-122"/>
                <a:cs typeface="Calibri" pitchFamily="34" charset="-120"/>
              </a:rPr>
              <a:t>SMPO  ·  10</a:t>
            </a:r>
            <a:endParaRPr lang="en-US" sz="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2651760"/>
                <a:gridCol w="2194560"/>
                <a:gridCol w="3383280"/>
              </a:tblGrid>
              <a:tr h="347472">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Model</a:t>
                      </a:r>
                      <a:endParaRPr lang="en-US" sz="1100" dirty="0">
                        <a:latin typeface="Calibri" charset="0"/>
                        <a:ea typeface="Calibri" charset="0"/>
                        <a:cs typeface="Calibri" charset="0"/>
                      </a:endParaRPr>
                    </a:p>
                  </a:txBody>
                  <a:tcPr marL="54864" marR="54864" marT="54864" marB="54864"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34495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Algorithm</a:t>
                      </a:r>
                      <a:endParaRPr lang="en-US" sz="1100" dirty="0">
                        <a:latin typeface="Calibri" charset="0"/>
                        <a:ea typeface="Calibri" charset="0"/>
                        <a:cs typeface="Calibri" charset="0"/>
                      </a:endParaRPr>
                    </a:p>
                  </a:txBody>
                  <a:tcPr marL="54864" marR="54864" marT="54864" marB="54864"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34495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Output</a:t>
                      </a:r>
                      <a:endParaRPr lang="en-US" sz="1100" dirty="0">
                        <a:latin typeface="Calibri" charset="0"/>
                        <a:ea typeface="Calibri" charset="0"/>
                        <a:cs typeface="Calibri" charset="0"/>
                      </a:endParaRPr>
                    </a:p>
                  </a:txBody>
                  <a:tcPr marL="54864" marR="54864" marT="54864" marB="54864"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34495E"/>
                    </a:solidFill>
                  </a:tcPr>
                </a:tc>
              </a:tr>
              <a:tr h="347472">
                <a:tc>
                  <a:txBody>
                    <a:bodyPr/>
                    <a:lstStyle/>
                    <a:p>
                      <a:pPr indent="0" marL="0">
                        <a:buNone/>
                      </a:pPr>
                      <a:r>
                        <a:rPr lang="en-US" sz="1100" dirty="0">
                          <a:solidFill>
                            <a:srgbClr val="1B2631"/>
                          </a:solidFill>
                          <a:latin typeface="Calibri" pitchFamily="34" charset="0"/>
                          <a:ea typeface="Calibri" pitchFamily="34" charset="-122"/>
                          <a:cs typeface="Calibri" pitchFamily="34" charset="-120"/>
                        </a:rPr>
                        <a:t>Machine failure (process)</a:t>
                      </a:r>
                      <a:endParaRPr lang="en-US" sz="1100" dirty="0">
                        <a:latin typeface="Calibri" charset="0"/>
                        <a:ea typeface="Calibri" charset="0"/>
                        <a:cs typeface="Calibri" charset="0"/>
                      </a:endParaRPr>
                    </a:p>
                  </a:txBody>
                  <a:tcPr marL="54864" marR="54864" marT="54864" marB="54864"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1100" dirty="0">
                          <a:solidFill>
                            <a:srgbClr val="1B2631"/>
                          </a:solidFill>
                          <a:latin typeface="Calibri" pitchFamily="34" charset="0"/>
                          <a:ea typeface="Calibri" pitchFamily="34" charset="-122"/>
                          <a:cs typeface="Calibri" pitchFamily="34" charset="-120"/>
                        </a:rPr>
                        <a:t>LightGBM</a:t>
                      </a:r>
                      <a:endParaRPr lang="en-US" sz="1100" dirty="0">
                        <a:latin typeface="Calibri" charset="0"/>
                        <a:ea typeface="Calibri" charset="0"/>
                        <a:cs typeface="Calibri" charset="0"/>
                      </a:endParaRPr>
                    </a:p>
                  </a:txBody>
                  <a:tcPr marL="54864" marR="54864" marT="54864" marB="54864"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1100" dirty="0">
                          <a:solidFill>
                            <a:srgbClr val="1B2631"/>
                          </a:solidFill>
                          <a:latin typeface="Calibri" pitchFamily="34" charset="0"/>
                          <a:ea typeface="Calibri" pitchFamily="34" charset="-122"/>
                          <a:cs typeface="Calibri" pitchFamily="34" charset="-120"/>
                        </a:rPr>
                        <a:t>P(cycle fails); alert threshold tuned on out-of-fold predictions</a:t>
                      </a:r>
                      <a:endParaRPr lang="en-US" sz="1100" dirty="0">
                        <a:latin typeface="Calibri" charset="0"/>
                        <a:ea typeface="Calibri" charset="0"/>
                        <a:cs typeface="Calibri" charset="0"/>
                      </a:endParaRPr>
                    </a:p>
                  </a:txBody>
                  <a:tcPr marL="54864" marR="54864" marT="54864" marB="54864"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347472">
                <a:tc>
                  <a:txBody>
                    <a:bodyPr/>
                    <a:lstStyle/>
                    <a:p>
                      <a:pPr indent="0" marL="0">
                        <a:buNone/>
                      </a:pPr>
                      <a:r>
                        <a:rPr lang="en-US" sz="1100" dirty="0">
                          <a:solidFill>
                            <a:srgbClr val="1B2631"/>
                          </a:solidFill>
                          <a:latin typeface="Calibri" pitchFamily="34" charset="0"/>
                          <a:ea typeface="Calibri" pitchFamily="34" charset="-122"/>
                          <a:cs typeface="Calibri" pitchFamily="34" charset="-120"/>
                        </a:rPr>
                        <a:t>Failure mode × 4 (TWF, HDF, PWF, OSF)</a:t>
                      </a:r>
                      <a:endParaRPr lang="en-US" sz="1100" dirty="0">
                        <a:latin typeface="Calibri" charset="0"/>
                        <a:ea typeface="Calibri" charset="0"/>
                        <a:cs typeface="Calibri" charset="0"/>
                      </a:endParaRPr>
                    </a:p>
                  </a:txBody>
                  <a:tcPr marL="54864" marR="54864" marT="54864" marB="54864"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1100" dirty="0">
                          <a:solidFill>
                            <a:srgbClr val="1B2631"/>
                          </a:solidFill>
                          <a:latin typeface="Calibri" pitchFamily="34" charset="0"/>
                          <a:ea typeface="Calibri" pitchFamily="34" charset="-122"/>
                          <a:cs typeface="Calibri" pitchFamily="34" charset="-120"/>
                        </a:rPr>
                        <a:t>LightGBM</a:t>
                      </a:r>
                      <a:endParaRPr lang="en-US" sz="1100" dirty="0">
                        <a:latin typeface="Calibri" charset="0"/>
                        <a:ea typeface="Calibri" charset="0"/>
                        <a:cs typeface="Calibri" charset="0"/>
                      </a:endParaRPr>
                    </a:p>
                  </a:txBody>
                  <a:tcPr marL="54864" marR="54864" marT="54864" marB="54864"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1100" dirty="0">
                          <a:solidFill>
                            <a:srgbClr val="1B2631"/>
                          </a:solidFill>
                          <a:latin typeface="Calibri" pitchFamily="34" charset="0"/>
                          <a:ea typeface="Calibri" pitchFamily="34" charset="-122"/>
                          <a:cs typeface="Calibri" pitchFamily="34" charset="-120"/>
                        </a:rPr>
                        <a:t>P(each mode)</a:t>
                      </a:r>
                      <a:endParaRPr lang="en-US" sz="1100" dirty="0">
                        <a:latin typeface="Calibri" charset="0"/>
                        <a:ea typeface="Calibri" charset="0"/>
                        <a:cs typeface="Calibri" charset="0"/>
                      </a:endParaRPr>
                    </a:p>
                  </a:txBody>
                  <a:tcPr marL="54864" marR="54864" marT="54864" marB="54864"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347472">
                <a:tc>
                  <a:txBody>
                    <a:bodyPr/>
                    <a:lstStyle/>
                    <a:p>
                      <a:pPr indent="0" marL="0">
                        <a:buNone/>
                      </a:pPr>
                      <a:r>
                        <a:rPr lang="en-US" sz="1100" dirty="0">
                          <a:solidFill>
                            <a:srgbClr val="1B2631"/>
                          </a:solidFill>
                          <a:latin typeface="Calibri" pitchFamily="34" charset="0"/>
                          <a:ea typeface="Calibri" pitchFamily="34" charset="-122"/>
                          <a:cs typeface="Calibri" pitchFamily="34" charset="-120"/>
                        </a:rPr>
                        <a:t>Component failure within 24 h × 4</a:t>
                      </a:r>
                      <a:endParaRPr lang="en-US" sz="1100" dirty="0">
                        <a:latin typeface="Calibri" charset="0"/>
                        <a:ea typeface="Calibri" charset="0"/>
                        <a:cs typeface="Calibri" charset="0"/>
                      </a:endParaRPr>
                    </a:p>
                  </a:txBody>
                  <a:tcPr marL="54864" marR="54864" marT="54864" marB="54864"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1100" dirty="0">
                          <a:solidFill>
                            <a:srgbClr val="1B2631"/>
                          </a:solidFill>
                          <a:latin typeface="Calibri" pitchFamily="34" charset="0"/>
                          <a:ea typeface="Calibri" pitchFamily="34" charset="-122"/>
                          <a:cs typeface="Calibri" pitchFamily="34" charset="-120"/>
                        </a:rPr>
                        <a:t>LightGBM</a:t>
                      </a:r>
                      <a:endParaRPr lang="en-US" sz="1100" dirty="0">
                        <a:latin typeface="Calibri" charset="0"/>
                        <a:ea typeface="Calibri" charset="0"/>
                        <a:cs typeface="Calibri" charset="0"/>
                      </a:endParaRPr>
                    </a:p>
                  </a:txBody>
                  <a:tcPr marL="54864" marR="54864" marT="54864" marB="54864"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1100" dirty="0">
                          <a:solidFill>
                            <a:srgbClr val="1B2631"/>
                          </a:solidFill>
                          <a:latin typeface="Calibri" pitchFamily="34" charset="0"/>
                          <a:ea typeface="Calibri" pitchFamily="34" charset="-122"/>
                          <a:cs typeface="Calibri" pitchFamily="34" charset="-120"/>
                        </a:rPr>
                        <a:t>P(comp fails in 24 h) → drives urgent alerts</a:t>
                      </a:r>
                      <a:endParaRPr lang="en-US" sz="1100" dirty="0">
                        <a:latin typeface="Calibri" charset="0"/>
                        <a:ea typeface="Calibri" charset="0"/>
                        <a:cs typeface="Calibri" charset="0"/>
                      </a:endParaRPr>
                    </a:p>
                  </a:txBody>
                  <a:tcPr marL="54864" marR="54864" marT="54864" marB="54864"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347472">
                <a:tc>
                  <a:txBody>
                    <a:bodyPr/>
                    <a:lstStyle/>
                    <a:p>
                      <a:pPr indent="0" marL="0">
                        <a:buNone/>
                      </a:pPr>
                      <a:r>
                        <a:rPr lang="en-US" sz="1100" dirty="0">
                          <a:solidFill>
                            <a:srgbClr val="1B2631"/>
                          </a:solidFill>
                          <a:latin typeface="Calibri" pitchFamily="34" charset="0"/>
                          <a:ea typeface="Calibri" pitchFamily="34" charset="-122"/>
                          <a:cs typeface="Calibri" pitchFamily="34" charset="-120"/>
                        </a:rPr>
                        <a:t>Component failure within 7 days × 4</a:t>
                      </a:r>
                      <a:endParaRPr lang="en-US" sz="1100" dirty="0">
                        <a:latin typeface="Calibri" charset="0"/>
                        <a:ea typeface="Calibri" charset="0"/>
                        <a:cs typeface="Calibri" charset="0"/>
                      </a:endParaRPr>
                    </a:p>
                  </a:txBody>
                  <a:tcPr marL="54864" marR="54864" marT="54864" marB="54864"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1100" dirty="0">
                          <a:solidFill>
                            <a:srgbClr val="1B2631"/>
                          </a:solidFill>
                          <a:latin typeface="Calibri" pitchFamily="34" charset="0"/>
                          <a:ea typeface="Calibri" pitchFamily="34" charset="-122"/>
                          <a:cs typeface="Calibri" pitchFamily="34" charset="-120"/>
                        </a:rPr>
                        <a:t>LightGBM</a:t>
                      </a:r>
                      <a:endParaRPr lang="en-US" sz="1100" dirty="0">
                        <a:latin typeface="Calibri" charset="0"/>
                        <a:ea typeface="Calibri" charset="0"/>
                        <a:cs typeface="Calibri" charset="0"/>
                      </a:endParaRPr>
                    </a:p>
                  </a:txBody>
                  <a:tcPr marL="54864" marR="54864" marT="54864" marB="54864"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1100" dirty="0">
                          <a:solidFill>
                            <a:srgbClr val="1B2631"/>
                          </a:solidFill>
                          <a:latin typeface="Calibri" pitchFamily="34" charset="0"/>
                          <a:ea typeface="Calibri" pitchFamily="34" charset="-122"/>
                          <a:cs typeface="Calibri" pitchFamily="34" charset="-120"/>
                        </a:rPr>
                        <a:t>P(comp fails in 7 d) → drives weekly scheduling</a:t>
                      </a:r>
                      <a:endParaRPr lang="en-US" sz="1100" dirty="0">
                        <a:latin typeface="Calibri" charset="0"/>
                        <a:ea typeface="Calibri" charset="0"/>
                        <a:cs typeface="Calibri" charset="0"/>
                      </a:endParaRPr>
                    </a:p>
                  </a:txBody>
                  <a:tcPr marL="54864" marR="54864" marT="54864" marB="54864"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347472">
                <a:tc>
                  <a:txBody>
                    <a:bodyPr/>
                    <a:lstStyle/>
                    <a:p>
                      <a:pPr indent="0" marL="0">
                        <a:buNone/>
                      </a:pPr>
                      <a:r>
                        <a:rPr lang="en-US" sz="1100" dirty="0">
                          <a:solidFill>
                            <a:srgbClr val="1B2631"/>
                          </a:solidFill>
                          <a:latin typeface="Calibri" pitchFamily="34" charset="0"/>
                          <a:ea typeface="Calibri" pitchFamily="34" charset="-122"/>
                          <a:cs typeface="Calibri" pitchFamily="34" charset="-120"/>
                        </a:rPr>
                        <a:t>Anomaly detector</a:t>
                      </a:r>
                      <a:endParaRPr lang="en-US" sz="1100" dirty="0">
                        <a:latin typeface="Calibri" charset="0"/>
                        <a:ea typeface="Calibri" charset="0"/>
                        <a:cs typeface="Calibri" charset="0"/>
                      </a:endParaRPr>
                    </a:p>
                  </a:txBody>
                  <a:tcPr marL="54864" marR="54864" marT="54864" marB="54864"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1100" dirty="0">
                          <a:solidFill>
                            <a:srgbClr val="1B2631"/>
                          </a:solidFill>
                          <a:latin typeface="Calibri" pitchFamily="34" charset="0"/>
                          <a:ea typeface="Calibri" pitchFamily="34" charset="-122"/>
                          <a:cs typeface="Calibri" pitchFamily="34" charset="-120"/>
                        </a:rPr>
                        <a:t>Isolation Forest (24 h telemetry stats)</a:t>
                      </a:r>
                      <a:endParaRPr lang="en-US" sz="1100" dirty="0">
                        <a:latin typeface="Calibri" charset="0"/>
                        <a:ea typeface="Calibri" charset="0"/>
                        <a:cs typeface="Calibri" charset="0"/>
                      </a:endParaRPr>
                    </a:p>
                  </a:txBody>
                  <a:tcPr marL="54864" marR="54864" marT="54864" marB="54864"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1100" dirty="0">
                          <a:solidFill>
                            <a:srgbClr val="1B2631"/>
                          </a:solidFill>
                          <a:latin typeface="Calibri" pitchFamily="34" charset="0"/>
                          <a:ea typeface="Calibri" pitchFamily="34" charset="-122"/>
                          <a:cs typeface="Calibri" pitchFamily="34" charset="-120"/>
                        </a:rPr>
                        <a:t>Score: 0 = typical, &gt; 1 = beyond 99th pct of normal</a:t>
                      </a:r>
                      <a:endParaRPr lang="en-US" sz="1100" dirty="0">
                        <a:latin typeface="Calibri" charset="0"/>
                        <a:ea typeface="Calibri" charset="0"/>
                        <a:cs typeface="Calibri" charset="0"/>
                      </a:endParaRPr>
                    </a:p>
                  </a:txBody>
                  <a:tcPr marL="54864" marR="54864" marT="54864" marB="54864"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347472">
                <a:tc>
                  <a:txBody>
                    <a:bodyPr/>
                    <a:lstStyle/>
                    <a:p>
                      <a:pPr indent="0" marL="0">
                        <a:buNone/>
                      </a:pPr>
                      <a:r>
                        <a:rPr lang="en-US" sz="1100" dirty="0">
                          <a:solidFill>
                            <a:srgbClr val="1B2631"/>
                          </a:solidFill>
                          <a:latin typeface="Calibri" pitchFamily="34" charset="0"/>
                          <a:ea typeface="Calibri" pitchFamily="34" charset="-122"/>
                          <a:cs typeface="Calibri" pitchFamily="34" charset="-120"/>
                        </a:rPr>
                        <a:t>Explanations</a:t>
                      </a:r>
                      <a:endParaRPr lang="en-US" sz="1100" dirty="0">
                        <a:latin typeface="Calibri" charset="0"/>
                        <a:ea typeface="Calibri" charset="0"/>
                        <a:cs typeface="Calibri" charset="0"/>
                      </a:endParaRPr>
                    </a:p>
                  </a:txBody>
                  <a:tcPr marL="54864" marR="54864" marT="54864" marB="54864"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1100" dirty="0">
                          <a:solidFill>
                            <a:srgbClr val="1B2631"/>
                          </a:solidFill>
                          <a:latin typeface="Calibri" pitchFamily="34" charset="0"/>
                          <a:ea typeface="Calibri" pitchFamily="34" charset="-122"/>
                          <a:cs typeface="Calibri" pitchFamily="34" charset="-120"/>
                        </a:rPr>
                        <a:t>SHAP TreeExplainer</a:t>
                      </a:r>
                      <a:endParaRPr lang="en-US" sz="1100" dirty="0">
                        <a:latin typeface="Calibri" charset="0"/>
                        <a:ea typeface="Calibri" charset="0"/>
                        <a:cs typeface="Calibri" charset="0"/>
                      </a:endParaRPr>
                    </a:p>
                  </a:txBody>
                  <a:tcPr marL="54864" marR="54864" marT="54864" marB="54864"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1100" dirty="0">
                          <a:solidFill>
                            <a:srgbClr val="1B2631"/>
                          </a:solidFill>
                          <a:latin typeface="Calibri" pitchFamily="34" charset="0"/>
                          <a:ea typeface="Calibri" pitchFamily="34" charset="-122"/>
                          <a:cs typeface="Calibri" pitchFamily="34" charset="-120"/>
                        </a:rPr>
                        <a:t>Per-prediction feature contributions (log-odds)</a:t>
                      </a:r>
                      <a:endParaRPr lang="en-US" sz="1100" dirty="0">
                        <a:latin typeface="Calibri" charset="0"/>
                        <a:ea typeface="Calibri" charset="0"/>
                        <a:cs typeface="Calibri" charset="0"/>
                      </a:endParaRPr>
                    </a:p>
                  </a:txBody>
                  <a:tcPr marL="54864" marR="54864" marT="54864" marB="54864"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bl>
          </a:graphicData>
        </a:graphic>
      </p:graphicFrame>
      <p:sp>
        <p:nvSpPr>
          <p:cNvPr id="6" name="Shape 3"/>
          <p:cNvSpPr/>
          <p:nvPr/>
        </p:nvSpPr>
        <p:spPr>
          <a:xfrm>
            <a:off x="457200" y="3977640"/>
            <a:ext cx="8229600" cy="731520"/>
          </a:xfrm>
          <a:prstGeom prst="roundRect">
            <a:avLst>
              <a:gd name="adj" fmla="val 10000"/>
            </a:avLst>
          </a:prstGeom>
          <a:solidFill>
            <a:srgbClr val="EEF2F5"/>
          </a:solidFill>
          <a:ln w="12700">
            <a:solidFill>
              <a:srgbClr val="EEF2F5"/>
            </a:solidFill>
            <a:prstDash val="solid"/>
          </a:ln>
        </p:spPr>
      </p:sp>
      <p:sp>
        <p:nvSpPr>
          <p:cNvPr id="7" name="Shape 4"/>
          <p:cNvSpPr/>
          <p:nvPr/>
        </p:nvSpPr>
        <p:spPr>
          <a:xfrm>
            <a:off x="640080" y="4087368"/>
            <a:ext cx="502920" cy="502920"/>
          </a:xfrm>
          <a:prstGeom prst="ellipse">
            <a:avLst/>
          </a:prstGeom>
          <a:solidFill>
            <a:srgbClr val="E8910C"/>
          </a:solidFill>
          <a:ln w="12700">
            <a:solidFill>
              <a:srgbClr val="E8910C"/>
            </a:solidFill>
            <a:prstDash val="solid"/>
          </a:ln>
        </p:spPr>
      </p:sp>
      <p:pic>
        <p:nvPicPr>
          <p:cNvPr id="8" name="Image 0" descr="preencoded.png">    </p:cNvPr>
          <p:cNvPicPr>
            <a:picLocks noChangeAspect="1"/>
          </p:cNvPicPr>
          <p:nvPr/>
        </p:nvPicPr>
        <p:blipFill>
          <a:blip r:embed="rId1"/>
          <a:stretch>
            <a:fillRect/>
          </a:stretch>
        </p:blipFill>
        <p:spPr>
          <a:xfrm>
            <a:off x="765810" y="4213098"/>
            <a:ext cx="251460" cy="251460"/>
          </a:xfrm>
          <a:prstGeom prst="rect">
            <a:avLst/>
          </a:prstGeom>
        </p:spPr>
      </p:pic>
      <p:sp>
        <p:nvSpPr>
          <p:cNvPr id="9" name="Text 5"/>
          <p:cNvSpPr txBox="1"/>
          <p:nvPr/>
        </p:nvSpPr>
        <p:spPr>
          <a:xfrm>
            <a:off x="1325880" y="4069080"/>
            <a:ext cx="7223760" cy="548640"/>
          </a:xfrm>
          <a:prstGeom prst="rect">
            <a:avLst/>
          </a:prstGeom>
          <a:noFill/>
          <a:ln/>
        </p:spPr>
        <p:txBody>
          <a:bodyPr wrap="square" lIns="0" tIns="0" rIns="0" bIns="0" rtlCol="0" anchor="ctr"/>
          <a:lstStyle/>
          <a:p>
            <a:pPr indent="0" marL="0">
              <a:buNone/>
            </a:pPr>
            <a:r>
              <a:rPr lang="en-US" sz="1150" dirty="0">
                <a:solidFill>
                  <a:srgbClr val="1B2631"/>
                </a:solidFill>
                <a:latin typeface="Calibri" pitchFamily="34" charset="0"/>
                <a:ea typeface="Calibri" pitchFamily="34" charset="-122"/>
                <a:cs typeface="Calibri" pitchFamily="34" charset="-120"/>
              </a:rPr>
              <a:t>No class re-weighting: keeps probabilities calibrated for cost calculations; class imbalance is handled by tuning the alert threshold instead.</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000" b="1" spc="200" kern="0" dirty="0">
                <a:solidFill>
                  <a:srgbClr val="E8910C"/>
                </a:solidFill>
                <a:latin typeface="Calibri" pitchFamily="34" charset="0"/>
                <a:ea typeface="Calibri" pitchFamily="34" charset="-122"/>
                <a:cs typeface="Calibri" pitchFamily="34" charset="-120"/>
              </a:rPr>
              <a:t>06 · PREDICTIVE MODELS</a:t>
            </a:r>
            <a:endParaRPr lang="en-US" sz="10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1B2631"/>
                </a:solidFill>
                <a:latin typeface="Calibri" pitchFamily="34" charset="0"/>
                <a:ea typeface="Calibri" pitchFamily="34" charset="-122"/>
                <a:cs typeface="Calibri" pitchFamily="34" charset="-120"/>
              </a:rPr>
              <a:t>Held-out evaluation results</a:t>
            </a:r>
            <a:endParaRPr lang="en-US" sz="2800" dirty="0"/>
          </a:p>
        </p:txBody>
      </p:sp>
      <p:sp>
        <p:nvSpPr>
          <p:cNvPr id="4" name="Text 2"/>
          <p:cNvSpPr txBox="1"/>
          <p:nvPr/>
        </p:nvSpPr>
        <p:spPr>
          <a:xfrm>
            <a:off x="7315200" y="4846320"/>
            <a:ext cx="1371600" cy="182880"/>
          </a:xfrm>
          <a:prstGeom prst="rect">
            <a:avLst/>
          </a:prstGeom>
          <a:noFill/>
          <a:ln/>
        </p:spPr>
        <p:txBody>
          <a:bodyPr wrap="square" lIns="0" tIns="0" rIns="0" bIns="0" rtlCol="0" anchor="t"/>
          <a:lstStyle/>
          <a:p>
            <a:pPr algn="r" indent="0" marL="0">
              <a:buNone/>
            </a:pPr>
            <a:r>
              <a:rPr lang="en-US" sz="900" dirty="0">
                <a:solidFill>
                  <a:srgbClr val="5F6B78"/>
                </a:solidFill>
                <a:latin typeface="Calibri" pitchFamily="34" charset="0"/>
                <a:ea typeface="Calibri" pitchFamily="34" charset="-122"/>
                <a:cs typeface="Calibri" pitchFamily="34" charset="-120"/>
              </a:rPr>
              <a:t>SMPO  ·  11</a:t>
            </a:r>
            <a:endParaRPr lang="en-US" sz="900" dirty="0"/>
          </a:p>
        </p:txBody>
      </p:sp>
      <p:graphicFrame>
        <p:nvGraphicFramePr>
          <p:cNvPr id="5" name="Chart 0" descr=""/>
          <p:cNvGraphicFramePr/>
          <p:nvPr/>
        </p:nvGraphicFramePr>
        <p:xfrm>
          <a:off x="365760" y="1188720"/>
          <a:ext cx="4480560" cy="356616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5074920" y="1280160"/>
            <a:ext cx="3611880" cy="822960"/>
          </a:xfrm>
          <a:prstGeom prst="roundRect">
            <a:avLst>
              <a:gd name="adj" fmla="val 8889"/>
            </a:avLst>
          </a:prstGeom>
          <a:solidFill>
            <a:srgbClr val="EEF2F5"/>
          </a:solidFill>
          <a:ln w="12700">
            <a:solidFill>
              <a:srgbClr val="EEF2F5"/>
            </a:solidFill>
            <a:prstDash val="solid"/>
          </a:ln>
        </p:spPr>
      </p:sp>
      <p:sp>
        <p:nvSpPr>
          <p:cNvPr id="7" name="Text 4"/>
          <p:cNvSpPr txBox="1"/>
          <p:nvPr/>
        </p:nvSpPr>
        <p:spPr>
          <a:xfrm>
            <a:off x="5212080" y="1353312"/>
            <a:ext cx="1417320" cy="685800"/>
          </a:xfrm>
          <a:prstGeom prst="rect">
            <a:avLst/>
          </a:prstGeom>
          <a:noFill/>
          <a:ln/>
        </p:spPr>
        <p:txBody>
          <a:bodyPr wrap="square" lIns="0" tIns="0" rIns="0" bIns="0" rtlCol="0" anchor="ctr">
            <a:normAutofit/>
          </a:bodyPr>
          <a:lstStyle/>
          <a:p>
            <a:pPr indent="0" marL="0">
              <a:buNone/>
            </a:pPr>
            <a:r>
              <a:rPr lang="en-US" sz="1700" b="1" dirty="0">
                <a:solidFill>
                  <a:srgbClr val="E8910C"/>
                </a:solidFill>
                <a:latin typeface="Calibri" pitchFamily="34" charset="0"/>
                <a:ea typeface="Calibri" pitchFamily="34" charset="-122"/>
                <a:cs typeface="Calibri" pitchFamily="34" charset="-120"/>
              </a:rPr>
              <a:t>0.996–1.000</a:t>
            </a:r>
            <a:endParaRPr lang="en-US" sz="1700" dirty="0"/>
          </a:p>
        </p:txBody>
      </p:sp>
      <p:sp>
        <p:nvSpPr>
          <p:cNvPr id="8" name="Text 5"/>
          <p:cNvSpPr txBox="1"/>
          <p:nvPr/>
        </p:nvSpPr>
        <p:spPr>
          <a:xfrm>
            <a:off x="6675120" y="1353312"/>
            <a:ext cx="1920240" cy="694944"/>
          </a:xfrm>
          <a:prstGeom prst="rect">
            <a:avLst/>
          </a:prstGeom>
          <a:noFill/>
          <a:ln/>
        </p:spPr>
        <p:txBody>
          <a:bodyPr wrap="square" lIns="0" tIns="0" rIns="0" bIns="0" rtlCol="0" anchor="ctr"/>
          <a:lstStyle/>
          <a:p>
            <a:pPr indent="0" marL="0">
              <a:buNone/>
            </a:pPr>
            <a:r>
              <a:rPr lang="en-US" sz="900" b="1" dirty="0">
                <a:solidFill>
                  <a:srgbClr val="1B2631"/>
                </a:solidFill>
                <a:latin typeface="Calibri" pitchFamily="34" charset="0"/>
                <a:ea typeface="Calibri" pitchFamily="34" charset="-122"/>
                <a:cs typeface="Calibri" pitchFamily="34" charset="-120"/>
              </a:rPr>
              <a:t>PR-AUC, 24 h component models</a:t>
            </a:r>
            <a:endParaRPr lang="en-US" sz="900" dirty="0"/>
          </a:p>
          <a:p>
            <a:pPr indent="0" marL="0">
              <a:buNone/>
            </a:pPr>
            <a:r>
              <a:rPr lang="en-US" sz="900" dirty="0">
                <a:solidFill>
                  <a:srgbClr val="5F6B78"/>
                </a:solidFill>
                <a:latin typeface="Calibri" pitchFamily="34" charset="0"/>
                <a:ea typeface="Calibri" pitchFamily="34" charset="-122"/>
                <a:cs typeface="Calibri" pitchFamily="34" charset="-120"/>
              </a:rPr>
              <a:t>Near-perfect: synthetic data has strong pre-failure signals</a:t>
            </a:r>
            <a:endParaRPr lang="en-US" sz="900" dirty="0"/>
          </a:p>
        </p:txBody>
      </p:sp>
      <p:sp>
        <p:nvSpPr>
          <p:cNvPr id="9" name="Shape 6"/>
          <p:cNvSpPr/>
          <p:nvPr/>
        </p:nvSpPr>
        <p:spPr>
          <a:xfrm>
            <a:off x="5074920" y="2212848"/>
            <a:ext cx="3611880" cy="822960"/>
          </a:xfrm>
          <a:prstGeom prst="roundRect">
            <a:avLst>
              <a:gd name="adj" fmla="val 8889"/>
            </a:avLst>
          </a:prstGeom>
          <a:solidFill>
            <a:srgbClr val="EEF2F5"/>
          </a:solidFill>
          <a:ln w="12700">
            <a:solidFill>
              <a:srgbClr val="EEF2F5"/>
            </a:solidFill>
            <a:prstDash val="solid"/>
          </a:ln>
        </p:spPr>
      </p:sp>
      <p:sp>
        <p:nvSpPr>
          <p:cNvPr id="10" name="Text 7"/>
          <p:cNvSpPr txBox="1"/>
          <p:nvPr/>
        </p:nvSpPr>
        <p:spPr>
          <a:xfrm>
            <a:off x="5212080" y="2286000"/>
            <a:ext cx="1417320" cy="685800"/>
          </a:xfrm>
          <a:prstGeom prst="rect">
            <a:avLst/>
          </a:prstGeom>
          <a:noFill/>
          <a:ln/>
        </p:spPr>
        <p:txBody>
          <a:bodyPr wrap="square" lIns="0" tIns="0" rIns="0" bIns="0" rtlCol="0" anchor="ctr">
            <a:normAutofit/>
          </a:bodyPr>
          <a:lstStyle/>
          <a:p>
            <a:pPr indent="0" marL="0">
              <a:buNone/>
            </a:pPr>
            <a:r>
              <a:rPr lang="en-US" sz="1700" b="1" dirty="0">
                <a:solidFill>
                  <a:srgbClr val="E8910C"/>
                </a:solidFill>
                <a:latin typeface="Calibri" pitchFamily="34" charset="0"/>
                <a:ea typeface="Calibri" pitchFamily="34" charset="-122"/>
                <a:cs typeface="Calibri" pitchFamily="34" charset="-120"/>
              </a:rPr>
              <a:t>~10×</a:t>
            </a:r>
            <a:endParaRPr lang="en-US" sz="1700" dirty="0"/>
          </a:p>
        </p:txBody>
      </p:sp>
      <p:sp>
        <p:nvSpPr>
          <p:cNvPr id="11" name="Text 8"/>
          <p:cNvSpPr txBox="1"/>
          <p:nvPr/>
        </p:nvSpPr>
        <p:spPr>
          <a:xfrm>
            <a:off x="6675120" y="2286000"/>
            <a:ext cx="1920240" cy="694944"/>
          </a:xfrm>
          <a:prstGeom prst="rect">
            <a:avLst/>
          </a:prstGeom>
          <a:noFill/>
          <a:ln/>
        </p:spPr>
        <p:txBody>
          <a:bodyPr wrap="square" lIns="0" tIns="0" rIns="0" bIns="0" rtlCol="0" anchor="ctr"/>
          <a:lstStyle/>
          <a:p>
            <a:pPr indent="0" marL="0">
              <a:buNone/>
            </a:pPr>
            <a:r>
              <a:rPr lang="en-US" sz="900" b="1" dirty="0">
                <a:solidFill>
                  <a:srgbClr val="1B2631"/>
                </a:solidFill>
                <a:latin typeface="Calibri" pitchFamily="34" charset="0"/>
                <a:ea typeface="Calibri" pitchFamily="34" charset="-122"/>
                <a:cs typeface="Calibri" pitchFamily="34" charset="-120"/>
              </a:rPr>
              <a:t>better than base rate, 7-day models</a:t>
            </a:r>
            <a:endParaRPr lang="en-US" sz="900" dirty="0"/>
          </a:p>
          <a:p>
            <a:pPr indent="0" marL="0">
              <a:buNone/>
            </a:pPr>
            <a:r>
              <a:rPr lang="en-US" sz="900" dirty="0">
                <a:solidFill>
                  <a:srgbClr val="5F6B78"/>
                </a:solidFill>
                <a:latin typeface="Calibri" pitchFamily="34" charset="0"/>
                <a:ea typeface="Calibri" pitchFamily="34" charset="-122"/>
                <a:cs typeface="Calibri" pitchFamily="34" charset="-120"/>
              </a:rPr>
              <a:t>PR-AUC 0.35–0.52 vs 2.4–4.9% base rate — enough to rank for weekly planning</a:t>
            </a:r>
            <a:endParaRPr lang="en-US" sz="900" dirty="0"/>
          </a:p>
        </p:txBody>
      </p:sp>
      <p:sp>
        <p:nvSpPr>
          <p:cNvPr id="12" name="Shape 9"/>
          <p:cNvSpPr/>
          <p:nvPr/>
        </p:nvSpPr>
        <p:spPr>
          <a:xfrm>
            <a:off x="5074920" y="3145536"/>
            <a:ext cx="3611880" cy="822960"/>
          </a:xfrm>
          <a:prstGeom prst="roundRect">
            <a:avLst>
              <a:gd name="adj" fmla="val 8889"/>
            </a:avLst>
          </a:prstGeom>
          <a:solidFill>
            <a:srgbClr val="EEF2F5"/>
          </a:solidFill>
          <a:ln w="12700">
            <a:solidFill>
              <a:srgbClr val="EEF2F5"/>
            </a:solidFill>
            <a:prstDash val="solid"/>
          </a:ln>
        </p:spPr>
      </p:sp>
      <p:sp>
        <p:nvSpPr>
          <p:cNvPr id="13" name="Text 10"/>
          <p:cNvSpPr txBox="1"/>
          <p:nvPr/>
        </p:nvSpPr>
        <p:spPr>
          <a:xfrm>
            <a:off x="5212080" y="3218688"/>
            <a:ext cx="1417320" cy="685800"/>
          </a:xfrm>
          <a:prstGeom prst="rect">
            <a:avLst/>
          </a:prstGeom>
          <a:noFill/>
          <a:ln/>
        </p:spPr>
        <p:txBody>
          <a:bodyPr wrap="square" lIns="0" tIns="0" rIns="0" bIns="0" rtlCol="0" anchor="ctr">
            <a:normAutofit/>
          </a:bodyPr>
          <a:lstStyle/>
          <a:p>
            <a:pPr indent="0" marL="0">
              <a:buNone/>
            </a:pPr>
            <a:r>
              <a:rPr lang="en-US" sz="1700" b="1" dirty="0">
                <a:solidFill>
                  <a:srgbClr val="E8910C"/>
                </a:solidFill>
                <a:latin typeface="Calibri" pitchFamily="34" charset="0"/>
                <a:ea typeface="Calibri" pitchFamily="34" charset="-122"/>
                <a:cs typeface="Calibri" pitchFamily="34" charset="-120"/>
              </a:rPr>
              <a:t>11.4% vs 1.0%</a:t>
            </a:r>
            <a:endParaRPr lang="en-US" sz="1700" dirty="0"/>
          </a:p>
        </p:txBody>
      </p:sp>
      <p:sp>
        <p:nvSpPr>
          <p:cNvPr id="14" name="Text 11"/>
          <p:cNvSpPr txBox="1"/>
          <p:nvPr/>
        </p:nvSpPr>
        <p:spPr>
          <a:xfrm>
            <a:off x="6675120" y="3218688"/>
            <a:ext cx="1920240" cy="694944"/>
          </a:xfrm>
          <a:prstGeom prst="rect">
            <a:avLst/>
          </a:prstGeom>
          <a:noFill/>
          <a:ln/>
        </p:spPr>
        <p:txBody>
          <a:bodyPr wrap="square" lIns="0" tIns="0" rIns="0" bIns="0" rtlCol="0" anchor="ctr"/>
          <a:lstStyle/>
          <a:p>
            <a:pPr indent="0" marL="0">
              <a:buNone/>
            </a:pPr>
            <a:r>
              <a:rPr lang="en-US" sz="900" b="1" dirty="0">
                <a:solidFill>
                  <a:srgbClr val="1B2631"/>
                </a:solidFill>
                <a:latin typeface="Calibri" pitchFamily="34" charset="0"/>
                <a:ea typeface="Calibri" pitchFamily="34" charset="-122"/>
                <a:cs typeface="Calibri" pitchFamily="34" charset="-120"/>
              </a:rPr>
              <a:t>anomaly flags before failures vs overall</a:t>
            </a:r>
            <a:endParaRPr lang="en-US" sz="900" dirty="0"/>
          </a:p>
          <a:p>
            <a:pPr indent="0" marL="0">
              <a:buNone/>
            </a:pPr>
            <a:r>
              <a:rPr lang="en-US" sz="900" dirty="0">
                <a:solidFill>
                  <a:srgbClr val="5F6B78"/>
                </a:solidFill>
                <a:latin typeface="Calibri" pitchFamily="34" charset="0"/>
                <a:ea typeface="Calibri" pitchFamily="34" charset="-122"/>
                <a:cs typeface="Calibri" pitchFamily="34" charset="-120"/>
              </a:rPr>
              <a:t>Readings flagged in the 24 h before a failure</a:t>
            </a:r>
            <a:endParaRPr lang="en-US" sz="900" dirty="0"/>
          </a:p>
        </p:txBody>
      </p:sp>
      <p:sp>
        <p:nvSpPr>
          <p:cNvPr id="15" name="Text 12"/>
          <p:cNvSpPr txBox="1"/>
          <p:nvPr/>
        </p:nvSpPr>
        <p:spPr>
          <a:xfrm>
            <a:off x="5074920" y="4114800"/>
            <a:ext cx="3611880" cy="594360"/>
          </a:xfrm>
          <a:prstGeom prst="rect">
            <a:avLst/>
          </a:prstGeom>
          <a:noFill/>
          <a:ln/>
        </p:spPr>
        <p:txBody>
          <a:bodyPr wrap="square" lIns="0" tIns="0" rIns="0" bIns="0" rtlCol="0" anchor="t"/>
          <a:lstStyle/>
          <a:p>
            <a:pPr indent="0" marL="0">
              <a:buNone/>
            </a:pPr>
            <a:r>
              <a:rPr lang="en-US" sz="950" i="1" dirty="0">
                <a:solidFill>
                  <a:srgbClr val="5F6B78"/>
                </a:solidFill>
                <a:latin typeface="Calibri" pitchFamily="34" charset="0"/>
                <a:ea typeface="Calibri" pitchFamily="34" charset="-122"/>
                <a:cs typeface="Calibri" pitchFamily="34" charset="-120"/>
              </a:rPr>
              <a:t>Tool wear is random between 200–240 min — unpredictable from one cycle. The physics rule covers it. Fleet: time split, train Jan–Aug 2015, test Sep onwards.</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000" b="1" spc="200" kern="0" dirty="0">
                <a:solidFill>
                  <a:srgbClr val="E8910C"/>
                </a:solidFill>
                <a:latin typeface="Calibri" pitchFamily="34" charset="0"/>
                <a:ea typeface="Calibri" pitchFamily="34" charset="-122"/>
                <a:cs typeface="Calibri" pitchFamily="34" charset="-120"/>
              </a:rPr>
              <a:t>07 · OPTIMISATION</a:t>
            </a:r>
            <a:endParaRPr lang="en-US" sz="10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1B2631"/>
                </a:solidFill>
                <a:latin typeface="Calibri" pitchFamily="34" charset="0"/>
                <a:ea typeface="Calibri" pitchFamily="34" charset="-122"/>
                <a:cs typeface="Calibri" pitchFamily="34" charset="-120"/>
              </a:rPr>
              <a:t>Process setpoint optimiser</a:t>
            </a:r>
            <a:endParaRPr lang="en-US" sz="2800" dirty="0"/>
          </a:p>
        </p:txBody>
      </p:sp>
      <p:sp>
        <p:nvSpPr>
          <p:cNvPr id="4" name="Text 2"/>
          <p:cNvSpPr txBox="1"/>
          <p:nvPr/>
        </p:nvSpPr>
        <p:spPr>
          <a:xfrm>
            <a:off x="7315200" y="4846320"/>
            <a:ext cx="1371600" cy="182880"/>
          </a:xfrm>
          <a:prstGeom prst="rect">
            <a:avLst/>
          </a:prstGeom>
          <a:noFill/>
          <a:ln/>
        </p:spPr>
        <p:txBody>
          <a:bodyPr wrap="square" lIns="0" tIns="0" rIns="0" bIns="0" rtlCol="0" anchor="t"/>
          <a:lstStyle/>
          <a:p>
            <a:pPr algn="r" indent="0" marL="0">
              <a:buNone/>
            </a:pPr>
            <a:r>
              <a:rPr lang="en-US" sz="900" dirty="0">
                <a:solidFill>
                  <a:srgbClr val="5F6B78"/>
                </a:solidFill>
                <a:latin typeface="Calibri" pitchFamily="34" charset="0"/>
                <a:ea typeface="Calibri" pitchFamily="34" charset="-122"/>
                <a:cs typeface="Calibri" pitchFamily="34" charset="-120"/>
              </a:rPr>
              <a:t>SMPO  ·  12</a:t>
            </a:r>
            <a:endParaRPr lang="en-US" sz="900" dirty="0"/>
          </a:p>
        </p:txBody>
      </p:sp>
      <p:sp>
        <p:nvSpPr>
          <p:cNvPr id="5" name="Shape 3"/>
          <p:cNvSpPr/>
          <p:nvPr/>
        </p:nvSpPr>
        <p:spPr>
          <a:xfrm>
            <a:off x="457200" y="1280160"/>
            <a:ext cx="457200" cy="457200"/>
          </a:xfrm>
          <a:prstGeom prst="ellipse">
            <a:avLst/>
          </a:prstGeom>
          <a:solidFill>
            <a:srgbClr val="34495E"/>
          </a:solidFill>
          <a:ln w="12700">
            <a:solidFill>
              <a:srgbClr val="34495E"/>
            </a:solidFill>
            <a:prstDash val="solid"/>
          </a:ln>
        </p:spPr>
      </p:sp>
      <p:pic>
        <p:nvPicPr>
          <p:cNvPr id="6" name="Image 0" descr="preencoded.png">    </p:cNvPr>
          <p:cNvPicPr>
            <a:picLocks noChangeAspect="1"/>
          </p:cNvPicPr>
          <p:nvPr/>
        </p:nvPicPr>
        <p:blipFill>
          <a:blip r:embed="rId1"/>
          <a:stretch>
            <a:fillRect/>
          </a:stretch>
        </p:blipFill>
        <p:spPr>
          <a:xfrm>
            <a:off x="571500" y="1394460"/>
            <a:ext cx="228600" cy="228600"/>
          </a:xfrm>
          <a:prstGeom prst="rect">
            <a:avLst/>
          </a:prstGeom>
        </p:spPr>
      </p:pic>
      <p:sp>
        <p:nvSpPr>
          <p:cNvPr id="7" name="Text 4"/>
          <p:cNvSpPr txBox="1"/>
          <p:nvPr/>
        </p:nvSpPr>
        <p:spPr>
          <a:xfrm>
            <a:off x="1051560" y="1261872"/>
            <a:ext cx="3931920" cy="256032"/>
          </a:xfrm>
          <a:prstGeom prst="rect">
            <a:avLst/>
          </a:prstGeom>
          <a:noFill/>
          <a:ln/>
        </p:spPr>
        <p:txBody>
          <a:bodyPr wrap="square" lIns="0" tIns="0" rIns="0" bIns="0" rtlCol="0" anchor="t"/>
          <a:lstStyle/>
          <a:p>
            <a:pPr indent="0" marL="0">
              <a:buNone/>
            </a:pPr>
            <a:r>
              <a:rPr lang="en-US" sz="1300" b="1" dirty="0">
                <a:solidFill>
                  <a:srgbClr val="1B2631"/>
                </a:solidFill>
                <a:latin typeface="Calibri" pitchFamily="34" charset="0"/>
                <a:ea typeface="Calibri" pitchFamily="34" charset="-122"/>
                <a:cs typeface="Calibri" pitchFamily="34" charset="-120"/>
              </a:rPr>
              <a:t>Search space</a:t>
            </a:r>
            <a:endParaRPr lang="en-US" sz="1300" dirty="0"/>
          </a:p>
        </p:txBody>
      </p:sp>
      <p:sp>
        <p:nvSpPr>
          <p:cNvPr id="8" name="Text 5"/>
          <p:cNvSpPr txBox="1"/>
          <p:nvPr/>
        </p:nvSpPr>
        <p:spPr>
          <a:xfrm>
            <a:off x="1051560" y="1527048"/>
            <a:ext cx="3931920" cy="548640"/>
          </a:xfrm>
          <a:prstGeom prst="rect">
            <a:avLst/>
          </a:prstGeom>
          <a:noFill/>
          <a:ln/>
        </p:spPr>
        <p:txBody>
          <a:bodyPr wrap="square" lIns="0" tIns="0" rIns="0" bIns="0" rtlCol="0" anchor="t"/>
          <a:lstStyle/>
          <a:p>
            <a:pPr indent="0" marL="0">
              <a:buNone/>
            </a:pPr>
            <a:r>
              <a:rPr lang="en-US" sz="1050" dirty="0">
                <a:solidFill>
                  <a:srgbClr val="5F6B78"/>
                </a:solidFill>
                <a:latin typeface="Calibri" pitchFamily="34" charset="0"/>
                <a:ea typeface="Calibri" pitchFamily="34" charset="-122"/>
                <a:cs typeface="Calibri" pitchFamily="34" charset="-120"/>
              </a:rPr>
              <a:t>Speed −15% to +25%, torque −30% to +50% (5% steps), optional tool change; kept within the training range</a:t>
            </a:r>
            <a:endParaRPr lang="en-US" sz="1050" dirty="0"/>
          </a:p>
        </p:txBody>
      </p:sp>
      <p:sp>
        <p:nvSpPr>
          <p:cNvPr id="9" name="Shape 6"/>
          <p:cNvSpPr/>
          <p:nvPr/>
        </p:nvSpPr>
        <p:spPr>
          <a:xfrm>
            <a:off x="457200" y="2148840"/>
            <a:ext cx="457200" cy="457200"/>
          </a:xfrm>
          <a:prstGeom prst="ellipse">
            <a:avLst/>
          </a:prstGeom>
          <a:solidFill>
            <a:srgbClr val="34495E"/>
          </a:solidFill>
          <a:ln w="12700">
            <a:solidFill>
              <a:srgbClr val="34495E"/>
            </a:solidFill>
            <a:prstDash val="solid"/>
          </a:ln>
        </p:spPr>
      </p:sp>
      <p:pic>
        <p:nvPicPr>
          <p:cNvPr id="10" name="Image 1" descr="preencoded.png">    </p:cNvPr>
          <p:cNvPicPr>
            <a:picLocks noChangeAspect="1"/>
          </p:cNvPicPr>
          <p:nvPr/>
        </p:nvPicPr>
        <p:blipFill>
          <a:blip r:embed="rId2"/>
          <a:stretch>
            <a:fillRect/>
          </a:stretch>
        </p:blipFill>
        <p:spPr>
          <a:xfrm>
            <a:off x="571500" y="2263140"/>
            <a:ext cx="228600" cy="228600"/>
          </a:xfrm>
          <a:prstGeom prst="rect">
            <a:avLst/>
          </a:prstGeom>
        </p:spPr>
      </p:pic>
      <p:sp>
        <p:nvSpPr>
          <p:cNvPr id="11" name="Text 7"/>
          <p:cNvSpPr txBox="1"/>
          <p:nvPr/>
        </p:nvSpPr>
        <p:spPr>
          <a:xfrm>
            <a:off x="1051560" y="2130552"/>
            <a:ext cx="3931920" cy="256032"/>
          </a:xfrm>
          <a:prstGeom prst="rect">
            <a:avLst/>
          </a:prstGeom>
          <a:noFill/>
          <a:ln/>
        </p:spPr>
        <p:txBody>
          <a:bodyPr wrap="square" lIns="0" tIns="0" rIns="0" bIns="0" rtlCol="0" anchor="t"/>
          <a:lstStyle/>
          <a:p>
            <a:pPr indent="0" marL="0">
              <a:buNone/>
            </a:pPr>
            <a:r>
              <a:rPr lang="en-US" sz="1300" b="1" dirty="0">
                <a:solidFill>
                  <a:srgbClr val="1B2631"/>
                </a:solidFill>
                <a:latin typeface="Calibri" pitchFamily="34" charset="0"/>
                <a:ea typeface="Calibri" pitchFamily="34" charset="-122"/>
                <a:cs typeface="Calibri" pitchFamily="34" charset="-120"/>
              </a:rPr>
              <a:t>Constraint</a:t>
            </a:r>
            <a:endParaRPr lang="en-US" sz="1300" dirty="0"/>
          </a:p>
        </p:txBody>
      </p:sp>
      <p:sp>
        <p:nvSpPr>
          <p:cNvPr id="12" name="Text 8"/>
          <p:cNvSpPr txBox="1"/>
          <p:nvPr/>
        </p:nvSpPr>
        <p:spPr>
          <a:xfrm>
            <a:off x="1051560" y="2395728"/>
            <a:ext cx="3931920" cy="548640"/>
          </a:xfrm>
          <a:prstGeom prst="rect">
            <a:avLst/>
          </a:prstGeom>
          <a:noFill/>
          <a:ln/>
        </p:spPr>
        <p:txBody>
          <a:bodyPr wrap="square" lIns="0" tIns="0" rIns="0" bIns="0" rtlCol="0" anchor="t"/>
          <a:lstStyle/>
          <a:p>
            <a:pPr indent="0" marL="0">
              <a:buNone/>
            </a:pPr>
            <a:r>
              <a:rPr lang="en-US" sz="1050" dirty="0">
                <a:solidFill>
                  <a:srgbClr val="5F6B78"/>
                </a:solidFill>
                <a:latin typeface="Calibri" pitchFamily="34" charset="0"/>
                <a:ea typeface="Calibri" pitchFamily="34" charset="-122"/>
                <a:cs typeface="Calibri" pitchFamily="34" charset="-120"/>
              </a:rPr>
              <a:t>Speed ≥ min_throughput_ratio × current speed (default 0.9) — speed is the throughput proxy</a:t>
            </a:r>
            <a:endParaRPr lang="en-US" sz="1050" dirty="0"/>
          </a:p>
        </p:txBody>
      </p:sp>
      <p:sp>
        <p:nvSpPr>
          <p:cNvPr id="13" name="Shape 9"/>
          <p:cNvSpPr/>
          <p:nvPr/>
        </p:nvSpPr>
        <p:spPr>
          <a:xfrm>
            <a:off x="457200" y="3017520"/>
            <a:ext cx="457200" cy="457200"/>
          </a:xfrm>
          <a:prstGeom prst="ellipse">
            <a:avLst/>
          </a:prstGeom>
          <a:solidFill>
            <a:srgbClr val="34495E"/>
          </a:solidFill>
          <a:ln w="12700">
            <a:solidFill>
              <a:srgbClr val="34495E"/>
            </a:solidFill>
            <a:prstDash val="solid"/>
          </a:ln>
        </p:spPr>
      </p:sp>
      <p:pic>
        <p:nvPicPr>
          <p:cNvPr id="14" name="Image 2" descr="preencoded.png">    </p:cNvPr>
          <p:cNvPicPr>
            <a:picLocks noChangeAspect="1"/>
          </p:cNvPicPr>
          <p:nvPr/>
        </p:nvPicPr>
        <p:blipFill>
          <a:blip r:embed="rId3"/>
          <a:stretch>
            <a:fillRect/>
          </a:stretch>
        </p:blipFill>
        <p:spPr>
          <a:xfrm>
            <a:off x="571500" y="3131820"/>
            <a:ext cx="228600" cy="228600"/>
          </a:xfrm>
          <a:prstGeom prst="rect">
            <a:avLst/>
          </a:prstGeom>
        </p:spPr>
      </p:pic>
      <p:sp>
        <p:nvSpPr>
          <p:cNvPr id="15" name="Text 10"/>
          <p:cNvSpPr txBox="1"/>
          <p:nvPr/>
        </p:nvSpPr>
        <p:spPr>
          <a:xfrm>
            <a:off x="1051560" y="2999232"/>
            <a:ext cx="3931920" cy="256032"/>
          </a:xfrm>
          <a:prstGeom prst="rect">
            <a:avLst/>
          </a:prstGeom>
          <a:noFill/>
          <a:ln/>
        </p:spPr>
        <p:txBody>
          <a:bodyPr wrap="square" lIns="0" tIns="0" rIns="0" bIns="0" rtlCol="0" anchor="t"/>
          <a:lstStyle/>
          <a:p>
            <a:pPr indent="0" marL="0">
              <a:buNone/>
            </a:pPr>
            <a:r>
              <a:rPr lang="en-US" sz="1300" b="1" dirty="0">
                <a:solidFill>
                  <a:srgbClr val="1B2631"/>
                </a:solidFill>
                <a:latin typeface="Calibri" pitchFamily="34" charset="0"/>
                <a:ea typeface="Calibri" pitchFamily="34" charset="-122"/>
                <a:cs typeface="Calibri" pitchFamily="34" charset="-120"/>
              </a:rPr>
              <a:t>Objective</a:t>
            </a:r>
            <a:endParaRPr lang="en-US" sz="1300" dirty="0"/>
          </a:p>
        </p:txBody>
      </p:sp>
      <p:sp>
        <p:nvSpPr>
          <p:cNvPr id="16" name="Text 11"/>
          <p:cNvSpPr txBox="1"/>
          <p:nvPr/>
        </p:nvSpPr>
        <p:spPr>
          <a:xfrm>
            <a:off x="1051560" y="3264408"/>
            <a:ext cx="3931920" cy="548640"/>
          </a:xfrm>
          <a:prstGeom prst="rect">
            <a:avLst/>
          </a:prstGeom>
          <a:noFill/>
          <a:ln/>
        </p:spPr>
        <p:txBody>
          <a:bodyPr wrap="square" lIns="0" tIns="0" rIns="0" bIns="0" rtlCol="0" anchor="t"/>
          <a:lstStyle/>
          <a:p>
            <a:pPr indent="0" marL="0">
              <a:buNone/>
            </a:pPr>
            <a:r>
              <a:rPr lang="en-US" sz="1050" dirty="0">
                <a:solidFill>
                  <a:srgbClr val="5F6B78"/>
                </a:solidFill>
                <a:latin typeface="Calibri" pitchFamily="34" charset="0"/>
                <a:ea typeface="Calibri" pitchFamily="34" charset="-122"/>
                <a:cs typeface="Calibri" pitchFamily="34" charset="-120"/>
              </a:rPr>
              <a:t>Failure prob. + 0.5 × throughput loss + small change-size penalty + tool-change penalty → smallest fix that works</a:t>
            </a:r>
            <a:endParaRPr lang="en-US" sz="1050" dirty="0"/>
          </a:p>
        </p:txBody>
      </p:sp>
      <p:sp>
        <p:nvSpPr>
          <p:cNvPr id="17" name="Shape 12"/>
          <p:cNvSpPr/>
          <p:nvPr/>
        </p:nvSpPr>
        <p:spPr>
          <a:xfrm>
            <a:off x="457200" y="3886200"/>
            <a:ext cx="457200" cy="457200"/>
          </a:xfrm>
          <a:prstGeom prst="ellipse">
            <a:avLst/>
          </a:prstGeom>
          <a:solidFill>
            <a:srgbClr val="34495E"/>
          </a:solidFill>
          <a:ln w="12700">
            <a:solidFill>
              <a:srgbClr val="34495E"/>
            </a:solidFill>
            <a:prstDash val="solid"/>
          </a:ln>
        </p:spPr>
      </p:sp>
      <p:pic>
        <p:nvPicPr>
          <p:cNvPr id="18" name="Image 3" descr="preencoded.png">    </p:cNvPr>
          <p:cNvPicPr>
            <a:picLocks noChangeAspect="1"/>
          </p:cNvPicPr>
          <p:nvPr/>
        </p:nvPicPr>
        <p:blipFill>
          <a:blip r:embed="rId4"/>
          <a:stretch>
            <a:fillRect/>
          </a:stretch>
        </p:blipFill>
        <p:spPr>
          <a:xfrm>
            <a:off x="571500" y="4000500"/>
            <a:ext cx="228600" cy="228600"/>
          </a:xfrm>
          <a:prstGeom prst="rect">
            <a:avLst/>
          </a:prstGeom>
        </p:spPr>
      </p:pic>
      <p:sp>
        <p:nvSpPr>
          <p:cNvPr id="19" name="Text 13"/>
          <p:cNvSpPr txBox="1"/>
          <p:nvPr/>
        </p:nvSpPr>
        <p:spPr>
          <a:xfrm>
            <a:off x="1051560" y="3867912"/>
            <a:ext cx="3931920" cy="256032"/>
          </a:xfrm>
          <a:prstGeom prst="rect">
            <a:avLst/>
          </a:prstGeom>
          <a:noFill/>
          <a:ln/>
        </p:spPr>
        <p:txBody>
          <a:bodyPr wrap="square" lIns="0" tIns="0" rIns="0" bIns="0" rtlCol="0" anchor="t"/>
          <a:lstStyle/>
          <a:p>
            <a:pPr indent="0" marL="0">
              <a:buNone/>
            </a:pPr>
            <a:r>
              <a:rPr lang="en-US" sz="1300" b="1" dirty="0">
                <a:solidFill>
                  <a:srgbClr val="1B2631"/>
                </a:solidFill>
                <a:latin typeface="Calibri" pitchFamily="34" charset="0"/>
                <a:ea typeface="Calibri" pitchFamily="34" charset="-122"/>
                <a:cs typeface="Calibri" pitchFamily="34" charset="-120"/>
              </a:rPr>
              <a:t>Verification</a:t>
            </a:r>
            <a:endParaRPr lang="en-US" sz="1300" dirty="0"/>
          </a:p>
        </p:txBody>
      </p:sp>
      <p:sp>
        <p:nvSpPr>
          <p:cNvPr id="20" name="Text 14"/>
          <p:cNvSpPr txBox="1"/>
          <p:nvPr/>
        </p:nvSpPr>
        <p:spPr>
          <a:xfrm>
            <a:off x="1051560" y="4133088"/>
            <a:ext cx="3931920" cy="548640"/>
          </a:xfrm>
          <a:prstGeom prst="rect">
            <a:avLst/>
          </a:prstGeom>
          <a:noFill/>
          <a:ln/>
        </p:spPr>
        <p:txBody>
          <a:bodyPr wrap="square" lIns="0" tIns="0" rIns="0" bIns="0" rtlCol="0" anchor="t"/>
          <a:lstStyle/>
          <a:p>
            <a:pPr indent="0" marL="0">
              <a:buNone/>
            </a:pPr>
            <a:r>
              <a:rPr lang="en-US" sz="1050" dirty="0">
                <a:solidFill>
                  <a:srgbClr val="5F6B78"/>
                </a:solidFill>
                <a:latin typeface="Calibri" pitchFamily="34" charset="0"/>
                <a:ea typeface="Calibri" pitchFamily="34" charset="-122"/>
                <a:cs typeface="Calibri" pitchFamily="34" charset="-120"/>
              </a:rPr>
              <a:t>Every candidate scored by the trained failure model; simulate() re-scores any what-if</a:t>
            </a:r>
            <a:endParaRPr lang="en-US" sz="1050" dirty="0"/>
          </a:p>
        </p:txBody>
      </p:sp>
      <p:sp>
        <p:nvSpPr>
          <p:cNvPr id="21" name="Shape 15"/>
          <p:cNvSpPr/>
          <p:nvPr/>
        </p:nvSpPr>
        <p:spPr>
          <a:xfrm>
            <a:off x="5303520" y="1280160"/>
            <a:ext cx="3383280" cy="1417320"/>
          </a:xfrm>
          <a:prstGeom prst="roundRect">
            <a:avLst>
              <a:gd name="adj" fmla="val 5161"/>
            </a:avLst>
          </a:prstGeom>
          <a:solidFill>
            <a:srgbClr val="1B2631"/>
          </a:solidFill>
          <a:ln w="12700">
            <a:solidFill>
              <a:srgbClr val="1B2631"/>
            </a:solidFill>
            <a:prstDash val="solid"/>
          </a:ln>
        </p:spPr>
      </p:sp>
      <p:sp>
        <p:nvSpPr>
          <p:cNvPr id="22" name="Text 16"/>
          <p:cNvSpPr txBox="1"/>
          <p:nvPr/>
        </p:nvSpPr>
        <p:spPr>
          <a:xfrm>
            <a:off x="5486400" y="1371600"/>
            <a:ext cx="3017520" cy="685800"/>
          </a:xfrm>
          <a:prstGeom prst="rect">
            <a:avLst/>
          </a:prstGeom>
          <a:noFill/>
          <a:ln/>
        </p:spPr>
        <p:txBody>
          <a:bodyPr wrap="square" lIns="0" tIns="0" rIns="0" bIns="0" rtlCol="0" anchor="t"/>
          <a:lstStyle/>
          <a:p>
            <a:pPr indent="0" marL="0">
              <a:buNone/>
            </a:pPr>
            <a:r>
              <a:rPr lang="en-US" sz="4400" b="1" dirty="0">
                <a:solidFill>
                  <a:srgbClr val="E8910C"/>
                </a:solidFill>
                <a:latin typeface="Calibri" pitchFamily="34" charset="0"/>
                <a:ea typeface="Calibri" pitchFamily="34" charset="-122"/>
                <a:cs typeface="Calibri" pitchFamily="34" charset="-120"/>
              </a:rPr>
              <a:t>67 / 68</a:t>
            </a:r>
            <a:endParaRPr lang="en-US" sz="4400" dirty="0"/>
          </a:p>
        </p:txBody>
      </p:sp>
      <p:sp>
        <p:nvSpPr>
          <p:cNvPr id="23" name="Text 17"/>
          <p:cNvSpPr txBox="1"/>
          <p:nvPr/>
        </p:nvSpPr>
        <p:spPr>
          <a:xfrm>
            <a:off x="5486400" y="2103120"/>
            <a:ext cx="3017520" cy="45720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failing test cycles brought below 20% risk</a:t>
            </a:r>
            <a:endParaRPr lang="en-US" sz="1200" dirty="0"/>
          </a:p>
        </p:txBody>
      </p:sp>
      <p:sp>
        <p:nvSpPr>
          <p:cNvPr id="24" name="Shape 18"/>
          <p:cNvSpPr/>
          <p:nvPr/>
        </p:nvSpPr>
        <p:spPr>
          <a:xfrm>
            <a:off x="5303520" y="2880360"/>
            <a:ext cx="3383280" cy="1828800"/>
          </a:xfrm>
          <a:prstGeom prst="roundRect">
            <a:avLst>
              <a:gd name="adj" fmla="val 4000"/>
            </a:avLst>
          </a:prstGeom>
          <a:solidFill>
            <a:srgbClr val="EEF2F5"/>
          </a:solidFill>
          <a:ln w="12700">
            <a:solidFill>
              <a:srgbClr val="EEF2F5"/>
            </a:solidFill>
            <a:prstDash val="solid"/>
          </a:ln>
        </p:spPr>
      </p:sp>
      <p:sp>
        <p:nvSpPr>
          <p:cNvPr id="25" name="Text 19"/>
          <p:cNvSpPr txBox="1"/>
          <p:nvPr/>
        </p:nvSpPr>
        <p:spPr>
          <a:xfrm>
            <a:off x="5486400" y="2990088"/>
            <a:ext cx="3017520" cy="201168"/>
          </a:xfrm>
          <a:prstGeom prst="rect">
            <a:avLst/>
          </a:prstGeom>
          <a:noFill/>
          <a:ln/>
        </p:spPr>
        <p:txBody>
          <a:bodyPr wrap="square" lIns="0" tIns="0" rIns="0" bIns="0" rtlCol="0" anchor="t"/>
          <a:lstStyle/>
          <a:p>
            <a:pPr indent="0" marL="0">
              <a:buNone/>
            </a:pPr>
            <a:r>
              <a:rPr lang="en-US" sz="900" b="1" spc="100" kern="0" dirty="0">
                <a:solidFill>
                  <a:srgbClr val="5F6B78"/>
                </a:solidFill>
                <a:latin typeface="Calibri" pitchFamily="34" charset="0"/>
                <a:ea typeface="Calibri" pitchFamily="34" charset="-122"/>
                <a:cs typeface="Calibri" pitchFamily="34" charset="-120"/>
              </a:rPr>
              <a:t>EXAMPLE — HEAT-DISSIPATION FAILURE</a:t>
            </a:r>
            <a:endParaRPr lang="en-US" sz="900" dirty="0"/>
          </a:p>
        </p:txBody>
      </p:sp>
      <p:sp>
        <p:nvSpPr>
          <p:cNvPr id="26" name="Text 20"/>
          <p:cNvSpPr txBox="1"/>
          <p:nvPr/>
        </p:nvSpPr>
        <p:spPr>
          <a:xfrm>
            <a:off x="5486400" y="3246120"/>
            <a:ext cx="3017520" cy="274320"/>
          </a:xfrm>
          <a:prstGeom prst="rect">
            <a:avLst/>
          </a:prstGeom>
          <a:noFill/>
          <a:ln/>
        </p:spPr>
        <p:txBody>
          <a:bodyPr wrap="square" lIns="0" tIns="0" rIns="0" bIns="0" rtlCol="0" anchor="t"/>
          <a:lstStyle/>
          <a:p>
            <a:pPr indent="0" marL="0">
              <a:buNone/>
            </a:pPr>
            <a:r>
              <a:rPr lang="en-US" sz="1300" b="1" dirty="0">
                <a:solidFill>
                  <a:srgbClr val="1B2631"/>
                </a:solidFill>
                <a:latin typeface="Calibri" pitchFamily="34" charset="0"/>
                <a:ea typeface="Calibri" pitchFamily="34" charset="-122"/>
                <a:cs typeface="Calibri" pitchFamily="34" charset="-120"/>
              </a:rPr>
              <a:t>Speed 1363 → 1431 rpm </a:t>
            </a:r>
            <a:pPr indent="0" marL="0">
              <a:buNone/>
            </a:pPr>
            <a:r>
              <a:rPr lang="en-US" sz="1300" dirty="0">
                <a:solidFill>
                  <a:srgbClr val="5F6B78"/>
                </a:solidFill>
                <a:latin typeface="Calibri" pitchFamily="34" charset="0"/>
                <a:ea typeface="Calibri" pitchFamily="34" charset="-122"/>
                <a:cs typeface="Calibri" pitchFamily="34" charset="-120"/>
              </a:rPr>
              <a:t>(+5%)</a:t>
            </a:r>
            <a:endParaRPr lang="en-US" sz="1300" dirty="0"/>
          </a:p>
        </p:txBody>
      </p:sp>
      <p:sp>
        <p:nvSpPr>
          <p:cNvPr id="27" name="Text 21"/>
          <p:cNvSpPr txBox="1"/>
          <p:nvPr/>
        </p:nvSpPr>
        <p:spPr>
          <a:xfrm>
            <a:off x="5486400" y="3566160"/>
            <a:ext cx="3017520" cy="457200"/>
          </a:xfrm>
          <a:prstGeom prst="rect">
            <a:avLst/>
          </a:prstGeom>
          <a:noFill/>
          <a:ln/>
        </p:spPr>
        <p:txBody>
          <a:bodyPr wrap="square" lIns="0" tIns="0" rIns="0" bIns="0" rtlCol="0" anchor="t"/>
          <a:lstStyle/>
          <a:p>
            <a:pPr indent="0" marL="0">
              <a:buNone/>
            </a:pPr>
            <a:r>
              <a:rPr lang="en-US" sz="2600" b="1" dirty="0">
                <a:solidFill>
                  <a:srgbClr val="C0392B"/>
                </a:solidFill>
                <a:latin typeface="Calibri" pitchFamily="34" charset="0"/>
                <a:ea typeface="Calibri" pitchFamily="34" charset="-122"/>
                <a:cs typeface="Calibri" pitchFamily="34" charset="-120"/>
              </a:rPr>
              <a:t>99.9%</a:t>
            </a:r>
            <a:pPr indent="0" marL="0">
              <a:buNone/>
            </a:pPr>
            <a:r>
              <a:rPr lang="en-US" sz="2600" dirty="0">
                <a:solidFill>
                  <a:srgbClr val="5F6B78"/>
                </a:solidFill>
                <a:latin typeface="Calibri" pitchFamily="34" charset="0"/>
                <a:ea typeface="Calibri" pitchFamily="34" charset="-122"/>
                <a:cs typeface="Calibri" pitchFamily="34" charset="-120"/>
              </a:rPr>
              <a:t>  →  </a:t>
            </a:r>
            <a:pPr indent="0" marL="0">
              <a:buNone/>
            </a:pPr>
            <a:r>
              <a:rPr lang="en-US" sz="2600" b="1" dirty="0">
                <a:solidFill>
                  <a:srgbClr val="138D75"/>
                </a:solidFill>
                <a:latin typeface="Calibri" pitchFamily="34" charset="0"/>
                <a:ea typeface="Calibri" pitchFamily="34" charset="-122"/>
                <a:cs typeface="Calibri" pitchFamily="34" charset="-120"/>
              </a:rPr>
              <a:t>0.01%</a:t>
            </a:r>
            <a:endParaRPr lang="en-US" sz="2600" dirty="0"/>
          </a:p>
        </p:txBody>
      </p:sp>
      <p:sp>
        <p:nvSpPr>
          <p:cNvPr id="28" name="Text 22"/>
          <p:cNvSpPr txBox="1"/>
          <p:nvPr/>
        </p:nvSpPr>
        <p:spPr>
          <a:xfrm>
            <a:off x="5486400" y="4114800"/>
            <a:ext cx="3017520" cy="457200"/>
          </a:xfrm>
          <a:prstGeom prst="rect">
            <a:avLst/>
          </a:prstGeom>
          <a:noFill/>
          <a:ln/>
        </p:spPr>
        <p:txBody>
          <a:bodyPr wrap="square" lIns="0" tIns="0" rIns="0" bIns="0" rtlCol="0" anchor="t"/>
          <a:lstStyle/>
          <a:p>
            <a:pPr indent="0" marL="0">
              <a:buNone/>
            </a:pPr>
            <a:r>
              <a:rPr lang="en-US" sz="1050" dirty="0">
                <a:solidFill>
                  <a:srgbClr val="5F6B78"/>
                </a:solidFill>
                <a:latin typeface="Calibri" pitchFamily="34" charset="0"/>
                <a:ea typeface="Calibri" pitchFamily="34" charset="-122"/>
                <a:cs typeface="Calibri" pitchFamily="34" charset="-120"/>
              </a:rPr>
              <a:t>Moves speed above the 1380 rpm heat-dissipation limit.</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000" b="1" spc="200" kern="0" dirty="0">
                <a:solidFill>
                  <a:srgbClr val="E8910C"/>
                </a:solidFill>
                <a:latin typeface="Calibri" pitchFamily="34" charset="0"/>
                <a:ea typeface="Calibri" pitchFamily="34" charset="-122"/>
                <a:cs typeface="Calibri" pitchFamily="34" charset="-120"/>
              </a:rPr>
              <a:t>07 · OPTIMISATION</a:t>
            </a:r>
            <a:endParaRPr lang="en-US" sz="10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1B2631"/>
                </a:solidFill>
                <a:latin typeface="Calibri" pitchFamily="34" charset="0"/>
                <a:ea typeface="Calibri" pitchFamily="34" charset="-122"/>
                <a:cs typeface="Calibri" pitchFamily="34" charset="-120"/>
              </a:rPr>
              <a:t>Maintenance scheduler (OR-Tools CP-SAT)</a:t>
            </a:r>
            <a:endParaRPr lang="en-US" sz="2800" dirty="0"/>
          </a:p>
        </p:txBody>
      </p:sp>
      <p:sp>
        <p:nvSpPr>
          <p:cNvPr id="4" name="Text 2"/>
          <p:cNvSpPr txBox="1"/>
          <p:nvPr/>
        </p:nvSpPr>
        <p:spPr>
          <a:xfrm>
            <a:off x="7315200" y="4846320"/>
            <a:ext cx="1371600" cy="182880"/>
          </a:xfrm>
          <a:prstGeom prst="rect">
            <a:avLst/>
          </a:prstGeom>
          <a:noFill/>
          <a:ln/>
        </p:spPr>
        <p:txBody>
          <a:bodyPr wrap="square" lIns="0" tIns="0" rIns="0" bIns="0" rtlCol="0" anchor="t"/>
          <a:lstStyle/>
          <a:p>
            <a:pPr algn="r" indent="0" marL="0">
              <a:buNone/>
            </a:pPr>
            <a:r>
              <a:rPr lang="en-US" sz="900" dirty="0">
                <a:solidFill>
                  <a:srgbClr val="5F6B78"/>
                </a:solidFill>
                <a:latin typeface="Calibri" pitchFamily="34" charset="0"/>
                <a:ea typeface="Calibri" pitchFamily="34" charset="-122"/>
                <a:cs typeface="Calibri" pitchFamily="34" charset="-120"/>
              </a:rPr>
              <a:t>SMPO  ·  13</a:t>
            </a:r>
            <a:endParaRPr lang="en-US" sz="900" dirty="0"/>
          </a:p>
        </p:txBody>
      </p:sp>
      <p:sp>
        <p:nvSpPr>
          <p:cNvPr id="5" name="Text 3"/>
          <p:cNvSpPr txBox="1"/>
          <p:nvPr/>
        </p:nvSpPr>
        <p:spPr>
          <a:xfrm>
            <a:off x="457200" y="1280160"/>
            <a:ext cx="4206240" cy="237744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B2631"/>
                </a:solidFill>
                <a:latin typeface="Calibri" pitchFamily="34" charset="0"/>
                <a:ea typeface="Calibri" pitchFamily="34" charset="-122"/>
                <a:cs typeface="Calibri" pitchFamily="34" charset="-120"/>
              </a:rPr>
              <a:t>Jobs: every (machine, component) with 24 h or 7-day risk ≥ 5%</a:t>
            </a:r>
            <a:endParaRPr lang="en-US" sz="1150" dirty="0"/>
          </a:p>
          <a:p>
            <a:pPr marL="342900" indent="-342900">
              <a:spcAft>
                <a:spcPts val="600"/>
              </a:spcAft>
              <a:buSzPct val="100000"/>
              <a:buChar char="•"/>
            </a:pPr>
            <a:r>
              <a:rPr lang="en-US" sz="1150" dirty="0">
                <a:solidFill>
                  <a:srgbClr val="1B2631"/>
                </a:solidFill>
                <a:latin typeface="Calibri" pitchFamily="34" charset="0"/>
                <a:ea typeface="Calibri" pitchFamily="34" charset="-122"/>
                <a:cs typeface="Calibri" pitchFamily="34" charset="-120"/>
              </a:rPr>
              <a:t>Decision: replace on day d of the horizon, or don't schedule</a:t>
            </a:r>
            <a:endParaRPr lang="en-US" sz="1150" dirty="0"/>
          </a:p>
          <a:p>
            <a:pPr marL="342900" indent="-342900">
              <a:spcAft>
                <a:spcPts val="600"/>
              </a:spcAft>
              <a:buSzPct val="100000"/>
              <a:buChar char="•"/>
            </a:pPr>
            <a:r>
              <a:rPr lang="en-US" sz="1150" dirty="0">
                <a:solidFill>
                  <a:srgbClr val="1B2631"/>
                </a:solidFill>
                <a:latin typeface="Calibri" pitchFamily="34" charset="0"/>
                <a:ea typeface="Calibri" pitchFamily="34" charset="-122"/>
                <a:cs typeface="Calibri" pitchFamily="34" charset="-120"/>
              </a:rPr>
              <a:t>Cost of replacing on day d: planned cost + planned downtime × day's load + P(fails before d) × unplanned cost</a:t>
            </a:r>
            <a:endParaRPr lang="en-US" sz="1150" dirty="0"/>
          </a:p>
          <a:p>
            <a:pPr marL="342900" indent="-342900">
              <a:spcAft>
                <a:spcPts val="600"/>
              </a:spcAft>
              <a:buSzPct val="100000"/>
              <a:buChar char="•"/>
            </a:pPr>
            <a:r>
              <a:rPr lang="en-US" sz="1150" dirty="0">
                <a:solidFill>
                  <a:srgbClr val="1B2631"/>
                </a:solidFill>
                <a:latin typeface="Calibri" pitchFamily="34" charset="0"/>
                <a:ea typeface="Calibri" pitchFamily="34" charset="-122"/>
                <a:cs typeface="Calibri" pitchFamily="34" charset="-120"/>
              </a:rPr>
              <a:t>Cost of not scheduling: P(fails within horizon) × unplanned cost</a:t>
            </a:r>
            <a:endParaRPr lang="en-US" sz="1150" dirty="0"/>
          </a:p>
          <a:p>
            <a:pPr marL="342900" indent="-342900">
              <a:spcAft>
                <a:spcPts val="600"/>
              </a:spcAft>
              <a:buSzPct val="100000"/>
              <a:buChar char="•"/>
            </a:pPr>
            <a:r>
              <a:rPr lang="en-US" sz="1150" dirty="0">
                <a:solidFill>
                  <a:srgbClr val="1B2631"/>
                </a:solidFill>
                <a:latin typeface="Calibri" pitchFamily="34" charset="0"/>
                <a:ea typeface="Calibri" pitchFamily="34" charset="-122"/>
                <a:cs typeface="Calibri" pitchFamily="34" charset="-120"/>
              </a:rPr>
              <a:t>Constraint: at most crew_per_day jobs per day</a:t>
            </a:r>
            <a:endParaRPr lang="en-US" sz="1150" dirty="0"/>
          </a:p>
        </p:txBody>
      </p:sp>
      <p:sp>
        <p:nvSpPr>
          <p:cNvPr id="6" name="Shape 4"/>
          <p:cNvSpPr/>
          <p:nvPr/>
        </p:nvSpPr>
        <p:spPr>
          <a:xfrm>
            <a:off x="457200" y="3749040"/>
            <a:ext cx="4206240" cy="960120"/>
          </a:xfrm>
          <a:prstGeom prst="roundRect">
            <a:avLst>
              <a:gd name="adj" fmla="val 7619"/>
            </a:avLst>
          </a:prstGeom>
          <a:solidFill>
            <a:srgbClr val="EEF2F5"/>
          </a:solidFill>
          <a:ln w="12700">
            <a:solidFill>
              <a:srgbClr val="EEF2F5"/>
            </a:solidFill>
            <a:prstDash val="solid"/>
          </a:ln>
        </p:spPr>
      </p:sp>
      <p:sp>
        <p:nvSpPr>
          <p:cNvPr id="7" name="Text 5"/>
          <p:cNvSpPr txBox="1"/>
          <p:nvPr/>
        </p:nvSpPr>
        <p:spPr>
          <a:xfrm>
            <a:off x="640080" y="3840480"/>
            <a:ext cx="3840480" cy="182880"/>
          </a:xfrm>
          <a:prstGeom prst="rect">
            <a:avLst/>
          </a:prstGeom>
          <a:noFill/>
          <a:ln/>
        </p:spPr>
        <p:txBody>
          <a:bodyPr wrap="square" lIns="0" tIns="0" rIns="0" bIns="0" rtlCol="0" anchor="t"/>
          <a:lstStyle/>
          <a:p>
            <a:pPr indent="0" marL="0">
              <a:buNone/>
            </a:pPr>
            <a:r>
              <a:rPr lang="en-US" sz="900" b="1" spc="100" kern="0" dirty="0">
                <a:solidFill>
                  <a:srgbClr val="5F6B78"/>
                </a:solidFill>
                <a:latin typeface="Calibri" pitchFamily="34" charset="0"/>
                <a:ea typeface="Calibri" pitchFamily="34" charset="-122"/>
                <a:cs typeface="Calibri" pitchFamily="34" charset="-120"/>
              </a:rPr>
              <a:t>FAILURE TIMING</a:t>
            </a:r>
            <a:endParaRPr lang="en-US" sz="900" dirty="0"/>
          </a:p>
        </p:txBody>
      </p:sp>
      <p:sp>
        <p:nvSpPr>
          <p:cNvPr id="8" name="Text 6"/>
          <p:cNvSpPr txBox="1"/>
          <p:nvPr/>
        </p:nvSpPr>
        <p:spPr>
          <a:xfrm>
            <a:off x="640080" y="4050792"/>
            <a:ext cx="3840480" cy="256032"/>
          </a:xfrm>
          <a:prstGeom prst="rect">
            <a:avLst/>
          </a:prstGeom>
          <a:noFill/>
          <a:ln/>
        </p:spPr>
        <p:txBody>
          <a:bodyPr wrap="square" lIns="0" tIns="0" rIns="0" bIns="0" rtlCol="0" anchor="t"/>
          <a:lstStyle/>
          <a:p>
            <a:pPr indent="0" marL="0">
              <a:buNone/>
            </a:pPr>
            <a:r>
              <a:rPr lang="en-US" sz="1050" b="1" dirty="0">
                <a:solidFill>
                  <a:srgbClr val="1B2631"/>
                </a:solidFill>
                <a:latin typeface="Courier New" pitchFamily="34" charset="0"/>
                <a:ea typeface="Courier New" pitchFamily="34" charset="-122"/>
                <a:cs typeface="Courier New" pitchFamily="34" charset="-120"/>
              </a:rPr>
              <a:t>P(fail &lt; d) = 1 − (1 − p24h)(1 − h)^(d−1)</a:t>
            </a:r>
            <a:endParaRPr lang="en-US" sz="1050" dirty="0"/>
          </a:p>
        </p:txBody>
      </p:sp>
      <p:sp>
        <p:nvSpPr>
          <p:cNvPr id="9" name="Text 7"/>
          <p:cNvSpPr txBox="1"/>
          <p:nvPr/>
        </p:nvSpPr>
        <p:spPr>
          <a:xfrm>
            <a:off x="640080" y="4343400"/>
            <a:ext cx="3840480" cy="274320"/>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h = constant daily hazard implied by the 7-day probability</a:t>
            </a:r>
            <a:endParaRPr lang="en-US" sz="950" dirty="0"/>
          </a:p>
        </p:txBody>
      </p:sp>
      <p:graphicFrame>
        <p:nvGraphicFramePr>
          <p:cNvPr id="10" name="Chart 0" descr=""/>
          <p:cNvGraphicFramePr/>
          <p:nvPr/>
        </p:nvGraphicFramePr>
        <p:xfrm>
          <a:off x="4937760" y="1188720"/>
          <a:ext cx="3749040" cy="2606040"/>
        </p:xfrm>
        <a:graphic xmlns:a="http://schemas.openxmlformats.org/drawingml/2006/main">
          <a:graphicData uri="http://schemas.openxmlformats.org/drawingml/2006/chart">
            <c:chart xmlns:c="http://schemas.openxmlformats.org/drawingml/2006/chart" r:id="rId1"/>
          </a:graphicData>
        </a:graphic>
      </p:graphicFrame>
      <p:sp>
        <p:nvSpPr>
          <p:cNvPr id="11" name="Shape 8"/>
          <p:cNvSpPr/>
          <p:nvPr/>
        </p:nvSpPr>
        <p:spPr>
          <a:xfrm>
            <a:off x="4937760" y="3931920"/>
            <a:ext cx="3749040" cy="777240"/>
          </a:xfrm>
          <a:prstGeom prst="roundRect">
            <a:avLst>
              <a:gd name="adj" fmla="val 9412"/>
            </a:avLst>
          </a:prstGeom>
          <a:solidFill>
            <a:srgbClr val="1B2631"/>
          </a:solidFill>
          <a:ln w="12700">
            <a:solidFill>
              <a:srgbClr val="1B2631"/>
            </a:solidFill>
            <a:prstDash val="solid"/>
          </a:ln>
        </p:spPr>
      </p:sp>
      <p:sp>
        <p:nvSpPr>
          <p:cNvPr id="12" name="Text 9"/>
          <p:cNvSpPr txBox="1"/>
          <p:nvPr/>
        </p:nvSpPr>
        <p:spPr>
          <a:xfrm>
            <a:off x="5120640" y="3977640"/>
            <a:ext cx="3474720" cy="685800"/>
          </a:xfrm>
          <a:prstGeom prst="rect">
            <a:avLst/>
          </a:prstGeom>
          <a:noFill/>
          <a:ln/>
        </p:spPr>
        <p:txBody>
          <a:bodyPr wrap="square" lIns="0" tIns="0" rIns="0" bIns="0" rtlCol="0" anchor="ctr"/>
          <a:lstStyle/>
          <a:p>
            <a:pPr indent="0" marL="0">
              <a:buNone/>
            </a:pPr>
            <a:r>
              <a:rPr lang="en-US" sz="2200" b="1" dirty="0">
                <a:solidFill>
                  <a:srgbClr val="E8910C"/>
                </a:solidFill>
                <a:latin typeface="Calibri" pitchFamily="34" charset="0"/>
                <a:ea typeface="Calibri" pitchFamily="34" charset="-122"/>
                <a:cs typeface="Calibri" pitchFamily="34" charset="-120"/>
              </a:rPr>
              <a:t>$139,174 </a:t>
            </a:r>
            <a:pPr indent="0" marL="0">
              <a:buNone/>
            </a:pPr>
            <a:r>
              <a:rPr lang="en-US" sz="1100" dirty="0">
                <a:solidFill>
                  <a:srgbClr val="FFFFFF"/>
                </a:solidFill>
                <a:latin typeface="Calibri" pitchFamily="34" charset="0"/>
                <a:ea typeface="Calibri" pitchFamily="34" charset="-122"/>
                <a:cs typeface="Calibri" pitchFamily="34" charset="-120"/>
              </a:rPr>
              <a:t>expected saving that week</a:t>
            </a:r>
            <a:endParaRPr lang="en-US" sz="2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000" b="1" spc="200" kern="0" dirty="0">
                <a:solidFill>
                  <a:srgbClr val="E8910C"/>
                </a:solidFill>
                <a:latin typeface="Calibri" pitchFamily="34" charset="0"/>
                <a:ea typeface="Calibri" pitchFamily="34" charset="-122"/>
                <a:cs typeface="Calibri" pitchFamily="34" charset="-120"/>
              </a:rPr>
              <a:t>07 · OPTIMISATION</a:t>
            </a:r>
            <a:endParaRPr lang="en-US" sz="10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1B2631"/>
                </a:solidFill>
                <a:latin typeface="Calibri" pitchFamily="34" charset="0"/>
                <a:ea typeface="Calibri" pitchFamily="34" charset="-122"/>
                <a:cs typeface="Calibri" pitchFamily="34" charset="-120"/>
              </a:rPr>
              <a:t>OEE and the business case</a:t>
            </a:r>
            <a:endParaRPr lang="en-US" sz="2800" dirty="0"/>
          </a:p>
        </p:txBody>
      </p:sp>
      <p:sp>
        <p:nvSpPr>
          <p:cNvPr id="4" name="Text 2"/>
          <p:cNvSpPr txBox="1"/>
          <p:nvPr/>
        </p:nvSpPr>
        <p:spPr>
          <a:xfrm>
            <a:off x="7315200" y="4846320"/>
            <a:ext cx="1371600" cy="182880"/>
          </a:xfrm>
          <a:prstGeom prst="rect">
            <a:avLst/>
          </a:prstGeom>
          <a:noFill/>
          <a:ln/>
        </p:spPr>
        <p:txBody>
          <a:bodyPr wrap="square" lIns="0" tIns="0" rIns="0" bIns="0" rtlCol="0" anchor="t"/>
          <a:lstStyle/>
          <a:p>
            <a:pPr algn="r" indent="0" marL="0">
              <a:buNone/>
            </a:pPr>
            <a:r>
              <a:rPr lang="en-US" sz="900" dirty="0">
                <a:solidFill>
                  <a:srgbClr val="5F6B78"/>
                </a:solidFill>
                <a:latin typeface="Calibri" pitchFamily="34" charset="0"/>
                <a:ea typeface="Calibri" pitchFamily="34" charset="-122"/>
                <a:cs typeface="Calibri" pitchFamily="34" charset="-120"/>
              </a:rPr>
              <a:t>SMPO  ·  14</a:t>
            </a:r>
            <a:endParaRPr lang="en-US" sz="900" dirty="0"/>
          </a:p>
        </p:txBody>
      </p:sp>
      <p:sp>
        <p:nvSpPr>
          <p:cNvPr id="5" name="Shape 3"/>
          <p:cNvSpPr/>
          <p:nvPr/>
        </p:nvSpPr>
        <p:spPr>
          <a:xfrm>
            <a:off x="457200" y="1280160"/>
            <a:ext cx="1920240" cy="1325880"/>
          </a:xfrm>
          <a:prstGeom prst="roundRect">
            <a:avLst>
              <a:gd name="adj" fmla="val 5517"/>
            </a:avLst>
          </a:prstGeom>
          <a:solidFill>
            <a:srgbClr val="EEF2F5"/>
          </a:solidFill>
          <a:ln w="12700">
            <a:solidFill>
              <a:srgbClr val="EEF2F5"/>
            </a:solidFill>
            <a:prstDash val="solid"/>
          </a:ln>
        </p:spPr>
      </p:sp>
      <p:sp>
        <p:nvSpPr>
          <p:cNvPr id="6" name="Text 4"/>
          <p:cNvSpPr txBox="1"/>
          <p:nvPr/>
        </p:nvSpPr>
        <p:spPr>
          <a:xfrm>
            <a:off x="621792" y="1371600"/>
            <a:ext cx="1645920" cy="228600"/>
          </a:xfrm>
          <a:prstGeom prst="rect">
            <a:avLst/>
          </a:prstGeom>
          <a:noFill/>
          <a:ln/>
        </p:spPr>
        <p:txBody>
          <a:bodyPr wrap="square" lIns="0" tIns="0" rIns="0" bIns="0" rtlCol="0" anchor="t"/>
          <a:lstStyle/>
          <a:p>
            <a:pPr indent="0" marL="0">
              <a:buNone/>
            </a:pPr>
            <a:r>
              <a:rPr lang="en-US" sz="1100" b="1" dirty="0">
                <a:solidFill>
                  <a:srgbClr val="5F6B78"/>
                </a:solidFill>
                <a:latin typeface="Calibri" pitchFamily="34" charset="0"/>
                <a:ea typeface="Calibri" pitchFamily="34" charset="-122"/>
                <a:cs typeface="Calibri" pitchFamily="34" charset="-120"/>
              </a:rPr>
              <a:t>Availability</a:t>
            </a:r>
            <a:endParaRPr lang="en-US" sz="1100" dirty="0"/>
          </a:p>
        </p:txBody>
      </p:sp>
      <p:sp>
        <p:nvSpPr>
          <p:cNvPr id="7" name="Text 5"/>
          <p:cNvSpPr txBox="1"/>
          <p:nvPr/>
        </p:nvSpPr>
        <p:spPr>
          <a:xfrm>
            <a:off x="621792" y="1627632"/>
            <a:ext cx="1645920" cy="502920"/>
          </a:xfrm>
          <a:prstGeom prst="rect">
            <a:avLst/>
          </a:prstGeom>
          <a:noFill/>
          <a:ln/>
        </p:spPr>
        <p:txBody>
          <a:bodyPr wrap="square" lIns="0" tIns="0" rIns="0" bIns="0" rtlCol="0" anchor="t"/>
          <a:lstStyle/>
          <a:p>
            <a:pPr indent="0" marL="0">
              <a:buNone/>
            </a:pPr>
            <a:r>
              <a:rPr lang="en-US" sz="2800" b="1" dirty="0">
                <a:solidFill>
                  <a:srgbClr val="1B2631"/>
                </a:solidFill>
                <a:latin typeface="Calibri" pitchFamily="34" charset="0"/>
                <a:ea typeface="Calibri" pitchFamily="34" charset="-122"/>
                <a:cs typeface="Calibri" pitchFamily="34" charset="-120"/>
              </a:rPr>
              <a:t>96.9%</a:t>
            </a:r>
            <a:endParaRPr lang="en-US" sz="2800" dirty="0"/>
          </a:p>
        </p:txBody>
      </p:sp>
      <p:sp>
        <p:nvSpPr>
          <p:cNvPr id="8" name="Text 6"/>
          <p:cNvSpPr txBox="1"/>
          <p:nvPr/>
        </p:nvSpPr>
        <p:spPr>
          <a:xfrm>
            <a:off x="621792" y="2148840"/>
            <a:ext cx="1645920" cy="384048"/>
          </a:xfrm>
          <a:prstGeom prst="rect">
            <a:avLst/>
          </a:prstGeom>
          <a:noFill/>
          <a:ln/>
        </p:spPr>
        <p:txBody>
          <a:bodyPr wrap="square" lIns="0" tIns="0" rIns="0" bIns="0" rtlCol="0" anchor="t"/>
          <a:lstStyle/>
          <a:p>
            <a:pPr indent="0" marL="0">
              <a:buNone/>
            </a:pPr>
            <a:r>
              <a:rPr lang="en-US" sz="900" dirty="0">
                <a:solidFill>
                  <a:srgbClr val="5F6B78"/>
                </a:solidFill>
                <a:latin typeface="Calibri" pitchFamily="34" charset="0"/>
                <a:ea typeface="Calibri" pitchFamily="34" charset="-122"/>
                <a:cs typeface="Calibri" pitchFamily="34" charset="-120"/>
              </a:rPr>
              <a:t>Azure downtime over 100 machine-years</a:t>
            </a:r>
            <a:endParaRPr lang="en-US" sz="900" dirty="0"/>
          </a:p>
        </p:txBody>
      </p:sp>
      <p:sp>
        <p:nvSpPr>
          <p:cNvPr id="9" name="Shape 7"/>
          <p:cNvSpPr/>
          <p:nvPr/>
        </p:nvSpPr>
        <p:spPr>
          <a:xfrm>
            <a:off x="2560320" y="1280160"/>
            <a:ext cx="1920240" cy="1325880"/>
          </a:xfrm>
          <a:prstGeom prst="roundRect">
            <a:avLst>
              <a:gd name="adj" fmla="val 5517"/>
            </a:avLst>
          </a:prstGeom>
          <a:solidFill>
            <a:srgbClr val="EEF2F5"/>
          </a:solidFill>
          <a:ln w="12700">
            <a:solidFill>
              <a:srgbClr val="EEF2F5"/>
            </a:solidFill>
            <a:prstDash val="solid"/>
          </a:ln>
        </p:spPr>
      </p:sp>
      <p:sp>
        <p:nvSpPr>
          <p:cNvPr id="10" name="Text 8"/>
          <p:cNvSpPr txBox="1"/>
          <p:nvPr/>
        </p:nvSpPr>
        <p:spPr>
          <a:xfrm>
            <a:off x="2724912" y="1371600"/>
            <a:ext cx="1645920" cy="228600"/>
          </a:xfrm>
          <a:prstGeom prst="rect">
            <a:avLst/>
          </a:prstGeom>
          <a:noFill/>
          <a:ln/>
        </p:spPr>
        <p:txBody>
          <a:bodyPr wrap="square" lIns="0" tIns="0" rIns="0" bIns="0" rtlCol="0" anchor="t"/>
          <a:lstStyle/>
          <a:p>
            <a:pPr indent="0" marL="0">
              <a:buNone/>
            </a:pPr>
            <a:r>
              <a:rPr lang="en-US" sz="1100" b="1" dirty="0">
                <a:solidFill>
                  <a:srgbClr val="5F6B78"/>
                </a:solidFill>
                <a:latin typeface="Calibri" pitchFamily="34" charset="0"/>
                <a:ea typeface="Calibri" pitchFamily="34" charset="-122"/>
                <a:cs typeface="Calibri" pitchFamily="34" charset="-120"/>
              </a:rPr>
              <a:t>Performance</a:t>
            </a:r>
            <a:endParaRPr lang="en-US" sz="1100" dirty="0"/>
          </a:p>
        </p:txBody>
      </p:sp>
      <p:sp>
        <p:nvSpPr>
          <p:cNvPr id="11" name="Text 9"/>
          <p:cNvSpPr txBox="1"/>
          <p:nvPr/>
        </p:nvSpPr>
        <p:spPr>
          <a:xfrm>
            <a:off x="2724912" y="1627632"/>
            <a:ext cx="1645920" cy="502920"/>
          </a:xfrm>
          <a:prstGeom prst="rect">
            <a:avLst/>
          </a:prstGeom>
          <a:noFill/>
          <a:ln/>
        </p:spPr>
        <p:txBody>
          <a:bodyPr wrap="square" lIns="0" tIns="0" rIns="0" bIns="0" rtlCol="0" anchor="t"/>
          <a:lstStyle/>
          <a:p>
            <a:pPr indent="0" marL="0">
              <a:buNone/>
            </a:pPr>
            <a:r>
              <a:rPr lang="en-US" sz="2800" b="1" dirty="0">
                <a:solidFill>
                  <a:srgbClr val="1B2631"/>
                </a:solidFill>
                <a:latin typeface="Calibri" pitchFamily="34" charset="0"/>
                <a:ea typeface="Calibri" pitchFamily="34" charset="-122"/>
                <a:cs typeface="Calibri" pitchFamily="34" charset="-120"/>
              </a:rPr>
              <a:t>99.3%</a:t>
            </a:r>
            <a:endParaRPr lang="en-US" sz="2800" dirty="0"/>
          </a:p>
        </p:txBody>
      </p:sp>
      <p:sp>
        <p:nvSpPr>
          <p:cNvPr id="12" name="Text 10"/>
          <p:cNvSpPr txBox="1"/>
          <p:nvPr/>
        </p:nvSpPr>
        <p:spPr>
          <a:xfrm>
            <a:off x="2724912" y="2148840"/>
            <a:ext cx="1645920" cy="384048"/>
          </a:xfrm>
          <a:prstGeom prst="rect">
            <a:avLst/>
          </a:prstGeom>
          <a:noFill/>
          <a:ln/>
        </p:spPr>
        <p:txBody>
          <a:bodyPr wrap="square" lIns="0" tIns="0" rIns="0" bIns="0" rtlCol="0" anchor="t"/>
          <a:lstStyle/>
          <a:p>
            <a:pPr indent="0" marL="0">
              <a:buNone/>
            </a:pPr>
            <a:r>
              <a:rPr lang="en-US" sz="900" dirty="0">
                <a:solidFill>
                  <a:srgbClr val="5F6B78"/>
                </a:solidFill>
                <a:latin typeface="Calibri" pitchFamily="34" charset="0"/>
                <a:ea typeface="Calibri" pitchFamily="34" charset="-122"/>
                <a:cs typeface="Calibri" pitchFamily="34" charset="-120"/>
              </a:rPr>
              <a:t>Mean rotation vs 450 rpm nominal</a:t>
            </a:r>
            <a:endParaRPr lang="en-US" sz="900" dirty="0"/>
          </a:p>
        </p:txBody>
      </p:sp>
      <p:sp>
        <p:nvSpPr>
          <p:cNvPr id="13" name="Shape 11"/>
          <p:cNvSpPr/>
          <p:nvPr/>
        </p:nvSpPr>
        <p:spPr>
          <a:xfrm>
            <a:off x="4663440" y="1280160"/>
            <a:ext cx="1920240" cy="1325880"/>
          </a:xfrm>
          <a:prstGeom prst="roundRect">
            <a:avLst>
              <a:gd name="adj" fmla="val 5517"/>
            </a:avLst>
          </a:prstGeom>
          <a:solidFill>
            <a:srgbClr val="EEF2F5"/>
          </a:solidFill>
          <a:ln w="12700">
            <a:solidFill>
              <a:srgbClr val="EEF2F5"/>
            </a:solidFill>
            <a:prstDash val="solid"/>
          </a:ln>
        </p:spPr>
      </p:sp>
      <p:sp>
        <p:nvSpPr>
          <p:cNvPr id="14" name="Text 12"/>
          <p:cNvSpPr txBox="1"/>
          <p:nvPr/>
        </p:nvSpPr>
        <p:spPr>
          <a:xfrm>
            <a:off x="4828032" y="1371600"/>
            <a:ext cx="1645920" cy="228600"/>
          </a:xfrm>
          <a:prstGeom prst="rect">
            <a:avLst/>
          </a:prstGeom>
          <a:noFill/>
          <a:ln/>
        </p:spPr>
        <p:txBody>
          <a:bodyPr wrap="square" lIns="0" tIns="0" rIns="0" bIns="0" rtlCol="0" anchor="t"/>
          <a:lstStyle/>
          <a:p>
            <a:pPr indent="0" marL="0">
              <a:buNone/>
            </a:pPr>
            <a:r>
              <a:rPr lang="en-US" sz="1100" b="1" dirty="0">
                <a:solidFill>
                  <a:srgbClr val="5F6B78"/>
                </a:solidFill>
                <a:latin typeface="Calibri" pitchFamily="34" charset="0"/>
                <a:ea typeface="Calibri" pitchFamily="34" charset="-122"/>
                <a:cs typeface="Calibri" pitchFamily="34" charset="-120"/>
              </a:rPr>
              <a:t>Quality</a:t>
            </a:r>
            <a:endParaRPr lang="en-US" sz="1100" dirty="0"/>
          </a:p>
        </p:txBody>
      </p:sp>
      <p:sp>
        <p:nvSpPr>
          <p:cNvPr id="15" name="Text 13"/>
          <p:cNvSpPr txBox="1"/>
          <p:nvPr/>
        </p:nvSpPr>
        <p:spPr>
          <a:xfrm>
            <a:off x="4828032" y="1627632"/>
            <a:ext cx="1645920" cy="502920"/>
          </a:xfrm>
          <a:prstGeom prst="rect">
            <a:avLst/>
          </a:prstGeom>
          <a:noFill/>
          <a:ln/>
        </p:spPr>
        <p:txBody>
          <a:bodyPr wrap="square" lIns="0" tIns="0" rIns="0" bIns="0" rtlCol="0" anchor="t"/>
          <a:lstStyle/>
          <a:p>
            <a:pPr indent="0" marL="0">
              <a:buNone/>
            </a:pPr>
            <a:r>
              <a:rPr lang="en-US" sz="2800" b="1" dirty="0">
                <a:solidFill>
                  <a:srgbClr val="1B2631"/>
                </a:solidFill>
                <a:latin typeface="Calibri" pitchFamily="34" charset="0"/>
                <a:ea typeface="Calibri" pitchFamily="34" charset="-122"/>
                <a:cs typeface="Calibri" pitchFamily="34" charset="-120"/>
              </a:rPr>
              <a:t>96.6%</a:t>
            </a:r>
            <a:endParaRPr lang="en-US" sz="2800" dirty="0"/>
          </a:p>
        </p:txBody>
      </p:sp>
      <p:sp>
        <p:nvSpPr>
          <p:cNvPr id="16" name="Text 14"/>
          <p:cNvSpPr txBox="1"/>
          <p:nvPr/>
        </p:nvSpPr>
        <p:spPr>
          <a:xfrm>
            <a:off x="4828032" y="2148840"/>
            <a:ext cx="1645920" cy="384048"/>
          </a:xfrm>
          <a:prstGeom prst="rect">
            <a:avLst/>
          </a:prstGeom>
          <a:noFill/>
          <a:ln/>
        </p:spPr>
        <p:txBody>
          <a:bodyPr wrap="square" lIns="0" tIns="0" rIns="0" bIns="0" rtlCol="0" anchor="t"/>
          <a:lstStyle/>
          <a:p>
            <a:pPr indent="0" marL="0">
              <a:buNone/>
            </a:pPr>
            <a:r>
              <a:rPr lang="en-US" sz="900" dirty="0">
                <a:solidFill>
                  <a:srgbClr val="5F6B78"/>
                </a:solidFill>
                <a:latin typeface="Calibri" pitchFamily="34" charset="0"/>
                <a:ea typeface="Calibri" pitchFamily="34" charset="-122"/>
                <a:cs typeface="Calibri" pitchFamily="34" charset="-120"/>
              </a:rPr>
              <a:t>AI4I cycles without failure</a:t>
            </a:r>
            <a:endParaRPr lang="en-US" sz="900" dirty="0"/>
          </a:p>
        </p:txBody>
      </p:sp>
      <p:sp>
        <p:nvSpPr>
          <p:cNvPr id="17" name="Shape 15"/>
          <p:cNvSpPr/>
          <p:nvPr/>
        </p:nvSpPr>
        <p:spPr>
          <a:xfrm>
            <a:off x="6766560" y="1280160"/>
            <a:ext cx="1920240" cy="1325880"/>
          </a:xfrm>
          <a:prstGeom prst="roundRect">
            <a:avLst>
              <a:gd name="adj" fmla="val 5517"/>
            </a:avLst>
          </a:prstGeom>
          <a:solidFill>
            <a:srgbClr val="34495E"/>
          </a:solidFill>
          <a:ln w="12700">
            <a:solidFill>
              <a:srgbClr val="34495E"/>
            </a:solidFill>
            <a:prstDash val="solid"/>
          </a:ln>
        </p:spPr>
      </p:sp>
      <p:sp>
        <p:nvSpPr>
          <p:cNvPr id="18" name="Text 16"/>
          <p:cNvSpPr txBox="1"/>
          <p:nvPr/>
        </p:nvSpPr>
        <p:spPr>
          <a:xfrm>
            <a:off x="6931152" y="1371600"/>
            <a:ext cx="1645920" cy="228600"/>
          </a:xfrm>
          <a:prstGeom prst="rect">
            <a:avLst/>
          </a:prstGeom>
          <a:noFill/>
          <a:ln/>
        </p:spPr>
        <p:txBody>
          <a:bodyPr wrap="square" lIns="0" tIns="0" rIns="0" bIns="0" rtlCol="0" anchor="t"/>
          <a:lstStyle/>
          <a:p>
            <a:pPr indent="0" marL="0">
              <a:buNone/>
            </a:pPr>
            <a:r>
              <a:rPr lang="en-US" sz="1100" b="1" dirty="0">
                <a:solidFill>
                  <a:srgbClr val="FFFFFF"/>
                </a:solidFill>
                <a:latin typeface="Calibri" pitchFamily="34" charset="0"/>
                <a:ea typeface="Calibri" pitchFamily="34" charset="-122"/>
                <a:cs typeface="Calibri" pitchFamily="34" charset="-120"/>
              </a:rPr>
              <a:t>OEE today</a:t>
            </a:r>
            <a:endParaRPr lang="en-US" sz="1100" dirty="0"/>
          </a:p>
        </p:txBody>
      </p:sp>
      <p:sp>
        <p:nvSpPr>
          <p:cNvPr id="19" name="Text 17"/>
          <p:cNvSpPr txBox="1"/>
          <p:nvPr/>
        </p:nvSpPr>
        <p:spPr>
          <a:xfrm>
            <a:off x="6931152" y="1627632"/>
            <a:ext cx="1645920" cy="502920"/>
          </a:xfrm>
          <a:prstGeom prst="rect">
            <a:avLst/>
          </a:prstGeom>
          <a:noFill/>
          <a:ln/>
        </p:spPr>
        <p:txBody>
          <a:bodyPr wrap="square" lIns="0" tIns="0" rIns="0" bIns="0" rtlCol="0" anchor="t"/>
          <a:lstStyle/>
          <a:p>
            <a:pPr indent="0" marL="0">
              <a:buNone/>
            </a:pPr>
            <a:r>
              <a:rPr lang="en-US" sz="2800" b="1" dirty="0">
                <a:solidFill>
                  <a:srgbClr val="FFFFFF"/>
                </a:solidFill>
                <a:latin typeface="Calibri" pitchFamily="34" charset="0"/>
                <a:ea typeface="Calibri" pitchFamily="34" charset="-122"/>
                <a:cs typeface="Calibri" pitchFamily="34" charset="-120"/>
              </a:rPr>
              <a:t>92.9%</a:t>
            </a:r>
            <a:endParaRPr lang="en-US" sz="2800" dirty="0"/>
          </a:p>
        </p:txBody>
      </p:sp>
      <p:sp>
        <p:nvSpPr>
          <p:cNvPr id="20" name="Text 18"/>
          <p:cNvSpPr txBox="1"/>
          <p:nvPr/>
        </p:nvSpPr>
        <p:spPr>
          <a:xfrm>
            <a:off x="6931152" y="2148840"/>
            <a:ext cx="1645920" cy="384048"/>
          </a:xfrm>
          <a:prstGeom prst="rect">
            <a:avLst/>
          </a:prstGeom>
          <a:noFill/>
          <a:ln/>
        </p:spPr>
        <p:txBody>
          <a:bodyPr wrap="square" lIns="0" tIns="0" rIns="0" bIns="0" rtlCol="0" anchor="t"/>
          <a:lstStyle/>
          <a:p>
            <a:pPr indent="0" marL="0">
              <a:buNone/>
            </a:pPr>
            <a:r>
              <a:rPr lang="en-US" sz="900" dirty="0">
                <a:solidFill>
                  <a:srgbClr val="B8C4D0"/>
                </a:solidFill>
                <a:latin typeface="Calibri" pitchFamily="34" charset="0"/>
                <a:ea typeface="Calibri" pitchFamily="34" charset="-122"/>
                <a:cs typeface="Calibri" pitchFamily="34" charset="-120"/>
              </a:rPr>
              <a:t>Availability × Performance × Quality</a:t>
            </a:r>
            <a:endParaRPr lang="en-US" sz="900" dirty="0"/>
          </a:p>
        </p:txBody>
      </p:sp>
      <p:sp>
        <p:nvSpPr>
          <p:cNvPr id="21" name="Shape 19"/>
          <p:cNvSpPr/>
          <p:nvPr/>
        </p:nvSpPr>
        <p:spPr>
          <a:xfrm>
            <a:off x="457200" y="2788920"/>
            <a:ext cx="8229600" cy="1920240"/>
          </a:xfrm>
          <a:prstGeom prst="roundRect">
            <a:avLst>
              <a:gd name="adj" fmla="val 3810"/>
            </a:avLst>
          </a:prstGeom>
          <a:solidFill>
            <a:srgbClr val="1B2631"/>
          </a:solidFill>
          <a:ln w="12700">
            <a:solidFill>
              <a:srgbClr val="1B2631"/>
            </a:solidFill>
            <a:prstDash val="solid"/>
          </a:ln>
        </p:spPr>
      </p:sp>
      <p:sp>
        <p:nvSpPr>
          <p:cNvPr id="22" name="Text 20"/>
          <p:cNvSpPr txBox="1"/>
          <p:nvPr/>
        </p:nvSpPr>
        <p:spPr>
          <a:xfrm>
            <a:off x="685800" y="2898648"/>
            <a:ext cx="7863840" cy="228600"/>
          </a:xfrm>
          <a:prstGeom prst="rect">
            <a:avLst/>
          </a:prstGeom>
          <a:noFill/>
          <a:ln/>
        </p:spPr>
        <p:txBody>
          <a:bodyPr wrap="square" lIns="0" tIns="0" rIns="0" bIns="0" rtlCol="0" anchor="t"/>
          <a:lstStyle/>
          <a:p>
            <a:pPr indent="0" marL="0">
              <a:buNone/>
            </a:pPr>
            <a:r>
              <a:rPr lang="en-US" sz="950" b="1" spc="100" kern="0" dirty="0">
                <a:solidFill>
                  <a:srgbClr val="E8910C"/>
                </a:solidFill>
                <a:latin typeface="Calibri" pitchFamily="34" charset="0"/>
                <a:ea typeface="Calibri" pitchFamily="34" charset="-122"/>
                <a:cs typeface="Calibri" pitchFamily="34" charset="-120"/>
              </a:rPr>
              <a:t>WITH PREDICTIVE MAINTENANCE  (24 h models detect 99.7% of failures; 70% converted to planned work)</a:t>
            </a:r>
            <a:endParaRPr lang="en-US" sz="950" dirty="0"/>
          </a:p>
        </p:txBody>
      </p:sp>
      <p:sp>
        <p:nvSpPr>
          <p:cNvPr id="23" name="Text 21"/>
          <p:cNvSpPr txBox="1"/>
          <p:nvPr/>
        </p:nvSpPr>
        <p:spPr>
          <a:xfrm>
            <a:off x="685800" y="3246120"/>
            <a:ext cx="1920240" cy="64008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531</a:t>
            </a:r>
            <a:endParaRPr lang="en-US" sz="3200" dirty="0"/>
          </a:p>
        </p:txBody>
      </p:sp>
      <p:sp>
        <p:nvSpPr>
          <p:cNvPr id="24" name="Text 22"/>
          <p:cNvSpPr txBox="1"/>
          <p:nvPr/>
        </p:nvSpPr>
        <p:spPr>
          <a:xfrm>
            <a:off x="685800" y="3886200"/>
            <a:ext cx="1920240" cy="274320"/>
          </a:xfrm>
          <a:prstGeom prst="rect">
            <a:avLst/>
          </a:prstGeom>
          <a:noFill/>
          <a:ln/>
        </p:spPr>
        <p:txBody>
          <a:bodyPr wrap="square" lIns="0" tIns="0" rIns="0" bIns="0" rtlCol="0" anchor="t"/>
          <a:lstStyle/>
          <a:p>
            <a:pPr indent="0" marL="0">
              <a:buNone/>
            </a:pPr>
            <a:r>
              <a:rPr lang="en-US" sz="1100" dirty="0">
                <a:solidFill>
                  <a:srgbClr val="B8C4D0"/>
                </a:solidFill>
                <a:latin typeface="Calibri" pitchFamily="34" charset="0"/>
                <a:ea typeface="Calibri" pitchFamily="34" charset="-122"/>
                <a:cs typeface="Calibri" pitchFamily="34" charset="-120"/>
              </a:rPr>
              <a:t>failures prevented / yr</a:t>
            </a:r>
            <a:endParaRPr lang="en-US" sz="1100" dirty="0"/>
          </a:p>
        </p:txBody>
      </p:sp>
      <p:sp>
        <p:nvSpPr>
          <p:cNvPr id="25" name="Text 23"/>
          <p:cNvSpPr txBox="1"/>
          <p:nvPr/>
        </p:nvSpPr>
        <p:spPr>
          <a:xfrm>
            <a:off x="2697480" y="3246120"/>
            <a:ext cx="1920240" cy="64008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10,623 h</a:t>
            </a:r>
            <a:endParaRPr lang="en-US" sz="3200" dirty="0"/>
          </a:p>
        </p:txBody>
      </p:sp>
      <p:sp>
        <p:nvSpPr>
          <p:cNvPr id="26" name="Text 24"/>
          <p:cNvSpPr txBox="1"/>
          <p:nvPr/>
        </p:nvSpPr>
        <p:spPr>
          <a:xfrm>
            <a:off x="2697480" y="3886200"/>
            <a:ext cx="1920240" cy="274320"/>
          </a:xfrm>
          <a:prstGeom prst="rect">
            <a:avLst/>
          </a:prstGeom>
          <a:noFill/>
          <a:ln/>
        </p:spPr>
        <p:txBody>
          <a:bodyPr wrap="square" lIns="0" tIns="0" rIns="0" bIns="0" rtlCol="0" anchor="t"/>
          <a:lstStyle/>
          <a:p>
            <a:pPr indent="0" marL="0">
              <a:buNone/>
            </a:pPr>
            <a:r>
              <a:rPr lang="en-US" sz="1100" dirty="0">
                <a:solidFill>
                  <a:srgbClr val="B8C4D0"/>
                </a:solidFill>
                <a:latin typeface="Calibri" pitchFamily="34" charset="0"/>
                <a:ea typeface="Calibri" pitchFamily="34" charset="-122"/>
                <a:cs typeface="Calibri" pitchFamily="34" charset="-120"/>
              </a:rPr>
              <a:t>downtime saved / yr</a:t>
            </a:r>
            <a:endParaRPr lang="en-US" sz="1100" dirty="0"/>
          </a:p>
        </p:txBody>
      </p:sp>
      <p:sp>
        <p:nvSpPr>
          <p:cNvPr id="27" name="Text 25"/>
          <p:cNvSpPr txBox="1"/>
          <p:nvPr/>
        </p:nvSpPr>
        <p:spPr>
          <a:xfrm>
            <a:off x="4709160" y="3246120"/>
            <a:ext cx="1920240" cy="64008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~$14.1M</a:t>
            </a:r>
            <a:endParaRPr lang="en-US" sz="3200" dirty="0"/>
          </a:p>
        </p:txBody>
      </p:sp>
      <p:sp>
        <p:nvSpPr>
          <p:cNvPr id="28" name="Text 26"/>
          <p:cNvSpPr txBox="1"/>
          <p:nvPr/>
        </p:nvSpPr>
        <p:spPr>
          <a:xfrm>
            <a:off x="4709160" y="3886200"/>
            <a:ext cx="1920240" cy="274320"/>
          </a:xfrm>
          <a:prstGeom prst="rect">
            <a:avLst/>
          </a:prstGeom>
          <a:noFill/>
          <a:ln/>
        </p:spPr>
        <p:txBody>
          <a:bodyPr wrap="square" lIns="0" tIns="0" rIns="0" bIns="0" rtlCol="0" anchor="t"/>
          <a:lstStyle/>
          <a:p>
            <a:pPr indent="0" marL="0">
              <a:buNone/>
            </a:pPr>
            <a:r>
              <a:rPr lang="en-US" sz="1100" dirty="0">
                <a:solidFill>
                  <a:srgbClr val="B8C4D0"/>
                </a:solidFill>
                <a:latin typeface="Calibri" pitchFamily="34" charset="0"/>
                <a:ea typeface="Calibri" pitchFamily="34" charset="-122"/>
                <a:cs typeface="Calibri" pitchFamily="34" charset="-120"/>
              </a:rPr>
              <a:t>saved per year</a:t>
            </a:r>
            <a:endParaRPr lang="en-US" sz="1100" dirty="0"/>
          </a:p>
        </p:txBody>
      </p:sp>
      <p:sp>
        <p:nvSpPr>
          <p:cNvPr id="29" name="Text 27"/>
          <p:cNvSpPr txBox="1"/>
          <p:nvPr/>
        </p:nvSpPr>
        <p:spPr>
          <a:xfrm>
            <a:off x="6720840" y="3246120"/>
            <a:ext cx="1920240" cy="64008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94.1%</a:t>
            </a:r>
            <a:endParaRPr lang="en-US" sz="3200" dirty="0"/>
          </a:p>
        </p:txBody>
      </p:sp>
      <p:sp>
        <p:nvSpPr>
          <p:cNvPr id="30" name="Text 28"/>
          <p:cNvSpPr txBox="1"/>
          <p:nvPr/>
        </p:nvSpPr>
        <p:spPr>
          <a:xfrm>
            <a:off x="6720840" y="3886200"/>
            <a:ext cx="1920240" cy="274320"/>
          </a:xfrm>
          <a:prstGeom prst="rect">
            <a:avLst/>
          </a:prstGeom>
          <a:noFill/>
          <a:ln/>
        </p:spPr>
        <p:txBody>
          <a:bodyPr wrap="square" lIns="0" tIns="0" rIns="0" bIns="0" rtlCol="0" anchor="t"/>
          <a:lstStyle/>
          <a:p>
            <a:pPr indent="0" marL="0">
              <a:buNone/>
            </a:pPr>
            <a:r>
              <a:rPr lang="en-US" sz="1100" dirty="0">
                <a:solidFill>
                  <a:srgbClr val="B8C4D0"/>
                </a:solidFill>
                <a:latin typeface="Calibri" pitchFamily="34" charset="0"/>
                <a:ea typeface="Calibri" pitchFamily="34" charset="-122"/>
                <a:cs typeface="Calibri" pitchFamily="34" charset="-120"/>
              </a:rPr>
              <a:t>OEE (from 92.9%)</a:t>
            </a:r>
            <a:endParaRPr lang="en-US" sz="1100" dirty="0"/>
          </a:p>
        </p:txBody>
      </p:sp>
      <p:sp>
        <p:nvSpPr>
          <p:cNvPr id="31" name="Text 29"/>
          <p:cNvSpPr txBox="1"/>
          <p:nvPr/>
        </p:nvSpPr>
        <p:spPr>
          <a:xfrm>
            <a:off x="685800" y="4297680"/>
            <a:ext cx="7863840" cy="274320"/>
          </a:xfrm>
          <a:prstGeom prst="rect">
            <a:avLst/>
          </a:prstGeom>
          <a:noFill/>
          <a:ln/>
        </p:spPr>
        <p:txBody>
          <a:bodyPr wrap="square" lIns="0" tIns="0" rIns="0" bIns="0" rtlCol="0" anchor="t"/>
          <a:lstStyle/>
          <a:p>
            <a:pPr indent="0" marL="0">
              <a:buNone/>
            </a:pPr>
            <a:r>
              <a:rPr lang="en-US" sz="950" i="1" dirty="0">
                <a:solidFill>
                  <a:srgbClr val="B8C4D0"/>
                </a:solidFill>
                <a:latin typeface="Calibri" pitchFamily="34" charset="0"/>
                <a:ea typeface="Calibri" pitchFamily="34" charset="-122"/>
                <a:cs typeface="Calibri" pitchFamily="34" charset="-120"/>
              </a:rPr>
              <a:t>All costs and downtime hours are assumptions in src/config.py — edit them for your plant.</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000" b="1" spc="200" kern="0" dirty="0">
                <a:solidFill>
                  <a:srgbClr val="E8910C"/>
                </a:solidFill>
                <a:latin typeface="Calibri" pitchFamily="34" charset="0"/>
                <a:ea typeface="Calibri" pitchFamily="34" charset="-122"/>
                <a:cs typeface="Calibri" pitchFamily="34" charset="-120"/>
              </a:rPr>
              <a:t>08 · DECISION AGENTS</a:t>
            </a:r>
            <a:endParaRPr lang="en-US" sz="10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1B2631"/>
                </a:solidFill>
                <a:latin typeface="Calibri" pitchFamily="34" charset="0"/>
                <a:ea typeface="Calibri" pitchFamily="34" charset="-122"/>
                <a:cs typeface="Calibri" pitchFamily="34" charset="-120"/>
              </a:rPr>
              <a:t>Six agents, seven strict tools</a:t>
            </a:r>
            <a:endParaRPr lang="en-US" sz="2800" dirty="0"/>
          </a:p>
        </p:txBody>
      </p:sp>
      <p:sp>
        <p:nvSpPr>
          <p:cNvPr id="4" name="Text 2"/>
          <p:cNvSpPr txBox="1"/>
          <p:nvPr/>
        </p:nvSpPr>
        <p:spPr>
          <a:xfrm>
            <a:off x="7315200" y="4846320"/>
            <a:ext cx="1371600" cy="182880"/>
          </a:xfrm>
          <a:prstGeom prst="rect">
            <a:avLst/>
          </a:prstGeom>
          <a:noFill/>
          <a:ln/>
        </p:spPr>
        <p:txBody>
          <a:bodyPr wrap="square" lIns="0" tIns="0" rIns="0" bIns="0" rtlCol="0" anchor="t"/>
          <a:lstStyle/>
          <a:p>
            <a:pPr algn="r" indent="0" marL="0">
              <a:buNone/>
            </a:pPr>
            <a:r>
              <a:rPr lang="en-US" sz="900" dirty="0">
                <a:solidFill>
                  <a:srgbClr val="5F6B78"/>
                </a:solidFill>
                <a:latin typeface="Calibri" pitchFamily="34" charset="0"/>
                <a:ea typeface="Calibri" pitchFamily="34" charset="-122"/>
                <a:cs typeface="Calibri" pitchFamily="34" charset="-120"/>
              </a:rPr>
              <a:t>SMPO  ·  15</a:t>
            </a:r>
            <a:endParaRPr lang="en-US" sz="900" dirty="0"/>
          </a:p>
        </p:txBody>
      </p:sp>
      <p:sp>
        <p:nvSpPr>
          <p:cNvPr id="5" name="Shape 3"/>
          <p:cNvSpPr/>
          <p:nvPr/>
        </p:nvSpPr>
        <p:spPr>
          <a:xfrm>
            <a:off x="457200" y="1280160"/>
            <a:ext cx="2606040" cy="1298448"/>
          </a:xfrm>
          <a:prstGeom prst="roundRect">
            <a:avLst>
              <a:gd name="adj" fmla="val 5634"/>
            </a:avLst>
          </a:prstGeom>
          <a:solidFill>
            <a:srgbClr val="EEF2F5"/>
          </a:solidFill>
          <a:ln w="12700">
            <a:solidFill>
              <a:srgbClr val="EEF2F5"/>
            </a:solidFill>
            <a:prstDash val="solid"/>
          </a:ln>
        </p:spPr>
      </p:sp>
      <p:sp>
        <p:nvSpPr>
          <p:cNvPr id="6" name="Shape 4"/>
          <p:cNvSpPr/>
          <p:nvPr/>
        </p:nvSpPr>
        <p:spPr>
          <a:xfrm>
            <a:off x="594360" y="1417320"/>
            <a:ext cx="411480" cy="411480"/>
          </a:xfrm>
          <a:prstGeom prst="ellipse">
            <a:avLst/>
          </a:prstGeom>
          <a:solidFill>
            <a:srgbClr val="34495E"/>
          </a:solidFill>
          <a:ln w="12700">
            <a:solidFill>
              <a:srgbClr val="34495E"/>
            </a:solidFill>
            <a:prstDash val="solid"/>
          </a:ln>
        </p:spPr>
      </p:sp>
      <p:pic>
        <p:nvPicPr>
          <p:cNvPr id="7" name="Image 0" descr="preencoded.png">    </p:cNvPr>
          <p:cNvPicPr>
            <a:picLocks noChangeAspect="1"/>
          </p:cNvPicPr>
          <p:nvPr/>
        </p:nvPicPr>
        <p:blipFill>
          <a:blip r:embed="rId1"/>
          <a:stretch>
            <a:fillRect/>
          </a:stretch>
        </p:blipFill>
        <p:spPr>
          <a:xfrm>
            <a:off x="697230" y="1520190"/>
            <a:ext cx="205740" cy="205740"/>
          </a:xfrm>
          <a:prstGeom prst="rect">
            <a:avLst/>
          </a:prstGeom>
        </p:spPr>
      </p:pic>
      <p:sp>
        <p:nvSpPr>
          <p:cNvPr id="8" name="Text 5"/>
          <p:cNvSpPr txBox="1"/>
          <p:nvPr/>
        </p:nvSpPr>
        <p:spPr>
          <a:xfrm>
            <a:off x="1097280" y="1417320"/>
            <a:ext cx="1874520" cy="411480"/>
          </a:xfrm>
          <a:prstGeom prst="rect">
            <a:avLst/>
          </a:prstGeom>
          <a:noFill/>
          <a:ln/>
        </p:spPr>
        <p:txBody>
          <a:bodyPr wrap="square" lIns="0" tIns="0" rIns="0" bIns="0" rtlCol="0" anchor="ctr"/>
          <a:lstStyle/>
          <a:p>
            <a:pPr indent="0" marL="0">
              <a:buNone/>
            </a:pPr>
            <a:r>
              <a:rPr lang="en-US" sz="1300" b="1" dirty="0">
                <a:solidFill>
                  <a:srgbClr val="1B2631"/>
                </a:solidFill>
                <a:latin typeface="Calibri" pitchFamily="34" charset="0"/>
                <a:ea typeface="Calibri" pitchFamily="34" charset="-122"/>
                <a:cs typeface="Calibri" pitchFamily="34" charset="-120"/>
              </a:rPr>
              <a:t>Monitoring</a:t>
            </a:r>
            <a:endParaRPr lang="en-US" sz="1300" dirty="0"/>
          </a:p>
        </p:txBody>
      </p:sp>
      <p:sp>
        <p:nvSpPr>
          <p:cNvPr id="9" name="Text 6"/>
          <p:cNvSpPr txBox="1"/>
          <p:nvPr/>
        </p:nvSpPr>
        <p:spPr>
          <a:xfrm>
            <a:off x="594360" y="1865376"/>
            <a:ext cx="2331720" cy="411480"/>
          </a:xfrm>
          <a:prstGeom prst="rect">
            <a:avLst/>
          </a:prstGeom>
          <a:noFill/>
          <a:ln/>
        </p:spPr>
        <p:txBody>
          <a:bodyPr wrap="square" lIns="0" tIns="0" rIns="0" bIns="0" rtlCol="0" anchor="t">
            <a:normAutofit/>
          </a:bodyPr>
          <a:lstStyle/>
          <a:p>
            <a:pPr indent="0" marL="0">
              <a:buNone/>
            </a:pPr>
            <a:r>
              <a:rPr lang="en-US" sz="800" dirty="0">
                <a:solidFill>
                  <a:srgbClr val="34495E"/>
                </a:solidFill>
                <a:latin typeface="Courier New" pitchFamily="34" charset="0"/>
                <a:ea typeface="Courier New" pitchFamily="34" charset="-122"/>
                <a:cs typeface="Courier New" pitchFamily="34" charset="-120"/>
              </a:rPr>
              <a:t>get_fleet_overview, get_machine_details</a:t>
            </a:r>
            <a:endParaRPr lang="en-US" sz="800" dirty="0"/>
          </a:p>
        </p:txBody>
      </p:sp>
      <p:sp>
        <p:nvSpPr>
          <p:cNvPr id="10" name="Text 7"/>
          <p:cNvSpPr txBox="1"/>
          <p:nvPr/>
        </p:nvSpPr>
        <p:spPr>
          <a:xfrm>
            <a:off x="594360" y="2304288"/>
            <a:ext cx="2331720" cy="228600"/>
          </a:xfrm>
          <a:prstGeom prst="rect">
            <a:avLst/>
          </a:prstGeom>
          <a:noFill/>
          <a:ln/>
        </p:spPr>
        <p:txBody>
          <a:bodyPr wrap="square" lIns="0" tIns="0" rIns="0" bIns="0" rtlCol="0" anchor="t"/>
          <a:lstStyle/>
          <a:p>
            <a:pPr indent="0" marL="0">
              <a:buNone/>
            </a:pPr>
            <a:r>
              <a:rPr lang="en-US" sz="1000" b="1" dirty="0">
                <a:solidFill>
                  <a:srgbClr val="138D75"/>
                </a:solidFill>
                <a:latin typeface="Calibri" pitchFamily="34" charset="0"/>
                <a:ea typeface="Calibri" pitchFamily="34" charset="-122"/>
                <a:cs typeface="Calibri" pitchFamily="34" charset="-120"/>
              </a:rPr>
              <a:t>Prioritised watch-list</a:t>
            </a:r>
            <a:endParaRPr lang="en-US" sz="1000" dirty="0"/>
          </a:p>
        </p:txBody>
      </p:sp>
      <p:sp>
        <p:nvSpPr>
          <p:cNvPr id="11" name="Shape 8"/>
          <p:cNvSpPr/>
          <p:nvPr/>
        </p:nvSpPr>
        <p:spPr>
          <a:xfrm>
            <a:off x="3246120" y="1280160"/>
            <a:ext cx="2606040" cy="1298448"/>
          </a:xfrm>
          <a:prstGeom prst="roundRect">
            <a:avLst>
              <a:gd name="adj" fmla="val 5634"/>
            </a:avLst>
          </a:prstGeom>
          <a:solidFill>
            <a:srgbClr val="EEF2F5"/>
          </a:solidFill>
          <a:ln w="12700">
            <a:solidFill>
              <a:srgbClr val="EEF2F5"/>
            </a:solidFill>
            <a:prstDash val="solid"/>
          </a:ln>
        </p:spPr>
      </p:sp>
      <p:sp>
        <p:nvSpPr>
          <p:cNvPr id="12" name="Shape 9"/>
          <p:cNvSpPr/>
          <p:nvPr/>
        </p:nvSpPr>
        <p:spPr>
          <a:xfrm>
            <a:off x="3383280" y="1417320"/>
            <a:ext cx="411480" cy="411480"/>
          </a:xfrm>
          <a:prstGeom prst="ellipse">
            <a:avLst/>
          </a:prstGeom>
          <a:solidFill>
            <a:srgbClr val="34495E"/>
          </a:solidFill>
          <a:ln w="12700">
            <a:solidFill>
              <a:srgbClr val="34495E"/>
            </a:solidFill>
            <a:prstDash val="solid"/>
          </a:ln>
        </p:spPr>
      </p:sp>
      <p:pic>
        <p:nvPicPr>
          <p:cNvPr id="13" name="Image 1" descr="preencoded.png">    </p:cNvPr>
          <p:cNvPicPr>
            <a:picLocks noChangeAspect="1"/>
          </p:cNvPicPr>
          <p:nvPr/>
        </p:nvPicPr>
        <p:blipFill>
          <a:blip r:embed="rId2"/>
          <a:stretch>
            <a:fillRect/>
          </a:stretch>
        </p:blipFill>
        <p:spPr>
          <a:xfrm>
            <a:off x="3486150" y="1520190"/>
            <a:ext cx="205740" cy="205740"/>
          </a:xfrm>
          <a:prstGeom prst="rect">
            <a:avLst/>
          </a:prstGeom>
        </p:spPr>
      </p:pic>
      <p:sp>
        <p:nvSpPr>
          <p:cNvPr id="14" name="Text 10"/>
          <p:cNvSpPr txBox="1"/>
          <p:nvPr/>
        </p:nvSpPr>
        <p:spPr>
          <a:xfrm>
            <a:off x="3886200" y="1417320"/>
            <a:ext cx="1874520" cy="411480"/>
          </a:xfrm>
          <a:prstGeom prst="rect">
            <a:avLst/>
          </a:prstGeom>
          <a:noFill/>
          <a:ln/>
        </p:spPr>
        <p:txBody>
          <a:bodyPr wrap="square" lIns="0" tIns="0" rIns="0" bIns="0" rtlCol="0" anchor="ctr"/>
          <a:lstStyle/>
          <a:p>
            <a:pPr indent="0" marL="0">
              <a:buNone/>
            </a:pPr>
            <a:r>
              <a:rPr lang="en-US" sz="1300" b="1" dirty="0">
                <a:solidFill>
                  <a:srgbClr val="1B2631"/>
                </a:solidFill>
                <a:latin typeface="Calibri" pitchFamily="34" charset="0"/>
                <a:ea typeface="Calibri" pitchFamily="34" charset="-122"/>
                <a:cs typeface="Calibri" pitchFamily="34" charset="-120"/>
              </a:rPr>
              <a:t>Diagnosis</a:t>
            </a:r>
            <a:endParaRPr lang="en-US" sz="1300" dirty="0"/>
          </a:p>
        </p:txBody>
      </p:sp>
      <p:sp>
        <p:nvSpPr>
          <p:cNvPr id="15" name="Text 11"/>
          <p:cNvSpPr txBox="1"/>
          <p:nvPr/>
        </p:nvSpPr>
        <p:spPr>
          <a:xfrm>
            <a:off x="3383280" y="1865376"/>
            <a:ext cx="2331720" cy="411480"/>
          </a:xfrm>
          <a:prstGeom prst="rect">
            <a:avLst/>
          </a:prstGeom>
          <a:noFill/>
          <a:ln/>
        </p:spPr>
        <p:txBody>
          <a:bodyPr wrap="square" lIns="0" tIns="0" rIns="0" bIns="0" rtlCol="0" anchor="t">
            <a:normAutofit/>
          </a:bodyPr>
          <a:lstStyle/>
          <a:p>
            <a:pPr indent="0" marL="0">
              <a:buNone/>
            </a:pPr>
            <a:r>
              <a:rPr lang="en-US" sz="800" dirty="0">
                <a:solidFill>
                  <a:srgbClr val="34495E"/>
                </a:solidFill>
                <a:latin typeface="Courier New" pitchFamily="34" charset="0"/>
                <a:ea typeface="Courier New" pitchFamily="34" charset="-122"/>
                <a:cs typeface="Courier New" pitchFamily="34" charset="-120"/>
              </a:rPr>
              <a:t>get_process_status, get_fleet_overview, get_machine_details</a:t>
            </a:r>
            <a:endParaRPr lang="en-US" sz="800" dirty="0"/>
          </a:p>
        </p:txBody>
      </p:sp>
      <p:sp>
        <p:nvSpPr>
          <p:cNvPr id="16" name="Text 12"/>
          <p:cNvSpPr txBox="1"/>
          <p:nvPr/>
        </p:nvSpPr>
        <p:spPr>
          <a:xfrm>
            <a:off x="3383280" y="2304288"/>
            <a:ext cx="2331720" cy="228600"/>
          </a:xfrm>
          <a:prstGeom prst="rect">
            <a:avLst/>
          </a:prstGeom>
          <a:noFill/>
          <a:ln/>
        </p:spPr>
        <p:txBody>
          <a:bodyPr wrap="square" lIns="0" tIns="0" rIns="0" bIns="0" rtlCol="0" anchor="t"/>
          <a:lstStyle/>
          <a:p>
            <a:pPr indent="0" marL="0">
              <a:buNone/>
            </a:pPr>
            <a:r>
              <a:rPr lang="en-US" sz="1000" b="1" dirty="0">
                <a:solidFill>
                  <a:srgbClr val="138D75"/>
                </a:solidFill>
                <a:latin typeface="Calibri" pitchFamily="34" charset="0"/>
                <a:ea typeface="Calibri" pitchFamily="34" charset="-122"/>
                <a:cs typeface="Calibri" pitchFamily="34" charset="-120"/>
              </a:rPr>
              <a:t>Failure mode → mechanism → evidence</a:t>
            </a:r>
            <a:endParaRPr lang="en-US" sz="1000" dirty="0"/>
          </a:p>
        </p:txBody>
      </p:sp>
      <p:sp>
        <p:nvSpPr>
          <p:cNvPr id="17" name="Shape 13"/>
          <p:cNvSpPr/>
          <p:nvPr/>
        </p:nvSpPr>
        <p:spPr>
          <a:xfrm>
            <a:off x="6035040" y="1280160"/>
            <a:ext cx="2606040" cy="1298448"/>
          </a:xfrm>
          <a:prstGeom prst="roundRect">
            <a:avLst>
              <a:gd name="adj" fmla="val 5634"/>
            </a:avLst>
          </a:prstGeom>
          <a:solidFill>
            <a:srgbClr val="EEF2F5"/>
          </a:solidFill>
          <a:ln w="12700">
            <a:solidFill>
              <a:srgbClr val="EEF2F5"/>
            </a:solidFill>
            <a:prstDash val="solid"/>
          </a:ln>
        </p:spPr>
      </p:sp>
      <p:sp>
        <p:nvSpPr>
          <p:cNvPr id="18" name="Shape 14"/>
          <p:cNvSpPr/>
          <p:nvPr/>
        </p:nvSpPr>
        <p:spPr>
          <a:xfrm>
            <a:off x="6172200" y="1417320"/>
            <a:ext cx="411480" cy="411480"/>
          </a:xfrm>
          <a:prstGeom prst="ellipse">
            <a:avLst/>
          </a:prstGeom>
          <a:solidFill>
            <a:srgbClr val="34495E"/>
          </a:solidFill>
          <a:ln w="12700">
            <a:solidFill>
              <a:srgbClr val="34495E"/>
            </a:solidFill>
            <a:prstDash val="solid"/>
          </a:ln>
        </p:spPr>
      </p:sp>
      <p:pic>
        <p:nvPicPr>
          <p:cNvPr id="19" name="Image 2" descr="preencoded.png">    </p:cNvPr>
          <p:cNvPicPr>
            <a:picLocks noChangeAspect="1"/>
          </p:cNvPicPr>
          <p:nvPr/>
        </p:nvPicPr>
        <p:blipFill>
          <a:blip r:embed="rId3"/>
          <a:stretch>
            <a:fillRect/>
          </a:stretch>
        </p:blipFill>
        <p:spPr>
          <a:xfrm>
            <a:off x="6275070" y="1520190"/>
            <a:ext cx="205740" cy="205740"/>
          </a:xfrm>
          <a:prstGeom prst="rect">
            <a:avLst/>
          </a:prstGeom>
        </p:spPr>
      </p:pic>
      <p:sp>
        <p:nvSpPr>
          <p:cNvPr id="20" name="Text 15"/>
          <p:cNvSpPr txBox="1"/>
          <p:nvPr/>
        </p:nvSpPr>
        <p:spPr>
          <a:xfrm>
            <a:off x="6675120" y="1417320"/>
            <a:ext cx="1874520" cy="411480"/>
          </a:xfrm>
          <a:prstGeom prst="rect">
            <a:avLst/>
          </a:prstGeom>
          <a:noFill/>
          <a:ln/>
        </p:spPr>
        <p:txBody>
          <a:bodyPr wrap="square" lIns="0" tIns="0" rIns="0" bIns="0" rtlCol="0" anchor="ctr"/>
          <a:lstStyle/>
          <a:p>
            <a:pPr indent="0" marL="0">
              <a:buNone/>
            </a:pPr>
            <a:r>
              <a:rPr lang="en-US" sz="1300" b="1" dirty="0">
                <a:solidFill>
                  <a:srgbClr val="1B2631"/>
                </a:solidFill>
                <a:latin typeface="Calibri" pitchFamily="34" charset="0"/>
                <a:ea typeface="Calibri" pitchFamily="34" charset="-122"/>
                <a:cs typeface="Calibri" pitchFamily="34" charset="-120"/>
              </a:rPr>
              <a:t>Maintenance planning</a:t>
            </a:r>
            <a:endParaRPr lang="en-US" sz="1300" dirty="0"/>
          </a:p>
        </p:txBody>
      </p:sp>
      <p:sp>
        <p:nvSpPr>
          <p:cNvPr id="21" name="Text 16"/>
          <p:cNvSpPr txBox="1"/>
          <p:nvPr/>
        </p:nvSpPr>
        <p:spPr>
          <a:xfrm>
            <a:off x="6172200" y="1865376"/>
            <a:ext cx="2331720" cy="411480"/>
          </a:xfrm>
          <a:prstGeom prst="rect">
            <a:avLst/>
          </a:prstGeom>
          <a:noFill/>
          <a:ln/>
        </p:spPr>
        <p:txBody>
          <a:bodyPr wrap="square" lIns="0" tIns="0" rIns="0" bIns="0" rtlCol="0" anchor="t">
            <a:normAutofit/>
          </a:bodyPr>
          <a:lstStyle/>
          <a:p>
            <a:pPr indent="0" marL="0">
              <a:buNone/>
            </a:pPr>
            <a:r>
              <a:rPr lang="en-US" sz="800" dirty="0">
                <a:solidFill>
                  <a:srgbClr val="34495E"/>
                </a:solidFill>
                <a:latin typeface="Courier New" pitchFamily="34" charset="0"/>
                <a:ea typeface="Courier New" pitchFamily="34" charset="-122"/>
                <a:cs typeface="Courier New" pitchFamily="34" charset="-120"/>
              </a:rPr>
              <a:t>plan_maintenance, get_fleet_overview, get_plant_kpis</a:t>
            </a:r>
            <a:endParaRPr lang="en-US" sz="800" dirty="0"/>
          </a:p>
        </p:txBody>
      </p:sp>
      <p:sp>
        <p:nvSpPr>
          <p:cNvPr id="22" name="Text 17"/>
          <p:cNvSpPr txBox="1"/>
          <p:nvPr/>
        </p:nvSpPr>
        <p:spPr>
          <a:xfrm>
            <a:off x="6172200" y="2304288"/>
            <a:ext cx="2331720" cy="228600"/>
          </a:xfrm>
          <a:prstGeom prst="rect">
            <a:avLst/>
          </a:prstGeom>
          <a:noFill/>
          <a:ln/>
        </p:spPr>
        <p:txBody>
          <a:bodyPr wrap="square" lIns="0" tIns="0" rIns="0" bIns="0" rtlCol="0" anchor="t"/>
          <a:lstStyle/>
          <a:p>
            <a:pPr indent="0" marL="0">
              <a:buNone/>
            </a:pPr>
            <a:r>
              <a:rPr lang="en-US" sz="1000" b="1" dirty="0">
                <a:solidFill>
                  <a:srgbClr val="138D75"/>
                </a:solidFill>
                <a:latin typeface="Calibri" pitchFamily="34" charset="0"/>
                <a:ea typeface="Calibri" pitchFamily="34" charset="-122"/>
                <a:cs typeface="Calibri" pitchFamily="34" charset="-120"/>
              </a:rPr>
              <a:t>Day-by-day plan, cost vs run-to-failure</a:t>
            </a:r>
            <a:endParaRPr lang="en-US" sz="1000" dirty="0"/>
          </a:p>
        </p:txBody>
      </p:sp>
      <p:sp>
        <p:nvSpPr>
          <p:cNvPr id="23" name="Shape 18"/>
          <p:cNvSpPr/>
          <p:nvPr/>
        </p:nvSpPr>
        <p:spPr>
          <a:xfrm>
            <a:off x="457200" y="2651760"/>
            <a:ext cx="2606040" cy="1298448"/>
          </a:xfrm>
          <a:prstGeom prst="roundRect">
            <a:avLst>
              <a:gd name="adj" fmla="val 5634"/>
            </a:avLst>
          </a:prstGeom>
          <a:solidFill>
            <a:srgbClr val="EEF2F5"/>
          </a:solidFill>
          <a:ln w="12700">
            <a:solidFill>
              <a:srgbClr val="EEF2F5"/>
            </a:solidFill>
            <a:prstDash val="solid"/>
          </a:ln>
        </p:spPr>
      </p:sp>
      <p:sp>
        <p:nvSpPr>
          <p:cNvPr id="24" name="Shape 19"/>
          <p:cNvSpPr/>
          <p:nvPr/>
        </p:nvSpPr>
        <p:spPr>
          <a:xfrm>
            <a:off x="594360" y="2788920"/>
            <a:ext cx="411480" cy="411480"/>
          </a:xfrm>
          <a:prstGeom prst="ellipse">
            <a:avLst/>
          </a:prstGeom>
          <a:solidFill>
            <a:srgbClr val="34495E"/>
          </a:solidFill>
          <a:ln w="12700">
            <a:solidFill>
              <a:srgbClr val="34495E"/>
            </a:solidFill>
            <a:prstDash val="solid"/>
          </a:ln>
        </p:spPr>
      </p:sp>
      <p:pic>
        <p:nvPicPr>
          <p:cNvPr id="25" name="Image 3" descr="preencoded.png">    </p:cNvPr>
          <p:cNvPicPr>
            <a:picLocks noChangeAspect="1"/>
          </p:cNvPicPr>
          <p:nvPr/>
        </p:nvPicPr>
        <p:blipFill>
          <a:blip r:embed="rId4"/>
          <a:stretch>
            <a:fillRect/>
          </a:stretch>
        </p:blipFill>
        <p:spPr>
          <a:xfrm>
            <a:off x="697230" y="2891790"/>
            <a:ext cx="205740" cy="205740"/>
          </a:xfrm>
          <a:prstGeom prst="rect">
            <a:avLst/>
          </a:prstGeom>
        </p:spPr>
      </p:pic>
      <p:sp>
        <p:nvSpPr>
          <p:cNvPr id="26" name="Text 20"/>
          <p:cNvSpPr txBox="1"/>
          <p:nvPr/>
        </p:nvSpPr>
        <p:spPr>
          <a:xfrm>
            <a:off x="1097280" y="2788920"/>
            <a:ext cx="1874520" cy="411480"/>
          </a:xfrm>
          <a:prstGeom prst="rect">
            <a:avLst/>
          </a:prstGeom>
          <a:noFill/>
          <a:ln/>
        </p:spPr>
        <p:txBody>
          <a:bodyPr wrap="square" lIns="0" tIns="0" rIns="0" bIns="0" rtlCol="0" anchor="ctr"/>
          <a:lstStyle/>
          <a:p>
            <a:pPr indent="0" marL="0">
              <a:buNone/>
            </a:pPr>
            <a:r>
              <a:rPr lang="en-US" sz="1300" b="1" dirty="0">
                <a:solidFill>
                  <a:srgbClr val="1B2631"/>
                </a:solidFill>
                <a:latin typeface="Calibri" pitchFamily="34" charset="0"/>
                <a:ea typeface="Calibri" pitchFamily="34" charset="-122"/>
                <a:cs typeface="Calibri" pitchFamily="34" charset="-120"/>
              </a:rPr>
              <a:t>Process optimisation</a:t>
            </a:r>
            <a:endParaRPr lang="en-US" sz="1300" dirty="0"/>
          </a:p>
        </p:txBody>
      </p:sp>
      <p:sp>
        <p:nvSpPr>
          <p:cNvPr id="27" name="Text 21"/>
          <p:cNvSpPr txBox="1"/>
          <p:nvPr/>
        </p:nvSpPr>
        <p:spPr>
          <a:xfrm>
            <a:off x="594360" y="3236976"/>
            <a:ext cx="2331720" cy="411480"/>
          </a:xfrm>
          <a:prstGeom prst="rect">
            <a:avLst/>
          </a:prstGeom>
          <a:noFill/>
          <a:ln/>
        </p:spPr>
        <p:txBody>
          <a:bodyPr wrap="square" lIns="0" tIns="0" rIns="0" bIns="0" rtlCol="0" anchor="t">
            <a:normAutofit/>
          </a:bodyPr>
          <a:lstStyle/>
          <a:p>
            <a:pPr indent="0" marL="0">
              <a:buNone/>
            </a:pPr>
            <a:r>
              <a:rPr lang="en-US" sz="800" dirty="0">
                <a:solidFill>
                  <a:srgbClr val="34495E"/>
                </a:solidFill>
                <a:latin typeface="Courier New" pitchFamily="34" charset="0"/>
                <a:ea typeface="Courier New" pitchFamily="34" charset="-122"/>
                <a:cs typeface="Courier New" pitchFamily="34" charset="-120"/>
              </a:rPr>
              <a:t>get_process_status, optimize_process_setpoints, simulate_process_change</a:t>
            </a:r>
            <a:endParaRPr lang="en-US" sz="800" dirty="0"/>
          </a:p>
        </p:txBody>
      </p:sp>
      <p:sp>
        <p:nvSpPr>
          <p:cNvPr id="28" name="Text 22"/>
          <p:cNvSpPr txBox="1"/>
          <p:nvPr/>
        </p:nvSpPr>
        <p:spPr>
          <a:xfrm>
            <a:off x="594360" y="3675888"/>
            <a:ext cx="2331720" cy="228600"/>
          </a:xfrm>
          <a:prstGeom prst="rect">
            <a:avLst/>
          </a:prstGeom>
          <a:noFill/>
          <a:ln/>
        </p:spPr>
        <p:txBody>
          <a:bodyPr wrap="square" lIns="0" tIns="0" rIns="0" bIns="0" rtlCol="0" anchor="t"/>
          <a:lstStyle/>
          <a:p>
            <a:pPr indent="0" marL="0">
              <a:buNone/>
            </a:pPr>
            <a:r>
              <a:rPr lang="en-US" sz="1000" b="1" dirty="0">
                <a:solidFill>
                  <a:srgbClr val="138D75"/>
                </a:solidFill>
                <a:latin typeface="Calibri" pitchFamily="34" charset="0"/>
                <a:ea typeface="Calibri" pitchFamily="34" charset="-122"/>
                <a:cs typeface="Calibri" pitchFamily="34" charset="-120"/>
              </a:rPr>
              <a:t>Verified setpoint change</a:t>
            </a:r>
            <a:endParaRPr lang="en-US" sz="1000" dirty="0"/>
          </a:p>
        </p:txBody>
      </p:sp>
      <p:sp>
        <p:nvSpPr>
          <p:cNvPr id="29" name="Shape 23"/>
          <p:cNvSpPr/>
          <p:nvPr/>
        </p:nvSpPr>
        <p:spPr>
          <a:xfrm>
            <a:off x="3246120" y="2651760"/>
            <a:ext cx="2606040" cy="1298448"/>
          </a:xfrm>
          <a:prstGeom prst="roundRect">
            <a:avLst>
              <a:gd name="adj" fmla="val 5634"/>
            </a:avLst>
          </a:prstGeom>
          <a:solidFill>
            <a:srgbClr val="EEF2F5"/>
          </a:solidFill>
          <a:ln w="12700">
            <a:solidFill>
              <a:srgbClr val="EEF2F5"/>
            </a:solidFill>
            <a:prstDash val="solid"/>
          </a:ln>
        </p:spPr>
      </p:sp>
      <p:sp>
        <p:nvSpPr>
          <p:cNvPr id="30" name="Shape 24"/>
          <p:cNvSpPr/>
          <p:nvPr/>
        </p:nvSpPr>
        <p:spPr>
          <a:xfrm>
            <a:off x="3383280" y="2788920"/>
            <a:ext cx="411480" cy="411480"/>
          </a:xfrm>
          <a:prstGeom prst="ellipse">
            <a:avLst/>
          </a:prstGeom>
          <a:solidFill>
            <a:srgbClr val="E8910C"/>
          </a:solidFill>
          <a:ln w="12700">
            <a:solidFill>
              <a:srgbClr val="E8910C"/>
            </a:solidFill>
            <a:prstDash val="solid"/>
          </a:ln>
        </p:spPr>
      </p:sp>
      <p:pic>
        <p:nvPicPr>
          <p:cNvPr id="31" name="Image 4" descr="preencoded.png">    </p:cNvPr>
          <p:cNvPicPr>
            <a:picLocks noChangeAspect="1"/>
          </p:cNvPicPr>
          <p:nvPr/>
        </p:nvPicPr>
        <p:blipFill>
          <a:blip r:embed="rId5"/>
          <a:stretch>
            <a:fillRect/>
          </a:stretch>
        </p:blipFill>
        <p:spPr>
          <a:xfrm>
            <a:off x="3486150" y="2891790"/>
            <a:ext cx="205740" cy="205740"/>
          </a:xfrm>
          <a:prstGeom prst="rect">
            <a:avLst/>
          </a:prstGeom>
        </p:spPr>
      </p:pic>
      <p:sp>
        <p:nvSpPr>
          <p:cNvPr id="32" name="Text 25"/>
          <p:cNvSpPr txBox="1"/>
          <p:nvPr/>
        </p:nvSpPr>
        <p:spPr>
          <a:xfrm>
            <a:off x="3886200" y="2788920"/>
            <a:ext cx="1874520" cy="411480"/>
          </a:xfrm>
          <a:prstGeom prst="rect">
            <a:avLst/>
          </a:prstGeom>
          <a:noFill/>
          <a:ln/>
        </p:spPr>
        <p:txBody>
          <a:bodyPr wrap="square" lIns="0" tIns="0" rIns="0" bIns="0" rtlCol="0" anchor="ctr"/>
          <a:lstStyle/>
          <a:p>
            <a:pPr indent="0" marL="0">
              <a:buNone/>
            </a:pPr>
            <a:r>
              <a:rPr lang="en-US" sz="1300" b="1" dirty="0">
                <a:solidFill>
                  <a:srgbClr val="1B2631"/>
                </a:solidFill>
                <a:latin typeface="Calibri" pitchFamily="34" charset="0"/>
                <a:ea typeface="Calibri" pitchFamily="34" charset="-122"/>
                <a:cs typeface="Calibri" pitchFamily="34" charset="-120"/>
              </a:rPr>
              <a:t>Coordinator</a:t>
            </a:r>
            <a:endParaRPr lang="en-US" sz="1300" dirty="0"/>
          </a:p>
        </p:txBody>
      </p:sp>
      <p:sp>
        <p:nvSpPr>
          <p:cNvPr id="33" name="Text 26"/>
          <p:cNvSpPr txBox="1"/>
          <p:nvPr/>
        </p:nvSpPr>
        <p:spPr>
          <a:xfrm>
            <a:off x="3383280" y="3236976"/>
            <a:ext cx="2331720" cy="411480"/>
          </a:xfrm>
          <a:prstGeom prst="rect">
            <a:avLst/>
          </a:prstGeom>
          <a:noFill/>
          <a:ln/>
        </p:spPr>
        <p:txBody>
          <a:bodyPr wrap="square" lIns="0" tIns="0" rIns="0" bIns="0" rtlCol="0" anchor="t">
            <a:normAutofit/>
          </a:bodyPr>
          <a:lstStyle/>
          <a:p>
            <a:pPr indent="0" marL="0">
              <a:buNone/>
            </a:pPr>
            <a:r>
              <a:rPr lang="en-US" sz="800" dirty="0">
                <a:solidFill>
                  <a:srgbClr val="34495E"/>
                </a:solidFill>
                <a:latin typeface="Courier New" pitchFamily="34" charset="0"/>
                <a:ea typeface="Courier New" pitchFamily="34" charset="-122"/>
                <a:cs typeface="Courier New" pitchFamily="34" charset="-120"/>
              </a:rPr>
              <a:t>none — JSON-schema output</a:t>
            </a:r>
            <a:endParaRPr lang="en-US" sz="800" dirty="0"/>
          </a:p>
        </p:txBody>
      </p:sp>
      <p:sp>
        <p:nvSpPr>
          <p:cNvPr id="34" name="Text 27"/>
          <p:cNvSpPr txBox="1"/>
          <p:nvPr/>
        </p:nvSpPr>
        <p:spPr>
          <a:xfrm>
            <a:off x="3383280" y="3675888"/>
            <a:ext cx="2331720" cy="228600"/>
          </a:xfrm>
          <a:prstGeom prst="rect">
            <a:avLst/>
          </a:prstGeom>
          <a:noFill/>
          <a:ln/>
        </p:spPr>
        <p:txBody>
          <a:bodyPr wrap="square" lIns="0" tIns="0" rIns="0" bIns="0" rtlCol="0" anchor="t"/>
          <a:lstStyle/>
          <a:p>
            <a:pPr indent="0" marL="0">
              <a:buNone/>
            </a:pPr>
            <a:r>
              <a:rPr lang="en-US" sz="1000" b="1" dirty="0">
                <a:solidFill>
                  <a:srgbClr val="138D75"/>
                </a:solidFill>
                <a:latin typeface="Calibri" pitchFamily="34" charset="0"/>
                <a:ea typeface="Calibri" pitchFamily="34" charset="-122"/>
                <a:cs typeface="Calibri" pitchFamily="34" charset="-120"/>
              </a:rPr>
              <a:t>De-duplicated, prioritised action plan</a:t>
            </a:r>
            <a:endParaRPr lang="en-US" sz="1000" dirty="0"/>
          </a:p>
        </p:txBody>
      </p:sp>
      <p:sp>
        <p:nvSpPr>
          <p:cNvPr id="35" name="Shape 28"/>
          <p:cNvSpPr/>
          <p:nvPr/>
        </p:nvSpPr>
        <p:spPr>
          <a:xfrm>
            <a:off x="6035040" y="2651760"/>
            <a:ext cx="2606040" cy="1298448"/>
          </a:xfrm>
          <a:prstGeom prst="roundRect">
            <a:avLst>
              <a:gd name="adj" fmla="val 5634"/>
            </a:avLst>
          </a:prstGeom>
          <a:solidFill>
            <a:srgbClr val="EEF2F5"/>
          </a:solidFill>
          <a:ln w="12700">
            <a:solidFill>
              <a:srgbClr val="EEF2F5"/>
            </a:solidFill>
            <a:prstDash val="solid"/>
          </a:ln>
        </p:spPr>
      </p:sp>
      <p:sp>
        <p:nvSpPr>
          <p:cNvPr id="36" name="Shape 29"/>
          <p:cNvSpPr/>
          <p:nvPr/>
        </p:nvSpPr>
        <p:spPr>
          <a:xfrm>
            <a:off x="6172200" y="2788920"/>
            <a:ext cx="411480" cy="411480"/>
          </a:xfrm>
          <a:prstGeom prst="ellipse">
            <a:avLst/>
          </a:prstGeom>
          <a:solidFill>
            <a:srgbClr val="34495E"/>
          </a:solidFill>
          <a:ln w="12700">
            <a:solidFill>
              <a:srgbClr val="34495E"/>
            </a:solidFill>
            <a:prstDash val="solid"/>
          </a:ln>
        </p:spPr>
      </p:sp>
      <p:pic>
        <p:nvPicPr>
          <p:cNvPr id="37" name="Image 5" descr="preencoded.png">    </p:cNvPr>
          <p:cNvPicPr>
            <a:picLocks noChangeAspect="1"/>
          </p:cNvPicPr>
          <p:nvPr/>
        </p:nvPicPr>
        <p:blipFill>
          <a:blip r:embed="rId6"/>
          <a:stretch>
            <a:fillRect/>
          </a:stretch>
        </p:blipFill>
        <p:spPr>
          <a:xfrm>
            <a:off x="6275070" y="2891790"/>
            <a:ext cx="205740" cy="205740"/>
          </a:xfrm>
          <a:prstGeom prst="rect">
            <a:avLst/>
          </a:prstGeom>
        </p:spPr>
      </p:pic>
      <p:sp>
        <p:nvSpPr>
          <p:cNvPr id="38" name="Text 30"/>
          <p:cNvSpPr txBox="1"/>
          <p:nvPr/>
        </p:nvSpPr>
        <p:spPr>
          <a:xfrm>
            <a:off x="6675120" y="2788920"/>
            <a:ext cx="1874520" cy="411480"/>
          </a:xfrm>
          <a:prstGeom prst="rect">
            <a:avLst/>
          </a:prstGeom>
          <a:noFill/>
          <a:ln/>
        </p:spPr>
        <p:txBody>
          <a:bodyPr wrap="square" lIns="0" tIns="0" rIns="0" bIns="0" rtlCol="0" anchor="ctr"/>
          <a:lstStyle/>
          <a:p>
            <a:pPr indent="0" marL="0">
              <a:buNone/>
            </a:pPr>
            <a:r>
              <a:rPr lang="en-US" sz="1300" b="1" dirty="0">
                <a:solidFill>
                  <a:srgbClr val="1B2631"/>
                </a:solidFill>
                <a:latin typeface="Calibri" pitchFamily="34" charset="0"/>
                <a:ea typeface="Calibri" pitchFamily="34" charset="-122"/>
                <a:cs typeface="Calibri" pitchFamily="34" charset="-120"/>
              </a:rPr>
              <a:t>Chat assistant</a:t>
            </a:r>
            <a:endParaRPr lang="en-US" sz="1300" dirty="0"/>
          </a:p>
        </p:txBody>
      </p:sp>
      <p:sp>
        <p:nvSpPr>
          <p:cNvPr id="39" name="Text 31"/>
          <p:cNvSpPr txBox="1"/>
          <p:nvPr/>
        </p:nvSpPr>
        <p:spPr>
          <a:xfrm>
            <a:off x="6172200" y="3236976"/>
            <a:ext cx="2331720" cy="411480"/>
          </a:xfrm>
          <a:prstGeom prst="rect">
            <a:avLst/>
          </a:prstGeom>
          <a:noFill/>
          <a:ln/>
        </p:spPr>
        <p:txBody>
          <a:bodyPr wrap="square" lIns="0" tIns="0" rIns="0" bIns="0" rtlCol="0" anchor="t">
            <a:normAutofit/>
          </a:bodyPr>
          <a:lstStyle/>
          <a:p>
            <a:pPr indent="0" marL="0">
              <a:buNone/>
            </a:pPr>
            <a:r>
              <a:rPr lang="en-US" sz="800" dirty="0">
                <a:solidFill>
                  <a:srgbClr val="34495E"/>
                </a:solidFill>
                <a:latin typeface="Courier New" pitchFamily="34" charset="0"/>
                <a:ea typeface="Courier New" pitchFamily="34" charset="-122"/>
                <a:cs typeface="Courier New" pitchFamily="34" charset="-120"/>
              </a:rPr>
              <a:t>all 7 tools</a:t>
            </a:r>
            <a:endParaRPr lang="en-US" sz="800" dirty="0"/>
          </a:p>
        </p:txBody>
      </p:sp>
      <p:sp>
        <p:nvSpPr>
          <p:cNvPr id="40" name="Text 32"/>
          <p:cNvSpPr txBox="1"/>
          <p:nvPr/>
        </p:nvSpPr>
        <p:spPr>
          <a:xfrm>
            <a:off x="6172200" y="3675888"/>
            <a:ext cx="2331720" cy="228600"/>
          </a:xfrm>
          <a:prstGeom prst="rect">
            <a:avLst/>
          </a:prstGeom>
          <a:noFill/>
          <a:ln/>
        </p:spPr>
        <p:txBody>
          <a:bodyPr wrap="square" lIns="0" tIns="0" rIns="0" bIns="0" rtlCol="0" anchor="t"/>
          <a:lstStyle/>
          <a:p>
            <a:pPr indent="0" marL="0">
              <a:buNone/>
            </a:pPr>
            <a:r>
              <a:rPr lang="en-US" sz="1000" b="1" dirty="0">
                <a:solidFill>
                  <a:srgbClr val="138D75"/>
                </a:solidFill>
                <a:latin typeface="Calibri" pitchFamily="34" charset="0"/>
                <a:ea typeface="Calibri" pitchFamily="34" charset="-122"/>
                <a:cs typeface="Calibri" pitchFamily="34" charset="-120"/>
              </a:rPr>
              <a:t>Answers questions, runs what-ifs</a:t>
            </a:r>
            <a:endParaRPr lang="en-US" sz="1000" dirty="0"/>
          </a:p>
        </p:txBody>
      </p:sp>
      <p:sp>
        <p:nvSpPr>
          <p:cNvPr id="41" name="Text 33"/>
          <p:cNvSpPr txBox="1"/>
          <p:nvPr/>
        </p:nvSpPr>
        <p:spPr>
          <a:xfrm>
            <a:off x="457200" y="4114800"/>
            <a:ext cx="8229600" cy="594360"/>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Tools return compact JSON with strict schemas; unknown args are dropped; tool errors go back to the model instead of crashing. Plan schema: headline, situation_summary, actions[] (priority, category, urgency, target, action, rationale, expected_impact, source_agents), risks_and_caveats[].</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000" b="1" spc="200" kern="0" dirty="0">
                <a:solidFill>
                  <a:srgbClr val="E8910C"/>
                </a:solidFill>
                <a:latin typeface="Calibri" pitchFamily="34" charset="0"/>
                <a:ea typeface="Calibri" pitchFamily="34" charset="-122"/>
                <a:cs typeface="Calibri" pitchFamily="34" charset="-120"/>
              </a:rPr>
              <a:t>08 · DECISION AGENTS</a:t>
            </a:r>
            <a:endParaRPr lang="en-US" sz="10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1B2631"/>
                </a:solidFill>
                <a:latin typeface="Calibri" pitchFamily="34" charset="0"/>
                <a:ea typeface="Calibri" pitchFamily="34" charset="-122"/>
                <a:cs typeface="Calibri" pitchFamily="34" charset="-120"/>
              </a:rPr>
              <a:t>Pluggable LLM backends and agent modes</a:t>
            </a:r>
            <a:endParaRPr lang="en-US" sz="2800" dirty="0"/>
          </a:p>
        </p:txBody>
      </p:sp>
      <p:sp>
        <p:nvSpPr>
          <p:cNvPr id="4" name="Text 2"/>
          <p:cNvSpPr txBox="1"/>
          <p:nvPr/>
        </p:nvSpPr>
        <p:spPr>
          <a:xfrm>
            <a:off x="7315200" y="4846320"/>
            <a:ext cx="1371600" cy="182880"/>
          </a:xfrm>
          <a:prstGeom prst="rect">
            <a:avLst/>
          </a:prstGeom>
          <a:noFill/>
          <a:ln/>
        </p:spPr>
        <p:txBody>
          <a:bodyPr wrap="square" lIns="0" tIns="0" rIns="0" bIns="0" rtlCol="0" anchor="t"/>
          <a:lstStyle/>
          <a:p>
            <a:pPr algn="r" indent="0" marL="0">
              <a:buNone/>
            </a:pPr>
            <a:r>
              <a:rPr lang="en-US" sz="900" dirty="0">
                <a:solidFill>
                  <a:srgbClr val="5F6B78"/>
                </a:solidFill>
                <a:latin typeface="Calibri" pitchFamily="34" charset="0"/>
                <a:ea typeface="Calibri" pitchFamily="34" charset="-122"/>
                <a:cs typeface="Calibri" pitchFamily="34" charset="-120"/>
              </a:rPr>
              <a:t>SMPO  ·  16</a:t>
            </a:r>
            <a:endParaRPr lang="en-US" sz="9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3383280" cy="914400"/>
        </p:xfrm>
        <a:graphic>
          <a:graphicData uri="http://schemas.openxmlformats.org/drawingml/2006/table">
            <a:tbl>
              <a:tblPr/>
              <a:tblGrid>
                <a:gridCol w="868680"/>
                <a:gridCol w="1280160"/>
                <a:gridCol w="1234440"/>
              </a:tblGrid>
              <a:tr h="329184">
                <a:tc>
                  <a:txBody>
                    <a:bodyPr/>
                    <a:lstStyle/>
                    <a:p>
                      <a:pPr indent="0" marL="0">
                        <a:buNone/>
                      </a:pPr>
                      <a:endParaRPr lang="en-US" sz="950" dirty="0">
                        <a:latin typeface="Calibri" charset="0"/>
                        <a:ea typeface="Calibri" charset="0"/>
                        <a:cs typeface="Calibri" charset="0"/>
                      </a:endParaRPr>
                    </a:p>
                  </a:txBody>
                  <a:tcPr marL="45720" marR="4572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34495E"/>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ollama (default)</a:t>
                      </a:r>
                      <a:endParaRPr lang="en-US" sz="950" dirty="0">
                        <a:latin typeface="Calibri" charset="0"/>
                        <a:ea typeface="Calibri" charset="0"/>
                        <a:cs typeface="Calibri" charset="0"/>
                      </a:endParaRPr>
                    </a:p>
                  </a:txBody>
                  <a:tcPr marL="45720" marR="4572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34495E"/>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claude</a:t>
                      </a:r>
                      <a:endParaRPr lang="en-US" sz="950" dirty="0">
                        <a:latin typeface="Calibri" charset="0"/>
                        <a:ea typeface="Calibri" charset="0"/>
                        <a:cs typeface="Calibri" charset="0"/>
                      </a:endParaRPr>
                    </a:p>
                  </a:txBody>
                  <a:tcPr marL="45720" marR="4572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34495E"/>
                    </a:solidFill>
                  </a:tcPr>
                </a:tc>
              </a:tr>
              <a:tr h="329184">
                <a:tc>
                  <a:txBody>
                    <a:bodyPr/>
                    <a:lstStyle/>
                    <a:p>
                      <a:pPr indent="0" marL="0">
                        <a:buNone/>
                      </a:pPr>
                      <a:r>
                        <a:rPr lang="en-US" sz="950" b="1" dirty="0">
                          <a:solidFill>
                            <a:srgbClr val="34495E"/>
                          </a:solidFill>
                          <a:latin typeface="Calibri" pitchFamily="34" charset="0"/>
                          <a:ea typeface="Calibri" pitchFamily="34" charset="-122"/>
                          <a:cs typeface="Calibri" pitchFamily="34" charset="-120"/>
                        </a:rPr>
                        <a:t>Model</a:t>
                      </a:r>
                      <a:endParaRPr lang="en-US" sz="950" dirty="0">
                        <a:latin typeface="Calibri" charset="0"/>
                        <a:ea typeface="Calibri" charset="0"/>
                        <a:cs typeface="Calibri" charset="0"/>
                      </a:endParaRPr>
                    </a:p>
                  </a:txBody>
                  <a:tcPr marL="45720" marR="4572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B2631"/>
                          </a:solidFill>
                          <a:latin typeface="Calibri" pitchFamily="34" charset="0"/>
                          <a:ea typeface="Calibri" pitchFamily="34" charset="-122"/>
                          <a:cs typeface="Calibri" pitchFamily="34" charset="-120"/>
                        </a:rPr>
                        <a:t>qwen3:4b</a:t>
                      </a:r>
                      <a:endParaRPr lang="en-US" sz="950" dirty="0">
                        <a:latin typeface="Calibri" charset="0"/>
                        <a:ea typeface="Calibri" charset="0"/>
                        <a:cs typeface="Calibri" charset="0"/>
                      </a:endParaRPr>
                    </a:p>
                  </a:txBody>
                  <a:tcPr marL="45720" marR="4572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B2631"/>
                          </a:solidFill>
                          <a:latin typeface="Calibri" pitchFamily="34" charset="0"/>
                          <a:ea typeface="Calibri" pitchFamily="34" charset="-122"/>
                          <a:cs typeface="Calibri" pitchFamily="34" charset="-120"/>
                        </a:rPr>
                        <a:t>claude-opus-5-5</a:t>
                      </a:r>
                      <a:endParaRPr lang="en-US" sz="950" dirty="0">
                        <a:latin typeface="Calibri" charset="0"/>
                        <a:ea typeface="Calibri" charset="0"/>
                        <a:cs typeface="Calibri" charset="0"/>
                      </a:endParaRPr>
                    </a:p>
                  </a:txBody>
                  <a:tcPr marL="45720" marR="4572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329184">
                <a:tc>
                  <a:txBody>
                    <a:bodyPr/>
                    <a:lstStyle/>
                    <a:p>
                      <a:pPr indent="0" marL="0">
                        <a:buNone/>
                      </a:pPr>
                      <a:r>
                        <a:rPr lang="en-US" sz="950" b="1" dirty="0">
                          <a:solidFill>
                            <a:srgbClr val="34495E"/>
                          </a:solidFill>
                          <a:latin typeface="Calibri" pitchFamily="34" charset="0"/>
                          <a:ea typeface="Calibri" pitchFamily="34" charset="-122"/>
                          <a:cs typeface="Calibri" pitchFamily="34" charset="-120"/>
                        </a:rPr>
                        <a:t>Cost</a:t>
                      </a:r>
                      <a:endParaRPr lang="en-US" sz="950" dirty="0">
                        <a:latin typeface="Calibri" charset="0"/>
                        <a:ea typeface="Calibri" charset="0"/>
                        <a:cs typeface="Calibri" charset="0"/>
                      </a:endParaRPr>
                    </a:p>
                  </a:txBody>
                  <a:tcPr marL="45720" marR="4572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B2631"/>
                          </a:solidFill>
                          <a:latin typeface="Calibri" pitchFamily="34" charset="0"/>
                          <a:ea typeface="Calibri" pitchFamily="34" charset="-122"/>
                          <a:cs typeface="Calibri" pitchFamily="34" charset="-120"/>
                        </a:rPr>
                        <a:t>Free, offline, no token limits</a:t>
                      </a:r>
                      <a:endParaRPr lang="en-US" sz="950" dirty="0">
                        <a:latin typeface="Calibri" charset="0"/>
                        <a:ea typeface="Calibri" charset="0"/>
                        <a:cs typeface="Calibri" charset="0"/>
                      </a:endParaRPr>
                    </a:p>
                  </a:txBody>
                  <a:tcPr marL="45720" marR="4572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B2631"/>
                          </a:solidFill>
                          <a:latin typeface="Calibri" pitchFamily="34" charset="0"/>
                          <a:ea typeface="Calibri" pitchFamily="34" charset="-122"/>
                          <a:cs typeface="Calibri" pitchFamily="34" charset="-120"/>
                        </a:rPr>
                        <a:t>Pay per token</a:t>
                      </a:r>
                      <a:endParaRPr lang="en-US" sz="950" dirty="0">
                        <a:latin typeface="Calibri" charset="0"/>
                        <a:ea typeface="Calibri" charset="0"/>
                        <a:cs typeface="Calibri" charset="0"/>
                      </a:endParaRPr>
                    </a:p>
                  </a:txBody>
                  <a:tcPr marL="45720" marR="4572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329184">
                <a:tc>
                  <a:txBody>
                    <a:bodyPr/>
                    <a:lstStyle/>
                    <a:p>
                      <a:pPr indent="0" marL="0">
                        <a:buNone/>
                      </a:pPr>
                      <a:r>
                        <a:rPr lang="en-US" sz="950" b="1" dirty="0">
                          <a:solidFill>
                            <a:srgbClr val="34495E"/>
                          </a:solidFill>
                          <a:latin typeface="Calibri" pitchFamily="34" charset="0"/>
                          <a:ea typeface="Calibri" pitchFamily="34" charset="-122"/>
                          <a:cs typeface="Calibri" pitchFamily="34" charset="-120"/>
                        </a:rPr>
                        <a:t>Setup</a:t>
                      </a:r>
                      <a:endParaRPr lang="en-US" sz="950" dirty="0">
                        <a:latin typeface="Calibri" charset="0"/>
                        <a:ea typeface="Calibri" charset="0"/>
                        <a:cs typeface="Calibri" charset="0"/>
                      </a:endParaRPr>
                    </a:p>
                  </a:txBody>
                  <a:tcPr marL="45720" marR="4572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B2631"/>
                          </a:solidFill>
                          <a:latin typeface="Calibri" pitchFamily="34" charset="0"/>
                          <a:ea typeface="Calibri" pitchFamily="34" charset="-122"/>
                          <a:cs typeface="Calibri" pitchFamily="34" charset="-120"/>
                        </a:rPr>
                        <a:t>ollama pull qwen3:4b</a:t>
                      </a:r>
                      <a:endParaRPr lang="en-US" sz="950" dirty="0">
                        <a:latin typeface="Calibri" charset="0"/>
                        <a:ea typeface="Calibri" charset="0"/>
                        <a:cs typeface="Calibri" charset="0"/>
                      </a:endParaRPr>
                    </a:p>
                  </a:txBody>
                  <a:tcPr marL="45720" marR="4572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B2631"/>
                          </a:solidFill>
                          <a:latin typeface="Calibri" pitchFamily="34" charset="0"/>
                          <a:ea typeface="Calibri" pitchFamily="34" charset="-122"/>
                          <a:cs typeface="Calibri" pitchFamily="34" charset="-120"/>
                        </a:rPr>
                        <a:t>ANTHROPIC_API_KEY</a:t>
                      </a:r>
                      <a:endParaRPr lang="en-US" sz="950" dirty="0">
                        <a:latin typeface="Calibri" charset="0"/>
                        <a:ea typeface="Calibri" charset="0"/>
                        <a:cs typeface="Calibri" charset="0"/>
                      </a:endParaRPr>
                    </a:p>
                  </a:txBody>
                  <a:tcPr marL="45720" marR="4572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329184">
                <a:tc>
                  <a:txBody>
                    <a:bodyPr/>
                    <a:lstStyle/>
                    <a:p>
                      <a:pPr indent="0" marL="0">
                        <a:buNone/>
                      </a:pPr>
                      <a:r>
                        <a:rPr lang="en-US" sz="950" b="1" dirty="0">
                          <a:solidFill>
                            <a:srgbClr val="34495E"/>
                          </a:solidFill>
                          <a:latin typeface="Calibri" pitchFamily="34" charset="0"/>
                          <a:ea typeface="Calibri" pitchFamily="34" charset="-122"/>
                          <a:cs typeface="Calibri" pitchFamily="34" charset="-120"/>
                        </a:rPr>
                        <a:t>Default mode</a:t>
                      </a:r>
                      <a:endParaRPr lang="en-US" sz="950" dirty="0">
                        <a:latin typeface="Calibri" charset="0"/>
                        <a:ea typeface="Calibri" charset="0"/>
                        <a:cs typeface="Calibri" charset="0"/>
                      </a:endParaRPr>
                    </a:p>
                  </a:txBody>
                  <a:tcPr marL="45720" marR="4572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B2631"/>
                          </a:solidFill>
                          <a:latin typeface="Calibri" pitchFamily="34" charset="0"/>
                          <a:ea typeface="Calibri" pitchFamily="34" charset="-122"/>
                          <a:cs typeface="Calibri" pitchFamily="34" charset="-120"/>
                        </a:rPr>
                        <a:t>narrate</a:t>
                      </a:r>
                      <a:endParaRPr lang="en-US" sz="950" dirty="0">
                        <a:latin typeface="Calibri" charset="0"/>
                        <a:ea typeface="Calibri" charset="0"/>
                        <a:cs typeface="Calibri" charset="0"/>
                      </a:endParaRPr>
                    </a:p>
                  </a:txBody>
                  <a:tcPr marL="45720" marR="4572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B2631"/>
                          </a:solidFill>
                          <a:latin typeface="Calibri" pitchFamily="34" charset="0"/>
                          <a:ea typeface="Calibri" pitchFamily="34" charset="-122"/>
                          <a:cs typeface="Calibri" pitchFamily="34" charset="-120"/>
                        </a:rPr>
                        <a:t>tools (parallel)</a:t>
                      </a:r>
                      <a:endParaRPr lang="en-US" sz="950" dirty="0">
                        <a:latin typeface="Calibri" charset="0"/>
                        <a:ea typeface="Calibri" charset="0"/>
                        <a:cs typeface="Calibri" charset="0"/>
                      </a:endParaRPr>
                    </a:p>
                  </a:txBody>
                  <a:tcPr marL="45720" marR="4572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bl>
          </a:graphicData>
        </a:graphic>
      </p:graphicFrame>
      <p:graphicFrame>
        <p:nvGraphicFramePr>
          <p:cNvPr id="33" name="Table 1"/>
          <p:cNvGraphicFramePr>
            <a:graphicFrameLocks noGrp="1"/>
          </p:cNvGraphicFramePr>
          <p:nvPr>
            <p:extLst>
              <p:ext uri="{D42A27DB-BD31-4B8C-83A1-F6EECF244321}">
                <p14:modId xmlns:p14="http://schemas.microsoft.com/office/powerpoint/2010/main" val="1579011935"/>
              </p:ext>
            </p:extLst>
          </p:nvPr>
        </p:nvGraphicFramePr>
        <p:xfrm>
          <a:off x="4069080" y="1280160"/>
          <a:ext cx="4617720" cy="914400"/>
        </p:xfrm>
        <a:graphic>
          <a:graphicData uri="http://schemas.openxmlformats.org/drawingml/2006/table">
            <a:tbl>
              <a:tblPr/>
              <a:tblGrid>
                <a:gridCol w="777240"/>
                <a:gridCol w="2286000"/>
                <a:gridCol w="548640"/>
                <a:gridCol w="1005840"/>
              </a:tblGrid>
              <a:tr h="329184">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Mode</a:t>
                      </a:r>
                      <a:endParaRPr lang="en-US" sz="950" dirty="0">
                        <a:latin typeface="Calibri" charset="0"/>
                        <a:ea typeface="Calibri" charset="0"/>
                        <a:cs typeface="Calibri" charset="0"/>
                      </a:endParaRPr>
                    </a:p>
                  </a:txBody>
                  <a:tcPr marL="45720" marR="4572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34495E"/>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What the LLM does</a:t>
                      </a:r>
                      <a:endParaRPr lang="en-US" sz="950" dirty="0">
                        <a:latin typeface="Calibri" charset="0"/>
                        <a:ea typeface="Calibri" charset="0"/>
                        <a:cs typeface="Calibri" charset="0"/>
                      </a:endParaRPr>
                    </a:p>
                  </a:txBody>
                  <a:tcPr marL="45720" marR="4572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34495E"/>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Calls</a:t>
                      </a:r>
                      <a:endParaRPr lang="en-US" sz="950" dirty="0">
                        <a:latin typeface="Calibri" charset="0"/>
                        <a:ea typeface="Calibri" charset="0"/>
                        <a:cs typeface="Calibri" charset="0"/>
                      </a:endParaRPr>
                    </a:p>
                  </a:txBody>
                  <a:tcPr marL="45720" marR="4572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34495E"/>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CPU time*</a:t>
                      </a:r>
                      <a:endParaRPr lang="en-US" sz="950" dirty="0">
                        <a:latin typeface="Calibri" charset="0"/>
                        <a:ea typeface="Calibri" charset="0"/>
                        <a:cs typeface="Calibri" charset="0"/>
                      </a:endParaRPr>
                    </a:p>
                  </a:txBody>
                  <a:tcPr marL="45720" marR="4572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34495E"/>
                    </a:solidFill>
                  </a:tcPr>
                </a:tc>
              </a:tr>
              <a:tr h="329184">
                <a:tc>
                  <a:txBody>
                    <a:bodyPr/>
                    <a:lstStyle/>
                    <a:p>
                      <a:pPr indent="0" marL="0">
                        <a:buNone/>
                      </a:pPr>
                      <a:r>
                        <a:rPr lang="en-US" sz="950" b="1" dirty="0">
                          <a:solidFill>
                            <a:srgbClr val="1B2631"/>
                          </a:solidFill>
                          <a:latin typeface="Courier New" pitchFamily="34" charset="0"/>
                          <a:ea typeface="Courier New" pitchFamily="34" charset="-122"/>
                          <a:cs typeface="Courier New" pitchFamily="34" charset="-120"/>
                        </a:rPr>
                        <a:t>tools</a:t>
                      </a:r>
                      <a:endParaRPr lang="en-US" sz="950" dirty="0">
                        <a:latin typeface="Courier New" charset="0"/>
                        <a:ea typeface="Courier New" charset="0"/>
                        <a:cs typeface="Courier New" charset="0"/>
                      </a:endParaRPr>
                    </a:p>
                  </a:txBody>
                  <a:tcPr marL="45720" marR="4572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B2631"/>
                          </a:solidFill>
                          <a:latin typeface="Calibri" pitchFamily="34" charset="0"/>
                          <a:ea typeface="Calibri" pitchFamily="34" charset="-122"/>
                          <a:cs typeface="Calibri" pitchFamily="34" charset="-120"/>
                        </a:rPr>
                        <a:t>Specialists choose &amp; call own tools; coordinator merges</a:t>
                      </a:r>
                      <a:endParaRPr lang="en-US" sz="950" dirty="0">
                        <a:latin typeface="Calibri" charset="0"/>
                        <a:ea typeface="Calibri" charset="0"/>
                        <a:cs typeface="Calibri" charset="0"/>
                      </a:endParaRPr>
                    </a:p>
                  </a:txBody>
                  <a:tcPr marL="45720" marR="4572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B2631"/>
                          </a:solidFill>
                          <a:latin typeface="Calibri" pitchFamily="34" charset="0"/>
                          <a:ea typeface="Calibri" pitchFamily="34" charset="-122"/>
                          <a:cs typeface="Calibri" pitchFamily="34" charset="-120"/>
                        </a:rPr>
                        <a:t>10–30</a:t>
                      </a:r>
                      <a:endParaRPr lang="en-US" sz="950" dirty="0">
                        <a:latin typeface="Calibri" charset="0"/>
                        <a:ea typeface="Calibri" charset="0"/>
                        <a:cs typeface="Calibri" charset="0"/>
                      </a:endParaRPr>
                    </a:p>
                  </a:txBody>
                  <a:tcPr marL="45720" marR="4572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B2631"/>
                          </a:solidFill>
                          <a:latin typeface="Calibri" pitchFamily="34" charset="0"/>
                          <a:ea typeface="Calibri" pitchFamily="34" charset="-122"/>
                          <a:cs typeface="Calibri" pitchFamily="34" charset="-120"/>
                        </a:rPr>
                        <a:t>&gt; 10 min / call</a:t>
                      </a:r>
                      <a:endParaRPr lang="en-US" sz="950" dirty="0">
                        <a:latin typeface="Calibri" charset="0"/>
                        <a:ea typeface="Calibri" charset="0"/>
                        <a:cs typeface="Calibri" charset="0"/>
                      </a:endParaRPr>
                    </a:p>
                  </a:txBody>
                  <a:tcPr marL="45720" marR="4572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329184">
                <a:tc>
                  <a:txBody>
                    <a:bodyPr/>
                    <a:lstStyle/>
                    <a:p>
                      <a:pPr indent="0" marL="0">
                        <a:buNone/>
                      </a:pPr>
                      <a:r>
                        <a:rPr lang="en-US" sz="950" b="1" dirty="0">
                          <a:solidFill>
                            <a:srgbClr val="1B2631"/>
                          </a:solidFill>
                          <a:latin typeface="Courier New" pitchFamily="34" charset="0"/>
                          <a:ea typeface="Courier New" pitchFamily="34" charset="-122"/>
                          <a:cs typeface="Courier New" pitchFamily="34" charset="-120"/>
                        </a:rPr>
                        <a:t>evidence</a:t>
                      </a:r>
                      <a:endParaRPr lang="en-US" sz="950" dirty="0">
                        <a:latin typeface="Courier New" charset="0"/>
                        <a:ea typeface="Courier New" charset="0"/>
                        <a:cs typeface="Courier New" charset="0"/>
                      </a:endParaRPr>
                    </a:p>
                  </a:txBody>
                  <a:tcPr marL="45720" marR="4572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B2631"/>
                          </a:solidFill>
                          <a:latin typeface="Calibri" pitchFamily="34" charset="0"/>
                          <a:ea typeface="Calibri" pitchFamily="34" charset="-122"/>
                          <a:cs typeface="Calibri" pitchFamily="34" charset="-120"/>
                        </a:rPr>
                        <a:t>Code runs tools; LLM writes 4 reports + merged plan</a:t>
                      </a:r>
                      <a:endParaRPr lang="en-US" sz="950" dirty="0">
                        <a:latin typeface="Calibri" charset="0"/>
                        <a:ea typeface="Calibri" charset="0"/>
                        <a:cs typeface="Calibri" charset="0"/>
                      </a:endParaRPr>
                    </a:p>
                  </a:txBody>
                  <a:tcPr marL="45720" marR="4572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B2631"/>
                          </a:solidFill>
                          <a:latin typeface="Calibri" pitchFamily="34" charset="0"/>
                          <a:ea typeface="Calibri" pitchFamily="34" charset="-122"/>
                          <a:cs typeface="Calibri" pitchFamily="34" charset="-120"/>
                        </a:rPr>
                        <a:t>5</a:t>
                      </a:r>
                      <a:endParaRPr lang="en-US" sz="950" dirty="0">
                        <a:latin typeface="Calibri" charset="0"/>
                        <a:ea typeface="Calibri" charset="0"/>
                        <a:cs typeface="Calibri" charset="0"/>
                      </a:endParaRPr>
                    </a:p>
                  </a:txBody>
                  <a:tcPr marL="45720" marR="4572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B2631"/>
                          </a:solidFill>
                          <a:latin typeface="Calibri" pitchFamily="34" charset="0"/>
                          <a:ea typeface="Calibri" pitchFamily="34" charset="-122"/>
                          <a:cs typeface="Calibri" pitchFamily="34" charset="-120"/>
                        </a:rPr>
                        <a:t>~8 min / report</a:t>
                      </a:r>
                      <a:endParaRPr lang="en-US" sz="950" dirty="0">
                        <a:latin typeface="Calibri" charset="0"/>
                        <a:ea typeface="Calibri" charset="0"/>
                        <a:cs typeface="Calibri" charset="0"/>
                      </a:endParaRPr>
                    </a:p>
                  </a:txBody>
                  <a:tcPr marL="45720" marR="4572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329184">
                <a:tc>
                  <a:txBody>
                    <a:bodyPr/>
                    <a:lstStyle/>
                    <a:p>
                      <a:pPr indent="0" marL="0">
                        <a:buNone/>
                      </a:pPr>
                      <a:r>
                        <a:rPr lang="en-US" sz="950" b="1" dirty="0">
                          <a:solidFill>
                            <a:srgbClr val="1B2631"/>
                          </a:solidFill>
                          <a:latin typeface="Courier New" pitchFamily="34" charset="0"/>
                          <a:ea typeface="Courier New" pitchFamily="34" charset="-122"/>
                          <a:cs typeface="Courier New" pitchFamily="34" charset="-120"/>
                        </a:rPr>
                        <a:t>compact</a:t>
                      </a:r>
                      <a:endParaRPr lang="en-US" sz="950" dirty="0">
                        <a:latin typeface="Courier New" charset="0"/>
                        <a:ea typeface="Courier New" charset="0"/>
                        <a:cs typeface="Courier New" charset="0"/>
                      </a:endParaRPr>
                    </a:p>
                  </a:txBody>
                  <a:tcPr marL="45720" marR="4572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B2631"/>
                          </a:solidFill>
                          <a:latin typeface="Calibri" pitchFamily="34" charset="0"/>
                          <a:ea typeface="Calibri" pitchFamily="34" charset="-122"/>
                          <a:cs typeface="Calibri" pitchFamily="34" charset="-120"/>
                        </a:rPr>
                        <a:t>Code runs all tools; LLM writes whole plan</a:t>
                      </a:r>
                      <a:endParaRPr lang="en-US" sz="950" dirty="0">
                        <a:latin typeface="Calibri" charset="0"/>
                        <a:ea typeface="Calibri" charset="0"/>
                        <a:cs typeface="Calibri" charset="0"/>
                      </a:endParaRPr>
                    </a:p>
                  </a:txBody>
                  <a:tcPr marL="45720" marR="4572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B2631"/>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45720" marR="4572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B2631"/>
                          </a:solidFill>
                          <a:latin typeface="Calibri" pitchFamily="34" charset="0"/>
                          <a:ea typeface="Calibri" pitchFamily="34" charset="-122"/>
                          <a:cs typeface="Calibri" pitchFamily="34" charset="-120"/>
                        </a:rPr>
                        <a:t>612 s</a:t>
                      </a:r>
                      <a:endParaRPr lang="en-US" sz="950" dirty="0">
                        <a:latin typeface="Calibri" charset="0"/>
                        <a:ea typeface="Calibri" charset="0"/>
                        <a:cs typeface="Calibri" charset="0"/>
                      </a:endParaRPr>
                    </a:p>
                  </a:txBody>
                  <a:tcPr marL="45720" marR="4572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329184">
                <a:tc>
                  <a:txBody>
                    <a:bodyPr/>
                    <a:lstStyle/>
                    <a:p>
                      <a:pPr indent="0" marL="0">
                        <a:buNone/>
                      </a:pPr>
                      <a:r>
                        <a:rPr lang="en-US" sz="950" b="1" dirty="0">
                          <a:solidFill>
                            <a:srgbClr val="1B2631"/>
                          </a:solidFill>
                          <a:latin typeface="Courier New" pitchFamily="34" charset="0"/>
                          <a:ea typeface="Courier New" pitchFamily="34" charset="-122"/>
                          <a:cs typeface="Courier New" pitchFamily="34" charset="-120"/>
                        </a:rPr>
                        <a:t>narrate</a:t>
                      </a:r>
                      <a:endParaRPr lang="en-US" sz="950" dirty="0">
                        <a:latin typeface="Courier New" charset="0"/>
                        <a:ea typeface="Courier New" charset="0"/>
                        <a:cs typeface="Courier New" charset="0"/>
                      </a:endParaRPr>
                    </a:p>
                  </a:txBody>
                  <a:tcPr marL="45720" marR="4572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3F2EE"/>
                    </a:solidFill>
                  </a:tcPr>
                </a:tc>
                <a:tc>
                  <a:txBody>
                    <a:bodyPr/>
                    <a:lstStyle/>
                    <a:p>
                      <a:pPr indent="0" marL="0">
                        <a:buNone/>
                      </a:pPr>
                      <a:r>
                        <a:rPr lang="en-US" sz="950" dirty="0">
                          <a:solidFill>
                            <a:srgbClr val="1B2631"/>
                          </a:solidFill>
                          <a:latin typeface="Calibri" pitchFamily="34" charset="0"/>
                          <a:ea typeface="Calibri" pitchFamily="34" charset="-122"/>
                          <a:cs typeface="Calibri" pitchFamily="34" charset="-120"/>
                        </a:rPr>
                        <a:t>Models build actions; LLM writes headline, summary, caveats</a:t>
                      </a:r>
                      <a:endParaRPr lang="en-US" sz="950" dirty="0">
                        <a:latin typeface="Calibri" charset="0"/>
                        <a:ea typeface="Calibri" charset="0"/>
                        <a:cs typeface="Calibri" charset="0"/>
                      </a:endParaRPr>
                    </a:p>
                  </a:txBody>
                  <a:tcPr marL="45720" marR="4572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3F2EE"/>
                    </a:solidFill>
                  </a:tcPr>
                </a:tc>
                <a:tc>
                  <a:txBody>
                    <a:bodyPr/>
                    <a:lstStyle/>
                    <a:p>
                      <a:pPr indent="0" marL="0">
                        <a:buNone/>
                      </a:pPr>
                      <a:r>
                        <a:rPr lang="en-US" sz="950" dirty="0">
                          <a:solidFill>
                            <a:srgbClr val="1B2631"/>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45720" marR="4572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3F2EE"/>
                    </a:solidFill>
                  </a:tcPr>
                </a:tc>
                <a:tc>
                  <a:txBody>
                    <a:bodyPr/>
                    <a:lstStyle/>
                    <a:p>
                      <a:pPr indent="0" marL="0">
                        <a:buNone/>
                      </a:pPr>
                      <a:r>
                        <a:rPr lang="en-US" sz="950" dirty="0">
                          <a:solidFill>
                            <a:srgbClr val="1B2631"/>
                          </a:solidFill>
                          <a:latin typeface="Calibri" pitchFamily="34" charset="0"/>
                          <a:ea typeface="Calibri" pitchFamily="34" charset="-122"/>
                          <a:cs typeface="Calibri" pitchFamily="34" charset="-120"/>
                        </a:rPr>
                        <a:t>86 s ✓</a:t>
                      </a:r>
                      <a:endParaRPr lang="en-US" sz="950" dirty="0">
                        <a:latin typeface="Calibri" charset="0"/>
                        <a:ea typeface="Calibri" charset="0"/>
                        <a:cs typeface="Calibri" charset="0"/>
                      </a:endParaRPr>
                    </a:p>
                  </a:txBody>
                  <a:tcPr marL="45720" marR="4572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3F2EE"/>
                    </a:solidFill>
                  </a:tcPr>
                </a:tc>
              </a:tr>
            </a:tbl>
          </a:graphicData>
        </a:graphic>
      </p:graphicFrame>
      <p:sp>
        <p:nvSpPr>
          <p:cNvPr id="7" name="Text 3"/>
          <p:cNvSpPr txBox="1"/>
          <p:nvPr/>
        </p:nvSpPr>
        <p:spPr>
          <a:xfrm>
            <a:off x="4069080" y="3172968"/>
            <a:ext cx="4617720" cy="182880"/>
          </a:xfrm>
          <a:prstGeom prst="rect">
            <a:avLst/>
          </a:prstGeom>
          <a:noFill/>
          <a:ln/>
        </p:spPr>
        <p:txBody>
          <a:bodyPr wrap="square" lIns="0" tIns="0" rIns="0" bIns="0" rtlCol="0" anchor="t"/>
          <a:lstStyle/>
          <a:p>
            <a:pPr indent="0" marL="0">
              <a:buNone/>
            </a:pPr>
            <a:r>
              <a:rPr lang="en-US" sz="850" i="1" dirty="0">
                <a:solidFill>
                  <a:srgbClr val="5F6B78"/>
                </a:solidFill>
                <a:latin typeface="Calibri" pitchFamily="34" charset="0"/>
                <a:ea typeface="Calibri" pitchFamily="34" charset="-122"/>
                <a:cs typeface="Calibri" pitchFamily="34" charset="-120"/>
              </a:rPr>
              <a:t>* qwen3:4b on Intel i5-1135G7, no GPU, 20 GB RAM</a:t>
            </a:r>
            <a:endParaRPr lang="en-US" sz="850" dirty="0"/>
          </a:p>
        </p:txBody>
      </p:sp>
      <p:sp>
        <p:nvSpPr>
          <p:cNvPr id="8" name="Shape 4"/>
          <p:cNvSpPr/>
          <p:nvPr/>
        </p:nvSpPr>
        <p:spPr>
          <a:xfrm>
            <a:off x="457200" y="3474720"/>
            <a:ext cx="8229600" cy="1234440"/>
          </a:xfrm>
          <a:prstGeom prst="roundRect">
            <a:avLst>
              <a:gd name="adj" fmla="val 5926"/>
            </a:avLst>
          </a:prstGeom>
          <a:solidFill>
            <a:srgbClr val="EEF2F5"/>
          </a:solidFill>
          <a:ln w="12700">
            <a:solidFill>
              <a:srgbClr val="EEF2F5"/>
            </a:solidFill>
            <a:prstDash val="solid"/>
          </a:ln>
        </p:spPr>
      </p:sp>
      <p:sp>
        <p:nvSpPr>
          <p:cNvPr id="9" name="Shape 5"/>
          <p:cNvSpPr/>
          <p:nvPr/>
        </p:nvSpPr>
        <p:spPr>
          <a:xfrm>
            <a:off x="640080" y="3639312"/>
            <a:ext cx="502920" cy="502920"/>
          </a:xfrm>
          <a:prstGeom prst="ellipse">
            <a:avLst/>
          </a:prstGeom>
          <a:solidFill>
            <a:srgbClr val="E8910C"/>
          </a:solidFill>
          <a:ln w="12700">
            <a:solidFill>
              <a:srgbClr val="E8910C"/>
            </a:solidFill>
            <a:prstDash val="solid"/>
          </a:ln>
        </p:spPr>
      </p:sp>
      <p:pic>
        <p:nvPicPr>
          <p:cNvPr id="10" name="Image 0" descr="preencoded.png">    </p:cNvPr>
          <p:cNvPicPr>
            <a:picLocks noChangeAspect="1"/>
          </p:cNvPicPr>
          <p:nvPr/>
        </p:nvPicPr>
        <p:blipFill>
          <a:blip r:embed="rId1"/>
          <a:stretch>
            <a:fillRect/>
          </a:stretch>
        </p:blipFill>
        <p:spPr>
          <a:xfrm>
            <a:off x="765810" y="3765042"/>
            <a:ext cx="251460" cy="251460"/>
          </a:xfrm>
          <a:prstGeom prst="rect">
            <a:avLst/>
          </a:prstGeom>
        </p:spPr>
      </p:pic>
      <p:sp>
        <p:nvSpPr>
          <p:cNvPr id="11" name="Text 6"/>
          <p:cNvSpPr txBox="1"/>
          <p:nvPr/>
        </p:nvSpPr>
        <p:spPr>
          <a:xfrm>
            <a:off x="1325880" y="3566160"/>
            <a:ext cx="7132320" cy="274320"/>
          </a:xfrm>
          <a:prstGeom prst="rect">
            <a:avLst/>
          </a:prstGeom>
          <a:noFill/>
          <a:ln/>
        </p:spPr>
        <p:txBody>
          <a:bodyPr wrap="square" lIns="0" tIns="0" rIns="0" bIns="0" rtlCol="0" anchor="t"/>
          <a:lstStyle/>
          <a:p>
            <a:pPr indent="0" marL="0">
              <a:buNone/>
            </a:pPr>
            <a:r>
              <a:rPr lang="en-US" sz="1300" b="1" dirty="0">
                <a:solidFill>
                  <a:srgbClr val="1B2631"/>
                </a:solidFill>
                <a:latin typeface="Calibri" pitchFamily="34" charset="0"/>
                <a:ea typeface="Calibri" pitchFamily="34" charset="-122"/>
                <a:cs typeface="Calibri" pitchFamily="34" charset="-120"/>
              </a:rPr>
              <a:t>Why narrate is the CPU default</a:t>
            </a:r>
            <a:endParaRPr lang="en-US" sz="1300" dirty="0"/>
          </a:p>
        </p:txBody>
      </p:sp>
      <p:sp>
        <p:nvSpPr>
          <p:cNvPr id="12" name="Text 7"/>
          <p:cNvSpPr txBox="1"/>
          <p:nvPr/>
        </p:nvSpPr>
        <p:spPr>
          <a:xfrm>
            <a:off x="1325880" y="3858768"/>
            <a:ext cx="7223760" cy="804672"/>
          </a:xfrm>
          <a:prstGeom prst="rect">
            <a:avLst/>
          </a:prstGeom>
          <a:noFill/>
          <a:ln/>
        </p:spPr>
        <p:txBody>
          <a:bodyPr wrap="square" lIns="0" tIns="0" rIns="0" bIns="0" rtlCol="0" anchor="t"/>
          <a:lstStyle/>
          <a:p>
            <a:pPr indent="0" marL="0">
              <a:buNone/>
            </a:pPr>
            <a:r>
              <a:rPr lang="en-US" sz="1050" dirty="0">
                <a:solidFill>
                  <a:srgbClr val="5F6B78"/>
                </a:solidFill>
                <a:latin typeface="Calibri" pitchFamily="34" charset="0"/>
                <a:ea typeface="Calibri" pitchFamily="34" charset="-122"/>
                <a:cs typeface="Calibri" pitchFamily="34" charset="-120"/>
              </a:rPr>
              <a:t>On CPU the model reads ~30–36 tokens/s and generates ~2–8 tokens/s, slowing as context grows. narrate keeps the prompt near 1k tokens and output near 200. On a GPU or with Claude, use compact or tools. llama3.2 (3B) was rejected: it claimed a what-if simulation it never ran — so lighter modes run tools in code.</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000" b="1" spc="200" kern="0" dirty="0">
                <a:solidFill>
                  <a:srgbClr val="E8910C"/>
                </a:solidFill>
                <a:latin typeface="Calibri" pitchFamily="34" charset="0"/>
                <a:ea typeface="Calibri" pitchFamily="34" charset="-122"/>
                <a:cs typeface="Calibri" pitchFamily="34" charset="-120"/>
              </a:rPr>
              <a:t>08 · DECISION AGENTS</a:t>
            </a:r>
            <a:endParaRPr lang="en-US" sz="10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1B2631"/>
                </a:solidFill>
                <a:latin typeface="Calibri" pitchFamily="34" charset="0"/>
                <a:ea typeface="Calibri" pitchFamily="34" charset="-122"/>
                <a:cs typeface="Calibri" pitchFamily="34" charset="-120"/>
              </a:rPr>
              <a:t>Reliability safeguards</a:t>
            </a:r>
            <a:endParaRPr lang="en-US" sz="2800" dirty="0"/>
          </a:p>
        </p:txBody>
      </p:sp>
      <p:sp>
        <p:nvSpPr>
          <p:cNvPr id="4" name="Text 2"/>
          <p:cNvSpPr txBox="1"/>
          <p:nvPr/>
        </p:nvSpPr>
        <p:spPr>
          <a:xfrm>
            <a:off x="7315200" y="4846320"/>
            <a:ext cx="1371600" cy="182880"/>
          </a:xfrm>
          <a:prstGeom prst="rect">
            <a:avLst/>
          </a:prstGeom>
          <a:noFill/>
          <a:ln/>
        </p:spPr>
        <p:txBody>
          <a:bodyPr wrap="square" lIns="0" tIns="0" rIns="0" bIns="0" rtlCol="0" anchor="t"/>
          <a:lstStyle/>
          <a:p>
            <a:pPr algn="r" indent="0" marL="0">
              <a:buNone/>
            </a:pPr>
            <a:r>
              <a:rPr lang="en-US" sz="900" dirty="0">
                <a:solidFill>
                  <a:srgbClr val="5F6B78"/>
                </a:solidFill>
                <a:latin typeface="Calibri" pitchFamily="34" charset="0"/>
                <a:ea typeface="Calibri" pitchFamily="34" charset="-122"/>
                <a:cs typeface="Calibri" pitchFamily="34" charset="-120"/>
              </a:rPr>
              <a:t>SMPO  ·  17</a:t>
            </a:r>
            <a:endParaRPr lang="en-US" sz="900" dirty="0"/>
          </a:p>
        </p:txBody>
      </p:sp>
      <p:sp>
        <p:nvSpPr>
          <p:cNvPr id="5" name="Shape 3"/>
          <p:cNvSpPr/>
          <p:nvPr/>
        </p:nvSpPr>
        <p:spPr>
          <a:xfrm>
            <a:off x="457200" y="1325880"/>
            <a:ext cx="548640" cy="548640"/>
          </a:xfrm>
          <a:prstGeom prst="ellipse">
            <a:avLst/>
          </a:prstGeom>
          <a:solidFill>
            <a:srgbClr val="34495E"/>
          </a:solidFill>
          <a:ln w="12700">
            <a:solidFill>
              <a:srgbClr val="34495E"/>
            </a:solidFill>
            <a:prstDash val="solid"/>
          </a:ln>
        </p:spPr>
      </p:sp>
      <p:pic>
        <p:nvPicPr>
          <p:cNvPr id="6" name="Image 0" descr="preencoded.png">    </p:cNvPr>
          <p:cNvPicPr>
            <a:picLocks noChangeAspect="1"/>
          </p:cNvPicPr>
          <p:nvPr/>
        </p:nvPicPr>
        <p:blipFill>
          <a:blip r:embed="rId1"/>
          <a:stretch>
            <a:fillRect/>
          </a:stretch>
        </p:blipFill>
        <p:spPr>
          <a:xfrm>
            <a:off x="594360" y="1463040"/>
            <a:ext cx="274320" cy="274320"/>
          </a:xfrm>
          <a:prstGeom prst="rect">
            <a:avLst/>
          </a:prstGeom>
        </p:spPr>
      </p:pic>
      <p:sp>
        <p:nvSpPr>
          <p:cNvPr id="7" name="Text 4"/>
          <p:cNvSpPr txBox="1"/>
          <p:nvPr/>
        </p:nvSpPr>
        <p:spPr>
          <a:xfrm>
            <a:off x="1170432" y="1307592"/>
            <a:ext cx="3291840" cy="274320"/>
          </a:xfrm>
          <a:prstGeom prst="rect">
            <a:avLst/>
          </a:prstGeom>
          <a:noFill/>
          <a:ln/>
        </p:spPr>
        <p:txBody>
          <a:bodyPr wrap="square" lIns="0" tIns="0" rIns="0" bIns="0" rtlCol="0" anchor="t"/>
          <a:lstStyle/>
          <a:p>
            <a:pPr indent="0" marL="0">
              <a:buNone/>
            </a:pPr>
            <a:r>
              <a:rPr lang="en-US" sz="1400" b="1" dirty="0">
                <a:solidFill>
                  <a:srgbClr val="1B2631"/>
                </a:solidFill>
                <a:latin typeface="Calibri" pitchFamily="34" charset="0"/>
                <a:ea typeface="Calibri" pitchFamily="34" charset="-122"/>
                <a:cs typeface="Calibri" pitchFamily="34" charset="-120"/>
              </a:rPr>
              <a:t>Grounding</a:t>
            </a:r>
            <a:endParaRPr lang="en-US" sz="1400" dirty="0"/>
          </a:p>
        </p:txBody>
      </p:sp>
      <p:sp>
        <p:nvSpPr>
          <p:cNvPr id="8" name="Text 5"/>
          <p:cNvSpPr txBox="1"/>
          <p:nvPr/>
        </p:nvSpPr>
        <p:spPr>
          <a:xfrm>
            <a:off x="1170432" y="1600200"/>
            <a:ext cx="3291840" cy="685800"/>
          </a:xfrm>
          <a:prstGeom prst="rect">
            <a:avLst/>
          </a:prstGeom>
          <a:noFill/>
          <a:ln/>
        </p:spPr>
        <p:txBody>
          <a:bodyPr wrap="square" lIns="0" tIns="0" rIns="0" bIns="0" rtlCol="0" anchor="t"/>
          <a:lstStyle/>
          <a:p>
            <a:pPr indent="0" marL="0">
              <a:buNone/>
            </a:pPr>
            <a:r>
              <a:rPr lang="en-US" sz="1050" dirty="0">
                <a:solidFill>
                  <a:srgbClr val="5F6B78"/>
                </a:solidFill>
                <a:latin typeface="Calibri" pitchFamily="34" charset="0"/>
                <a:ea typeface="Calibri" pitchFamily="34" charset="-122"/>
                <a:cs typeface="Calibri" pitchFamily="34" charset="-120"/>
              </a:rPr>
              <a:t>Every prompt requires numbers to come from tool results; lighter modes run the tools (incl. what-if verification) in code.</a:t>
            </a:r>
            <a:endParaRPr lang="en-US" sz="1050" dirty="0"/>
          </a:p>
        </p:txBody>
      </p:sp>
      <p:sp>
        <p:nvSpPr>
          <p:cNvPr id="9" name="Shape 6"/>
          <p:cNvSpPr/>
          <p:nvPr/>
        </p:nvSpPr>
        <p:spPr>
          <a:xfrm>
            <a:off x="4663440" y="1325880"/>
            <a:ext cx="548640" cy="548640"/>
          </a:xfrm>
          <a:prstGeom prst="ellipse">
            <a:avLst/>
          </a:prstGeom>
          <a:solidFill>
            <a:srgbClr val="34495E"/>
          </a:solidFill>
          <a:ln w="12700">
            <a:solidFill>
              <a:srgbClr val="34495E"/>
            </a:solidFill>
            <a:prstDash val="solid"/>
          </a:ln>
        </p:spPr>
      </p:sp>
      <p:pic>
        <p:nvPicPr>
          <p:cNvPr id="10" name="Image 1" descr="preencoded.png">    </p:cNvPr>
          <p:cNvPicPr>
            <a:picLocks noChangeAspect="1"/>
          </p:cNvPicPr>
          <p:nvPr/>
        </p:nvPicPr>
        <p:blipFill>
          <a:blip r:embed="rId2"/>
          <a:stretch>
            <a:fillRect/>
          </a:stretch>
        </p:blipFill>
        <p:spPr>
          <a:xfrm>
            <a:off x="4800600" y="1463040"/>
            <a:ext cx="274320" cy="274320"/>
          </a:xfrm>
          <a:prstGeom prst="rect">
            <a:avLst/>
          </a:prstGeom>
        </p:spPr>
      </p:pic>
      <p:sp>
        <p:nvSpPr>
          <p:cNvPr id="11" name="Text 7"/>
          <p:cNvSpPr txBox="1"/>
          <p:nvPr/>
        </p:nvSpPr>
        <p:spPr>
          <a:xfrm>
            <a:off x="5376672" y="1307592"/>
            <a:ext cx="3291840" cy="274320"/>
          </a:xfrm>
          <a:prstGeom prst="rect">
            <a:avLst/>
          </a:prstGeom>
          <a:noFill/>
          <a:ln/>
        </p:spPr>
        <p:txBody>
          <a:bodyPr wrap="square" lIns="0" tIns="0" rIns="0" bIns="0" rtlCol="0" anchor="t"/>
          <a:lstStyle/>
          <a:p>
            <a:pPr indent="0" marL="0">
              <a:buNone/>
            </a:pPr>
            <a:r>
              <a:rPr lang="en-US" sz="1400" b="1" dirty="0">
                <a:solidFill>
                  <a:srgbClr val="1B2631"/>
                </a:solidFill>
                <a:latin typeface="Calibri" pitchFamily="34" charset="0"/>
                <a:ea typeface="Calibri" pitchFamily="34" charset="-122"/>
                <a:cs typeface="Calibri" pitchFamily="34" charset="-120"/>
              </a:rPr>
              <a:t>Structured output</a:t>
            </a:r>
            <a:endParaRPr lang="en-US" sz="1400" dirty="0"/>
          </a:p>
        </p:txBody>
      </p:sp>
      <p:sp>
        <p:nvSpPr>
          <p:cNvPr id="12" name="Text 8"/>
          <p:cNvSpPr txBox="1"/>
          <p:nvPr/>
        </p:nvSpPr>
        <p:spPr>
          <a:xfrm>
            <a:off x="5376672" y="1600200"/>
            <a:ext cx="3291840" cy="685800"/>
          </a:xfrm>
          <a:prstGeom prst="rect">
            <a:avLst/>
          </a:prstGeom>
          <a:noFill/>
          <a:ln/>
        </p:spPr>
        <p:txBody>
          <a:bodyPr wrap="square" lIns="0" tIns="0" rIns="0" bIns="0" rtlCol="0" anchor="t"/>
          <a:lstStyle/>
          <a:p>
            <a:pPr indent="0" marL="0">
              <a:buNone/>
            </a:pPr>
            <a:r>
              <a:rPr lang="en-US" sz="1050" dirty="0">
                <a:solidFill>
                  <a:srgbClr val="5F6B78"/>
                </a:solidFill>
                <a:latin typeface="Calibri" pitchFamily="34" charset="0"/>
                <a:ea typeface="Calibri" pitchFamily="34" charset="-122"/>
                <a:cs typeface="Calibri" pitchFamily="34" charset="-120"/>
              </a:rPr>
              <a:t>Plans generated against a JSON schema; Ollama output validated with jsonschema and retried once.</a:t>
            </a:r>
            <a:endParaRPr lang="en-US" sz="1050" dirty="0"/>
          </a:p>
        </p:txBody>
      </p:sp>
      <p:sp>
        <p:nvSpPr>
          <p:cNvPr id="13" name="Shape 9"/>
          <p:cNvSpPr/>
          <p:nvPr/>
        </p:nvSpPr>
        <p:spPr>
          <a:xfrm>
            <a:off x="457200" y="2468880"/>
            <a:ext cx="548640" cy="548640"/>
          </a:xfrm>
          <a:prstGeom prst="ellipse">
            <a:avLst/>
          </a:prstGeom>
          <a:solidFill>
            <a:srgbClr val="34495E"/>
          </a:solidFill>
          <a:ln w="12700">
            <a:solidFill>
              <a:srgbClr val="34495E"/>
            </a:solidFill>
            <a:prstDash val="solid"/>
          </a:ln>
        </p:spPr>
      </p:sp>
      <p:pic>
        <p:nvPicPr>
          <p:cNvPr id="14" name="Image 2" descr="preencoded.png">    </p:cNvPr>
          <p:cNvPicPr>
            <a:picLocks noChangeAspect="1"/>
          </p:cNvPicPr>
          <p:nvPr/>
        </p:nvPicPr>
        <p:blipFill>
          <a:blip r:embed="rId3"/>
          <a:stretch>
            <a:fillRect/>
          </a:stretch>
        </p:blipFill>
        <p:spPr>
          <a:xfrm>
            <a:off x="594360" y="2606040"/>
            <a:ext cx="274320" cy="274320"/>
          </a:xfrm>
          <a:prstGeom prst="rect">
            <a:avLst/>
          </a:prstGeom>
        </p:spPr>
      </p:pic>
      <p:sp>
        <p:nvSpPr>
          <p:cNvPr id="15" name="Text 10"/>
          <p:cNvSpPr txBox="1"/>
          <p:nvPr/>
        </p:nvSpPr>
        <p:spPr>
          <a:xfrm>
            <a:off x="1170432" y="2450592"/>
            <a:ext cx="3291840" cy="274320"/>
          </a:xfrm>
          <a:prstGeom prst="rect">
            <a:avLst/>
          </a:prstGeom>
          <a:noFill/>
          <a:ln/>
        </p:spPr>
        <p:txBody>
          <a:bodyPr wrap="square" lIns="0" tIns="0" rIns="0" bIns="0" rtlCol="0" anchor="t"/>
          <a:lstStyle/>
          <a:p>
            <a:pPr indent="0" marL="0">
              <a:buNone/>
            </a:pPr>
            <a:r>
              <a:rPr lang="en-US" sz="1400" b="1" dirty="0">
                <a:solidFill>
                  <a:srgbClr val="1B2631"/>
                </a:solidFill>
                <a:latin typeface="Calibri" pitchFamily="34" charset="0"/>
                <a:ea typeface="Calibri" pitchFamily="34" charset="-122"/>
                <a:cs typeface="Calibri" pitchFamily="34" charset="-120"/>
              </a:rPr>
              <a:t>Graceful fallback</a:t>
            </a:r>
            <a:endParaRPr lang="en-US" sz="1400" dirty="0"/>
          </a:p>
        </p:txBody>
      </p:sp>
      <p:sp>
        <p:nvSpPr>
          <p:cNvPr id="16" name="Text 11"/>
          <p:cNvSpPr txBox="1"/>
          <p:nvPr/>
        </p:nvSpPr>
        <p:spPr>
          <a:xfrm>
            <a:off x="1170432" y="2743200"/>
            <a:ext cx="3291840" cy="685800"/>
          </a:xfrm>
          <a:prstGeom prst="rect">
            <a:avLst/>
          </a:prstGeom>
          <a:noFill/>
          <a:ln/>
        </p:spPr>
        <p:txBody>
          <a:bodyPr wrap="square" lIns="0" tIns="0" rIns="0" bIns="0" rtlCol="0" anchor="t"/>
          <a:lstStyle/>
          <a:p>
            <a:pPr indent="0" marL="0">
              <a:buNone/>
            </a:pPr>
            <a:r>
              <a:rPr lang="en-US" sz="1050" dirty="0">
                <a:solidFill>
                  <a:srgbClr val="5F6B78"/>
                </a:solidFill>
                <a:latin typeface="Calibri" pitchFamily="34" charset="0"/>
                <a:ea typeface="Calibri" pitchFamily="34" charset="-122"/>
                <a:cs typeface="Calibri" pitchFamily="34" charset="-120"/>
              </a:rPr>
              <a:t>No credits, Ollama down, timeout → deterministic rule-based planner; dashboard shows why.</a:t>
            </a:r>
            <a:endParaRPr lang="en-US" sz="1050" dirty="0"/>
          </a:p>
        </p:txBody>
      </p:sp>
      <p:sp>
        <p:nvSpPr>
          <p:cNvPr id="17" name="Shape 12"/>
          <p:cNvSpPr/>
          <p:nvPr/>
        </p:nvSpPr>
        <p:spPr>
          <a:xfrm>
            <a:off x="4663440" y="2468880"/>
            <a:ext cx="548640" cy="548640"/>
          </a:xfrm>
          <a:prstGeom prst="ellipse">
            <a:avLst/>
          </a:prstGeom>
          <a:solidFill>
            <a:srgbClr val="34495E"/>
          </a:solidFill>
          <a:ln w="12700">
            <a:solidFill>
              <a:srgbClr val="34495E"/>
            </a:solidFill>
            <a:prstDash val="solid"/>
          </a:ln>
        </p:spPr>
      </p:sp>
      <p:pic>
        <p:nvPicPr>
          <p:cNvPr id="18" name="Image 3" descr="preencoded.png">    </p:cNvPr>
          <p:cNvPicPr>
            <a:picLocks noChangeAspect="1"/>
          </p:cNvPicPr>
          <p:nvPr/>
        </p:nvPicPr>
        <p:blipFill>
          <a:blip r:embed="rId4"/>
          <a:stretch>
            <a:fillRect/>
          </a:stretch>
        </p:blipFill>
        <p:spPr>
          <a:xfrm>
            <a:off x="4800600" y="2606040"/>
            <a:ext cx="274320" cy="274320"/>
          </a:xfrm>
          <a:prstGeom prst="rect">
            <a:avLst/>
          </a:prstGeom>
        </p:spPr>
      </p:pic>
      <p:sp>
        <p:nvSpPr>
          <p:cNvPr id="19" name="Text 13"/>
          <p:cNvSpPr txBox="1"/>
          <p:nvPr/>
        </p:nvSpPr>
        <p:spPr>
          <a:xfrm>
            <a:off x="5376672" y="2450592"/>
            <a:ext cx="3291840" cy="274320"/>
          </a:xfrm>
          <a:prstGeom prst="rect">
            <a:avLst/>
          </a:prstGeom>
          <a:noFill/>
          <a:ln/>
        </p:spPr>
        <p:txBody>
          <a:bodyPr wrap="square" lIns="0" tIns="0" rIns="0" bIns="0" rtlCol="0" anchor="t"/>
          <a:lstStyle/>
          <a:p>
            <a:pPr indent="0" marL="0">
              <a:buNone/>
            </a:pPr>
            <a:r>
              <a:rPr lang="en-US" sz="1400" b="1" dirty="0">
                <a:solidFill>
                  <a:srgbClr val="1B2631"/>
                </a:solidFill>
                <a:latin typeface="Calibri" pitchFamily="34" charset="0"/>
                <a:ea typeface="Calibri" pitchFamily="34" charset="-122"/>
                <a:cs typeface="Calibri" pitchFamily="34" charset="-120"/>
              </a:rPr>
              <a:t>Append-only history</a:t>
            </a:r>
            <a:endParaRPr lang="en-US" sz="1400" dirty="0"/>
          </a:p>
        </p:txBody>
      </p:sp>
      <p:sp>
        <p:nvSpPr>
          <p:cNvPr id="20" name="Text 14"/>
          <p:cNvSpPr txBox="1"/>
          <p:nvPr/>
        </p:nvSpPr>
        <p:spPr>
          <a:xfrm>
            <a:off x="5376672" y="2743200"/>
            <a:ext cx="3291840" cy="685800"/>
          </a:xfrm>
          <a:prstGeom prst="rect">
            <a:avLst/>
          </a:prstGeom>
          <a:noFill/>
          <a:ln/>
        </p:spPr>
        <p:txBody>
          <a:bodyPr wrap="square" lIns="0" tIns="0" rIns="0" bIns="0" rtlCol="0" anchor="t"/>
          <a:lstStyle/>
          <a:p>
            <a:pPr indent="0" marL="0">
              <a:buNone/>
            </a:pPr>
            <a:r>
              <a:rPr lang="en-US" sz="1050" dirty="0">
                <a:solidFill>
                  <a:srgbClr val="5F6B78"/>
                </a:solidFill>
                <a:latin typeface="Calibri" pitchFamily="34" charset="0"/>
                <a:ea typeface="Calibri" pitchFamily="34" charset="-122"/>
                <a:cs typeface="Calibri" pitchFamily="34" charset="-120"/>
              </a:rPr>
              <a:t>Chat turns appended; a failed turn is rolled back so history stays valid.</a:t>
            </a:r>
            <a:endParaRPr lang="en-US" sz="1050" dirty="0"/>
          </a:p>
        </p:txBody>
      </p:sp>
      <p:sp>
        <p:nvSpPr>
          <p:cNvPr id="21" name="Shape 15"/>
          <p:cNvSpPr/>
          <p:nvPr/>
        </p:nvSpPr>
        <p:spPr>
          <a:xfrm>
            <a:off x="457200" y="3611880"/>
            <a:ext cx="548640" cy="548640"/>
          </a:xfrm>
          <a:prstGeom prst="ellipse">
            <a:avLst/>
          </a:prstGeom>
          <a:solidFill>
            <a:srgbClr val="34495E"/>
          </a:solidFill>
          <a:ln w="12700">
            <a:solidFill>
              <a:srgbClr val="34495E"/>
            </a:solidFill>
            <a:prstDash val="solid"/>
          </a:ln>
        </p:spPr>
      </p:sp>
      <p:pic>
        <p:nvPicPr>
          <p:cNvPr id="22" name="Image 4" descr="preencoded.png">    </p:cNvPr>
          <p:cNvPicPr>
            <a:picLocks noChangeAspect="1"/>
          </p:cNvPicPr>
          <p:nvPr/>
        </p:nvPicPr>
        <p:blipFill>
          <a:blip r:embed="rId5"/>
          <a:stretch>
            <a:fillRect/>
          </a:stretch>
        </p:blipFill>
        <p:spPr>
          <a:xfrm>
            <a:off x="594360" y="3749040"/>
            <a:ext cx="274320" cy="274320"/>
          </a:xfrm>
          <a:prstGeom prst="rect">
            <a:avLst/>
          </a:prstGeom>
        </p:spPr>
      </p:pic>
      <p:sp>
        <p:nvSpPr>
          <p:cNvPr id="23" name="Text 16"/>
          <p:cNvSpPr txBox="1"/>
          <p:nvPr/>
        </p:nvSpPr>
        <p:spPr>
          <a:xfrm>
            <a:off x="1170432" y="3593592"/>
            <a:ext cx="3291840" cy="274320"/>
          </a:xfrm>
          <a:prstGeom prst="rect">
            <a:avLst/>
          </a:prstGeom>
          <a:noFill/>
          <a:ln/>
        </p:spPr>
        <p:txBody>
          <a:bodyPr wrap="square" lIns="0" tIns="0" rIns="0" bIns="0" rtlCol="0" anchor="t"/>
          <a:lstStyle/>
          <a:p>
            <a:pPr indent="0" marL="0">
              <a:buNone/>
            </a:pPr>
            <a:r>
              <a:rPr lang="en-US" sz="1400" b="1" dirty="0">
                <a:solidFill>
                  <a:srgbClr val="1B2631"/>
                </a:solidFill>
                <a:latin typeface="Calibri" pitchFamily="34" charset="0"/>
                <a:ea typeface="Calibri" pitchFamily="34" charset="-122"/>
                <a:cs typeface="Calibri" pitchFamily="34" charset="-120"/>
              </a:rPr>
              <a:t>Claude-specific</a:t>
            </a:r>
            <a:endParaRPr lang="en-US" sz="1400" dirty="0"/>
          </a:p>
        </p:txBody>
      </p:sp>
      <p:sp>
        <p:nvSpPr>
          <p:cNvPr id="24" name="Text 17"/>
          <p:cNvSpPr txBox="1"/>
          <p:nvPr/>
        </p:nvSpPr>
        <p:spPr>
          <a:xfrm>
            <a:off x="1170432" y="3886200"/>
            <a:ext cx="3291840" cy="685800"/>
          </a:xfrm>
          <a:prstGeom prst="rect">
            <a:avLst/>
          </a:prstGeom>
          <a:noFill/>
          <a:ln/>
        </p:spPr>
        <p:txBody>
          <a:bodyPr wrap="square" lIns="0" tIns="0" rIns="0" bIns="0" rtlCol="0" anchor="t"/>
          <a:lstStyle/>
          <a:p>
            <a:pPr indent="0" marL="0">
              <a:buNone/>
            </a:pPr>
            <a:r>
              <a:rPr lang="en-US" sz="1050" dirty="0">
                <a:solidFill>
                  <a:srgbClr val="5F6B78"/>
                </a:solidFill>
                <a:latin typeface="Calibri" pitchFamily="34" charset="0"/>
                <a:ea typeface="Calibri" pitchFamily="34" charset="-122"/>
                <a:cs typeface="Calibri" pitchFamily="34" charset="-120"/>
              </a:rPr>
              <a:t>Server-side refusal fallback; refusal / max_tokens / pause_turn handling; typed error mapping.</a:t>
            </a:r>
            <a:endParaRPr lang="en-US" sz="1050" dirty="0"/>
          </a:p>
        </p:txBody>
      </p:sp>
      <p:sp>
        <p:nvSpPr>
          <p:cNvPr id="25" name="Shape 18"/>
          <p:cNvSpPr/>
          <p:nvPr/>
        </p:nvSpPr>
        <p:spPr>
          <a:xfrm>
            <a:off x="4663440" y="3611880"/>
            <a:ext cx="548640" cy="548640"/>
          </a:xfrm>
          <a:prstGeom prst="ellipse">
            <a:avLst/>
          </a:prstGeom>
          <a:solidFill>
            <a:srgbClr val="138D75"/>
          </a:solidFill>
          <a:ln w="12700">
            <a:solidFill>
              <a:srgbClr val="138D75"/>
            </a:solidFill>
            <a:prstDash val="solid"/>
          </a:ln>
        </p:spPr>
      </p:sp>
      <p:pic>
        <p:nvPicPr>
          <p:cNvPr id="26" name="Image 5" descr="preencoded.png">    </p:cNvPr>
          <p:cNvPicPr>
            <a:picLocks noChangeAspect="1"/>
          </p:cNvPicPr>
          <p:nvPr/>
        </p:nvPicPr>
        <p:blipFill>
          <a:blip r:embed="rId6"/>
          <a:stretch>
            <a:fillRect/>
          </a:stretch>
        </p:blipFill>
        <p:spPr>
          <a:xfrm>
            <a:off x="4800600" y="3749040"/>
            <a:ext cx="274320" cy="274320"/>
          </a:xfrm>
          <a:prstGeom prst="rect">
            <a:avLst/>
          </a:prstGeom>
        </p:spPr>
      </p:pic>
      <p:sp>
        <p:nvSpPr>
          <p:cNvPr id="27" name="Text 19"/>
          <p:cNvSpPr txBox="1"/>
          <p:nvPr/>
        </p:nvSpPr>
        <p:spPr>
          <a:xfrm>
            <a:off x="5376672" y="3593592"/>
            <a:ext cx="3291840" cy="274320"/>
          </a:xfrm>
          <a:prstGeom prst="rect">
            <a:avLst/>
          </a:prstGeom>
          <a:noFill/>
          <a:ln/>
        </p:spPr>
        <p:txBody>
          <a:bodyPr wrap="square" lIns="0" tIns="0" rIns="0" bIns="0" rtlCol="0" anchor="t"/>
          <a:lstStyle/>
          <a:p>
            <a:pPr indent="0" marL="0">
              <a:buNone/>
            </a:pPr>
            <a:r>
              <a:rPr lang="en-US" sz="1400" b="1" dirty="0">
                <a:solidFill>
                  <a:srgbClr val="1B2631"/>
                </a:solidFill>
                <a:latin typeface="Calibri" pitchFamily="34" charset="0"/>
                <a:ea typeface="Calibri" pitchFamily="34" charset="-122"/>
                <a:cs typeface="Calibri" pitchFamily="34" charset="-120"/>
              </a:rPr>
              <a:t>Human in the loop</a:t>
            </a:r>
            <a:endParaRPr lang="en-US" sz="1400" dirty="0"/>
          </a:p>
        </p:txBody>
      </p:sp>
      <p:sp>
        <p:nvSpPr>
          <p:cNvPr id="28" name="Text 20"/>
          <p:cNvSpPr txBox="1"/>
          <p:nvPr/>
        </p:nvSpPr>
        <p:spPr>
          <a:xfrm>
            <a:off x="5376672" y="3886200"/>
            <a:ext cx="3291840" cy="685800"/>
          </a:xfrm>
          <a:prstGeom prst="rect">
            <a:avLst/>
          </a:prstGeom>
          <a:noFill/>
          <a:ln/>
        </p:spPr>
        <p:txBody>
          <a:bodyPr wrap="square" lIns="0" tIns="0" rIns="0" bIns="0" rtlCol="0" anchor="t"/>
          <a:lstStyle/>
          <a:p>
            <a:pPr indent="0" marL="0">
              <a:buNone/>
            </a:pPr>
            <a:r>
              <a:rPr lang="en-US" sz="1050" dirty="0">
                <a:solidFill>
                  <a:srgbClr val="5F6B78"/>
                </a:solidFill>
                <a:latin typeface="Calibri" pitchFamily="34" charset="0"/>
                <a:ea typeface="Calibri" pitchFamily="34" charset="-122"/>
                <a:cs typeface="Calibri" pitchFamily="34" charset="-120"/>
              </a:rPr>
              <a:t>Supervisor accepts or rejects every action; logged to data/decisions.jsonl.</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000" b="1" spc="200" kern="0" dirty="0">
                <a:solidFill>
                  <a:srgbClr val="E8910C"/>
                </a:solidFill>
                <a:latin typeface="Calibri" pitchFamily="34" charset="0"/>
                <a:ea typeface="Calibri" pitchFamily="34" charset="-122"/>
                <a:cs typeface="Calibri" pitchFamily="34" charset="-120"/>
              </a:rPr>
              <a:t>09 · DASHBOARD</a:t>
            </a:r>
            <a:endParaRPr lang="en-US" sz="10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1B2631"/>
                </a:solidFill>
                <a:latin typeface="Calibri" pitchFamily="34" charset="0"/>
                <a:ea typeface="Calibri" pitchFamily="34" charset="-122"/>
                <a:cs typeface="Calibri" pitchFamily="34" charset="-120"/>
              </a:rPr>
              <a:t>Streamlit dashboard — seven pages</a:t>
            </a:r>
            <a:endParaRPr lang="en-US" sz="2800" dirty="0"/>
          </a:p>
        </p:txBody>
      </p:sp>
      <p:sp>
        <p:nvSpPr>
          <p:cNvPr id="4" name="Text 2"/>
          <p:cNvSpPr txBox="1"/>
          <p:nvPr/>
        </p:nvSpPr>
        <p:spPr>
          <a:xfrm>
            <a:off x="7315200" y="4846320"/>
            <a:ext cx="1371600" cy="182880"/>
          </a:xfrm>
          <a:prstGeom prst="rect">
            <a:avLst/>
          </a:prstGeom>
          <a:noFill/>
          <a:ln/>
        </p:spPr>
        <p:txBody>
          <a:bodyPr wrap="square" lIns="0" tIns="0" rIns="0" bIns="0" rtlCol="0" anchor="t"/>
          <a:lstStyle/>
          <a:p>
            <a:pPr algn="r" indent="0" marL="0">
              <a:buNone/>
            </a:pPr>
            <a:r>
              <a:rPr lang="en-US" sz="900" dirty="0">
                <a:solidFill>
                  <a:srgbClr val="5F6B78"/>
                </a:solidFill>
                <a:latin typeface="Calibri" pitchFamily="34" charset="0"/>
                <a:ea typeface="Calibri" pitchFamily="34" charset="-122"/>
                <a:cs typeface="Calibri" pitchFamily="34" charset="-120"/>
              </a:rPr>
              <a:t>SMPO  ·  18</a:t>
            </a:r>
            <a:endParaRPr lang="en-US" sz="900" dirty="0"/>
          </a:p>
        </p:txBody>
      </p:sp>
      <p:sp>
        <p:nvSpPr>
          <p:cNvPr id="5" name="Shape 3"/>
          <p:cNvSpPr/>
          <p:nvPr/>
        </p:nvSpPr>
        <p:spPr>
          <a:xfrm>
            <a:off x="457200" y="1280160"/>
            <a:ext cx="1920240" cy="1600200"/>
          </a:xfrm>
          <a:prstGeom prst="roundRect">
            <a:avLst>
              <a:gd name="adj" fmla="val 4571"/>
            </a:avLst>
          </a:prstGeom>
          <a:solidFill>
            <a:srgbClr val="EEF2F5"/>
          </a:solidFill>
          <a:ln w="12700">
            <a:solidFill>
              <a:srgbClr val="EEF2F5"/>
            </a:solidFill>
            <a:prstDash val="solid"/>
          </a:ln>
        </p:spPr>
      </p:sp>
      <p:sp>
        <p:nvSpPr>
          <p:cNvPr id="6" name="Shape 4"/>
          <p:cNvSpPr/>
          <p:nvPr/>
        </p:nvSpPr>
        <p:spPr>
          <a:xfrm>
            <a:off x="621792" y="1444752"/>
            <a:ext cx="457200" cy="457200"/>
          </a:xfrm>
          <a:prstGeom prst="ellipse">
            <a:avLst/>
          </a:prstGeom>
          <a:solidFill>
            <a:srgbClr val="34495E"/>
          </a:solidFill>
          <a:ln w="12700">
            <a:solidFill>
              <a:srgbClr val="34495E"/>
            </a:solidFill>
            <a:prstDash val="solid"/>
          </a:ln>
        </p:spPr>
      </p:sp>
      <p:pic>
        <p:nvPicPr>
          <p:cNvPr id="7" name="Image 0" descr="preencoded.png">    </p:cNvPr>
          <p:cNvPicPr>
            <a:picLocks noChangeAspect="1"/>
          </p:cNvPicPr>
          <p:nvPr/>
        </p:nvPicPr>
        <p:blipFill>
          <a:blip r:embed="rId1"/>
          <a:stretch>
            <a:fillRect/>
          </a:stretch>
        </p:blipFill>
        <p:spPr>
          <a:xfrm>
            <a:off x="736092" y="1559052"/>
            <a:ext cx="228600" cy="228600"/>
          </a:xfrm>
          <a:prstGeom prst="rect">
            <a:avLst/>
          </a:prstGeom>
        </p:spPr>
      </p:pic>
      <p:sp>
        <p:nvSpPr>
          <p:cNvPr id="8" name="Text 5"/>
          <p:cNvSpPr txBox="1"/>
          <p:nvPr/>
        </p:nvSpPr>
        <p:spPr>
          <a:xfrm>
            <a:off x="621792" y="1993392"/>
            <a:ext cx="1645920" cy="274320"/>
          </a:xfrm>
          <a:prstGeom prst="rect">
            <a:avLst/>
          </a:prstGeom>
          <a:noFill/>
          <a:ln/>
        </p:spPr>
        <p:txBody>
          <a:bodyPr wrap="square" lIns="0" tIns="0" rIns="0" bIns="0" rtlCol="0" anchor="t"/>
          <a:lstStyle/>
          <a:p>
            <a:pPr indent="0" marL="0">
              <a:buNone/>
            </a:pPr>
            <a:r>
              <a:rPr lang="en-US" sz="1250" b="1" dirty="0">
                <a:solidFill>
                  <a:srgbClr val="1B2631"/>
                </a:solidFill>
                <a:latin typeface="Calibri" pitchFamily="34" charset="0"/>
                <a:ea typeface="Calibri" pitchFamily="34" charset="-122"/>
                <a:cs typeface="Calibri" pitchFamily="34" charset="-120"/>
              </a:rPr>
              <a:t>Fleet overview</a:t>
            </a:r>
            <a:endParaRPr lang="en-US" sz="1250" dirty="0"/>
          </a:p>
        </p:txBody>
      </p:sp>
      <p:sp>
        <p:nvSpPr>
          <p:cNvPr id="9" name="Text 6"/>
          <p:cNvSpPr txBox="1"/>
          <p:nvPr/>
        </p:nvSpPr>
        <p:spPr>
          <a:xfrm>
            <a:off x="621792" y="2267712"/>
            <a:ext cx="1645920" cy="566928"/>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KPI tiles, OEE ± PdM, 7-day risk heatmap, business case, watch-list</a:t>
            </a:r>
            <a:endParaRPr lang="en-US" sz="950" dirty="0"/>
          </a:p>
        </p:txBody>
      </p:sp>
      <p:sp>
        <p:nvSpPr>
          <p:cNvPr id="10" name="Shape 7"/>
          <p:cNvSpPr/>
          <p:nvPr/>
        </p:nvSpPr>
        <p:spPr>
          <a:xfrm>
            <a:off x="2560320" y="1280160"/>
            <a:ext cx="1920240" cy="1600200"/>
          </a:xfrm>
          <a:prstGeom prst="roundRect">
            <a:avLst>
              <a:gd name="adj" fmla="val 4571"/>
            </a:avLst>
          </a:prstGeom>
          <a:solidFill>
            <a:srgbClr val="EEF2F5"/>
          </a:solidFill>
          <a:ln w="12700">
            <a:solidFill>
              <a:srgbClr val="EEF2F5"/>
            </a:solidFill>
            <a:prstDash val="solid"/>
          </a:ln>
        </p:spPr>
      </p:sp>
      <p:sp>
        <p:nvSpPr>
          <p:cNvPr id="11" name="Shape 8"/>
          <p:cNvSpPr/>
          <p:nvPr/>
        </p:nvSpPr>
        <p:spPr>
          <a:xfrm>
            <a:off x="2724912" y="1444752"/>
            <a:ext cx="457200" cy="457200"/>
          </a:xfrm>
          <a:prstGeom prst="ellipse">
            <a:avLst/>
          </a:prstGeom>
          <a:solidFill>
            <a:srgbClr val="34495E"/>
          </a:solidFill>
          <a:ln w="12700">
            <a:solidFill>
              <a:srgbClr val="34495E"/>
            </a:solidFill>
            <a:prstDash val="solid"/>
          </a:ln>
        </p:spPr>
      </p:sp>
      <p:pic>
        <p:nvPicPr>
          <p:cNvPr id="12" name="Image 1" descr="preencoded.png">    </p:cNvPr>
          <p:cNvPicPr>
            <a:picLocks noChangeAspect="1"/>
          </p:cNvPicPr>
          <p:nvPr/>
        </p:nvPicPr>
        <p:blipFill>
          <a:blip r:embed="rId2"/>
          <a:stretch>
            <a:fillRect/>
          </a:stretch>
        </p:blipFill>
        <p:spPr>
          <a:xfrm>
            <a:off x="2839212" y="1559052"/>
            <a:ext cx="228600" cy="228600"/>
          </a:xfrm>
          <a:prstGeom prst="rect">
            <a:avLst/>
          </a:prstGeom>
        </p:spPr>
      </p:pic>
      <p:sp>
        <p:nvSpPr>
          <p:cNvPr id="13" name="Text 9"/>
          <p:cNvSpPr txBox="1"/>
          <p:nvPr/>
        </p:nvSpPr>
        <p:spPr>
          <a:xfrm>
            <a:off x="2724912" y="1993392"/>
            <a:ext cx="1645920" cy="274320"/>
          </a:xfrm>
          <a:prstGeom prst="rect">
            <a:avLst/>
          </a:prstGeom>
          <a:noFill/>
          <a:ln/>
        </p:spPr>
        <p:txBody>
          <a:bodyPr wrap="square" lIns="0" tIns="0" rIns="0" bIns="0" rtlCol="0" anchor="t"/>
          <a:lstStyle/>
          <a:p>
            <a:pPr indent="0" marL="0">
              <a:buNone/>
            </a:pPr>
            <a:r>
              <a:rPr lang="en-US" sz="1250" b="1" dirty="0">
                <a:solidFill>
                  <a:srgbClr val="1B2631"/>
                </a:solidFill>
                <a:latin typeface="Calibri" pitchFamily="34" charset="0"/>
                <a:ea typeface="Calibri" pitchFamily="34" charset="-122"/>
                <a:cs typeface="Calibri" pitchFamily="34" charset="-120"/>
              </a:rPr>
              <a:t>Machine health</a:t>
            </a:r>
            <a:endParaRPr lang="en-US" sz="1250" dirty="0"/>
          </a:p>
        </p:txBody>
      </p:sp>
      <p:sp>
        <p:nvSpPr>
          <p:cNvPr id="14" name="Text 10"/>
          <p:cNvSpPr txBox="1"/>
          <p:nvPr/>
        </p:nvSpPr>
        <p:spPr>
          <a:xfrm>
            <a:off x="2724912" y="2267712"/>
            <a:ext cx="1645920" cy="566928"/>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Component risk, SHAP drivers, 14-day telemetry, errors, replacements</a:t>
            </a:r>
            <a:endParaRPr lang="en-US" sz="950" dirty="0"/>
          </a:p>
        </p:txBody>
      </p:sp>
      <p:sp>
        <p:nvSpPr>
          <p:cNvPr id="15" name="Shape 11"/>
          <p:cNvSpPr/>
          <p:nvPr/>
        </p:nvSpPr>
        <p:spPr>
          <a:xfrm>
            <a:off x="4663440" y="1280160"/>
            <a:ext cx="1920240" cy="1600200"/>
          </a:xfrm>
          <a:prstGeom prst="roundRect">
            <a:avLst>
              <a:gd name="adj" fmla="val 4571"/>
            </a:avLst>
          </a:prstGeom>
          <a:solidFill>
            <a:srgbClr val="EEF2F5"/>
          </a:solidFill>
          <a:ln w="12700">
            <a:solidFill>
              <a:srgbClr val="EEF2F5"/>
            </a:solidFill>
            <a:prstDash val="solid"/>
          </a:ln>
        </p:spPr>
      </p:sp>
      <p:sp>
        <p:nvSpPr>
          <p:cNvPr id="16" name="Shape 12"/>
          <p:cNvSpPr/>
          <p:nvPr/>
        </p:nvSpPr>
        <p:spPr>
          <a:xfrm>
            <a:off x="4828032" y="1444752"/>
            <a:ext cx="457200" cy="457200"/>
          </a:xfrm>
          <a:prstGeom prst="ellipse">
            <a:avLst/>
          </a:prstGeom>
          <a:solidFill>
            <a:srgbClr val="34495E"/>
          </a:solidFill>
          <a:ln w="12700">
            <a:solidFill>
              <a:srgbClr val="34495E"/>
            </a:solidFill>
            <a:prstDash val="solid"/>
          </a:ln>
        </p:spPr>
      </p:sp>
      <p:pic>
        <p:nvPicPr>
          <p:cNvPr id="17" name="Image 2" descr="preencoded.png">    </p:cNvPr>
          <p:cNvPicPr>
            <a:picLocks noChangeAspect="1"/>
          </p:cNvPicPr>
          <p:nvPr/>
        </p:nvPicPr>
        <p:blipFill>
          <a:blip r:embed="rId3"/>
          <a:stretch>
            <a:fillRect/>
          </a:stretch>
        </p:blipFill>
        <p:spPr>
          <a:xfrm>
            <a:off x="4942332" y="1559052"/>
            <a:ext cx="228600" cy="228600"/>
          </a:xfrm>
          <a:prstGeom prst="rect">
            <a:avLst/>
          </a:prstGeom>
        </p:spPr>
      </p:pic>
      <p:sp>
        <p:nvSpPr>
          <p:cNvPr id="18" name="Text 13"/>
          <p:cNvSpPr txBox="1"/>
          <p:nvPr/>
        </p:nvSpPr>
        <p:spPr>
          <a:xfrm>
            <a:off x="4828032" y="1993392"/>
            <a:ext cx="1645920" cy="274320"/>
          </a:xfrm>
          <a:prstGeom prst="rect">
            <a:avLst/>
          </a:prstGeom>
          <a:noFill/>
          <a:ln/>
        </p:spPr>
        <p:txBody>
          <a:bodyPr wrap="square" lIns="0" tIns="0" rIns="0" bIns="0" rtlCol="0" anchor="t"/>
          <a:lstStyle/>
          <a:p>
            <a:pPr indent="0" marL="0">
              <a:buNone/>
            </a:pPr>
            <a:r>
              <a:rPr lang="en-US" sz="1250" b="1" dirty="0">
                <a:solidFill>
                  <a:srgbClr val="1B2631"/>
                </a:solidFill>
                <a:latin typeface="Calibri" pitchFamily="34" charset="0"/>
                <a:ea typeface="Calibri" pitchFamily="34" charset="-122"/>
                <a:cs typeface="Calibri" pitchFamily="34" charset="-120"/>
              </a:rPr>
              <a:t>Process optimizer</a:t>
            </a:r>
            <a:endParaRPr lang="en-US" sz="1250" dirty="0"/>
          </a:p>
        </p:txBody>
      </p:sp>
      <p:sp>
        <p:nvSpPr>
          <p:cNvPr id="19" name="Text 14"/>
          <p:cNvSpPr txBox="1"/>
          <p:nvPr/>
        </p:nvSpPr>
        <p:spPr>
          <a:xfrm>
            <a:off x="4828032" y="2267712"/>
            <a:ext cx="1645920" cy="566928"/>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Diagnosis, mode probabilities, physics flags, candidates, what-if</a:t>
            </a:r>
            <a:endParaRPr lang="en-US" sz="950" dirty="0"/>
          </a:p>
        </p:txBody>
      </p:sp>
      <p:sp>
        <p:nvSpPr>
          <p:cNvPr id="20" name="Shape 15"/>
          <p:cNvSpPr/>
          <p:nvPr/>
        </p:nvSpPr>
        <p:spPr>
          <a:xfrm>
            <a:off x="6766560" y="1280160"/>
            <a:ext cx="1920240" cy="1600200"/>
          </a:xfrm>
          <a:prstGeom prst="roundRect">
            <a:avLst>
              <a:gd name="adj" fmla="val 4571"/>
            </a:avLst>
          </a:prstGeom>
          <a:solidFill>
            <a:srgbClr val="EEF2F5"/>
          </a:solidFill>
          <a:ln w="12700">
            <a:solidFill>
              <a:srgbClr val="EEF2F5"/>
            </a:solidFill>
            <a:prstDash val="solid"/>
          </a:ln>
        </p:spPr>
      </p:sp>
      <p:sp>
        <p:nvSpPr>
          <p:cNvPr id="21" name="Shape 16"/>
          <p:cNvSpPr/>
          <p:nvPr/>
        </p:nvSpPr>
        <p:spPr>
          <a:xfrm>
            <a:off x="6931152" y="1444752"/>
            <a:ext cx="457200" cy="457200"/>
          </a:xfrm>
          <a:prstGeom prst="ellipse">
            <a:avLst/>
          </a:prstGeom>
          <a:solidFill>
            <a:srgbClr val="34495E"/>
          </a:solidFill>
          <a:ln w="12700">
            <a:solidFill>
              <a:srgbClr val="34495E"/>
            </a:solidFill>
            <a:prstDash val="solid"/>
          </a:ln>
        </p:spPr>
      </p:sp>
      <p:pic>
        <p:nvPicPr>
          <p:cNvPr id="22" name="Image 3" descr="preencoded.png">    </p:cNvPr>
          <p:cNvPicPr>
            <a:picLocks noChangeAspect="1"/>
          </p:cNvPicPr>
          <p:nvPr/>
        </p:nvPicPr>
        <p:blipFill>
          <a:blip r:embed="rId4"/>
          <a:stretch>
            <a:fillRect/>
          </a:stretch>
        </p:blipFill>
        <p:spPr>
          <a:xfrm>
            <a:off x="7045452" y="1559052"/>
            <a:ext cx="228600" cy="228600"/>
          </a:xfrm>
          <a:prstGeom prst="rect">
            <a:avLst/>
          </a:prstGeom>
        </p:spPr>
      </p:pic>
      <p:sp>
        <p:nvSpPr>
          <p:cNvPr id="23" name="Text 17"/>
          <p:cNvSpPr txBox="1"/>
          <p:nvPr/>
        </p:nvSpPr>
        <p:spPr>
          <a:xfrm>
            <a:off x="6931152" y="1993392"/>
            <a:ext cx="1645920" cy="274320"/>
          </a:xfrm>
          <a:prstGeom prst="rect">
            <a:avLst/>
          </a:prstGeom>
          <a:noFill/>
          <a:ln/>
        </p:spPr>
        <p:txBody>
          <a:bodyPr wrap="square" lIns="0" tIns="0" rIns="0" bIns="0" rtlCol="0" anchor="t"/>
          <a:lstStyle/>
          <a:p>
            <a:pPr indent="0" marL="0">
              <a:buNone/>
            </a:pPr>
            <a:r>
              <a:rPr lang="en-US" sz="1250" b="1" dirty="0">
                <a:solidFill>
                  <a:srgbClr val="1B2631"/>
                </a:solidFill>
                <a:latin typeface="Calibri" pitchFamily="34" charset="0"/>
                <a:ea typeface="Calibri" pitchFamily="34" charset="-122"/>
                <a:cs typeface="Calibri" pitchFamily="34" charset="-120"/>
              </a:rPr>
              <a:t>Maintenance plan</a:t>
            </a:r>
            <a:endParaRPr lang="en-US" sz="1250" dirty="0"/>
          </a:p>
        </p:txBody>
      </p:sp>
      <p:sp>
        <p:nvSpPr>
          <p:cNvPr id="24" name="Text 18"/>
          <p:cNvSpPr txBox="1"/>
          <p:nvPr/>
        </p:nvSpPr>
        <p:spPr>
          <a:xfrm>
            <a:off x="6931152" y="2267712"/>
            <a:ext cx="1645920" cy="566928"/>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Horizon &amp; crew sliders, crew load vs capacity, cost vs run-to-failure</a:t>
            </a:r>
            <a:endParaRPr lang="en-US" sz="950" dirty="0"/>
          </a:p>
        </p:txBody>
      </p:sp>
      <p:sp>
        <p:nvSpPr>
          <p:cNvPr id="25" name="Shape 19"/>
          <p:cNvSpPr/>
          <p:nvPr/>
        </p:nvSpPr>
        <p:spPr>
          <a:xfrm>
            <a:off x="457200" y="3017520"/>
            <a:ext cx="1920240" cy="1600200"/>
          </a:xfrm>
          <a:prstGeom prst="roundRect">
            <a:avLst>
              <a:gd name="adj" fmla="val 4571"/>
            </a:avLst>
          </a:prstGeom>
          <a:solidFill>
            <a:srgbClr val="EEF2F5"/>
          </a:solidFill>
          <a:ln w="12700">
            <a:solidFill>
              <a:srgbClr val="EEF2F5"/>
            </a:solidFill>
            <a:prstDash val="solid"/>
          </a:ln>
        </p:spPr>
      </p:sp>
      <p:sp>
        <p:nvSpPr>
          <p:cNvPr id="26" name="Shape 20"/>
          <p:cNvSpPr/>
          <p:nvPr/>
        </p:nvSpPr>
        <p:spPr>
          <a:xfrm>
            <a:off x="621792" y="3182112"/>
            <a:ext cx="457200" cy="457200"/>
          </a:xfrm>
          <a:prstGeom prst="ellipse">
            <a:avLst/>
          </a:prstGeom>
          <a:solidFill>
            <a:srgbClr val="E8910C"/>
          </a:solidFill>
          <a:ln w="12700">
            <a:solidFill>
              <a:srgbClr val="E8910C"/>
            </a:solidFill>
            <a:prstDash val="solid"/>
          </a:ln>
        </p:spPr>
      </p:sp>
      <p:pic>
        <p:nvPicPr>
          <p:cNvPr id="27" name="Image 4" descr="preencoded.png">    </p:cNvPr>
          <p:cNvPicPr>
            <a:picLocks noChangeAspect="1"/>
          </p:cNvPicPr>
          <p:nvPr/>
        </p:nvPicPr>
        <p:blipFill>
          <a:blip r:embed="rId5"/>
          <a:stretch>
            <a:fillRect/>
          </a:stretch>
        </p:blipFill>
        <p:spPr>
          <a:xfrm>
            <a:off x="736092" y="3296412"/>
            <a:ext cx="228600" cy="228600"/>
          </a:xfrm>
          <a:prstGeom prst="rect">
            <a:avLst/>
          </a:prstGeom>
        </p:spPr>
      </p:pic>
      <p:sp>
        <p:nvSpPr>
          <p:cNvPr id="28" name="Text 21"/>
          <p:cNvSpPr txBox="1"/>
          <p:nvPr/>
        </p:nvSpPr>
        <p:spPr>
          <a:xfrm>
            <a:off x="621792" y="3730752"/>
            <a:ext cx="1645920" cy="274320"/>
          </a:xfrm>
          <a:prstGeom prst="rect">
            <a:avLst/>
          </a:prstGeom>
          <a:noFill/>
          <a:ln/>
        </p:spPr>
        <p:txBody>
          <a:bodyPr wrap="square" lIns="0" tIns="0" rIns="0" bIns="0" rtlCol="0" anchor="t"/>
          <a:lstStyle/>
          <a:p>
            <a:pPr indent="0" marL="0">
              <a:buNone/>
            </a:pPr>
            <a:r>
              <a:rPr lang="en-US" sz="1250" b="1" dirty="0">
                <a:solidFill>
                  <a:srgbClr val="1B2631"/>
                </a:solidFill>
                <a:latin typeface="Calibri" pitchFamily="34" charset="0"/>
                <a:ea typeface="Calibri" pitchFamily="34" charset="-122"/>
                <a:cs typeface="Calibri" pitchFamily="34" charset="-120"/>
              </a:rPr>
              <a:t>Agent action plan</a:t>
            </a:r>
            <a:endParaRPr lang="en-US" sz="1250" dirty="0"/>
          </a:p>
        </p:txBody>
      </p:sp>
      <p:sp>
        <p:nvSpPr>
          <p:cNvPr id="29" name="Text 22"/>
          <p:cNvSpPr txBox="1"/>
          <p:nvPr/>
        </p:nvSpPr>
        <p:spPr>
          <a:xfrm>
            <a:off x="621792" y="4005072"/>
            <a:ext cx="1645920" cy="566928"/>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Run agents; prioritised actions with accept/reject; reasoning trace</a:t>
            </a:r>
            <a:endParaRPr lang="en-US" sz="950" dirty="0"/>
          </a:p>
        </p:txBody>
      </p:sp>
      <p:sp>
        <p:nvSpPr>
          <p:cNvPr id="30" name="Shape 23"/>
          <p:cNvSpPr/>
          <p:nvPr/>
        </p:nvSpPr>
        <p:spPr>
          <a:xfrm>
            <a:off x="2560320" y="3017520"/>
            <a:ext cx="1920240" cy="1600200"/>
          </a:xfrm>
          <a:prstGeom prst="roundRect">
            <a:avLst>
              <a:gd name="adj" fmla="val 4571"/>
            </a:avLst>
          </a:prstGeom>
          <a:solidFill>
            <a:srgbClr val="EEF2F5"/>
          </a:solidFill>
          <a:ln w="12700">
            <a:solidFill>
              <a:srgbClr val="EEF2F5"/>
            </a:solidFill>
            <a:prstDash val="solid"/>
          </a:ln>
        </p:spPr>
      </p:sp>
      <p:sp>
        <p:nvSpPr>
          <p:cNvPr id="31" name="Shape 24"/>
          <p:cNvSpPr/>
          <p:nvPr/>
        </p:nvSpPr>
        <p:spPr>
          <a:xfrm>
            <a:off x="2724912" y="3182112"/>
            <a:ext cx="457200" cy="457200"/>
          </a:xfrm>
          <a:prstGeom prst="ellipse">
            <a:avLst/>
          </a:prstGeom>
          <a:solidFill>
            <a:srgbClr val="34495E"/>
          </a:solidFill>
          <a:ln w="12700">
            <a:solidFill>
              <a:srgbClr val="34495E"/>
            </a:solidFill>
            <a:prstDash val="solid"/>
          </a:ln>
        </p:spPr>
      </p:sp>
      <p:pic>
        <p:nvPicPr>
          <p:cNvPr id="32" name="Image 5" descr="preencoded.png">    </p:cNvPr>
          <p:cNvPicPr>
            <a:picLocks noChangeAspect="1"/>
          </p:cNvPicPr>
          <p:nvPr/>
        </p:nvPicPr>
        <p:blipFill>
          <a:blip r:embed="rId6"/>
          <a:stretch>
            <a:fillRect/>
          </a:stretch>
        </p:blipFill>
        <p:spPr>
          <a:xfrm>
            <a:off x="2839212" y="3296412"/>
            <a:ext cx="228600" cy="228600"/>
          </a:xfrm>
          <a:prstGeom prst="rect">
            <a:avLst/>
          </a:prstGeom>
        </p:spPr>
      </p:pic>
      <p:sp>
        <p:nvSpPr>
          <p:cNvPr id="33" name="Text 25"/>
          <p:cNvSpPr txBox="1"/>
          <p:nvPr/>
        </p:nvSpPr>
        <p:spPr>
          <a:xfrm>
            <a:off x="2724912" y="3730752"/>
            <a:ext cx="1645920" cy="274320"/>
          </a:xfrm>
          <a:prstGeom prst="rect">
            <a:avLst/>
          </a:prstGeom>
          <a:noFill/>
          <a:ln/>
        </p:spPr>
        <p:txBody>
          <a:bodyPr wrap="square" lIns="0" tIns="0" rIns="0" bIns="0" rtlCol="0" anchor="t"/>
          <a:lstStyle/>
          <a:p>
            <a:pPr indent="0" marL="0">
              <a:buNone/>
            </a:pPr>
            <a:r>
              <a:rPr lang="en-US" sz="1250" b="1" dirty="0">
                <a:solidFill>
                  <a:srgbClr val="1B2631"/>
                </a:solidFill>
                <a:latin typeface="Calibri" pitchFamily="34" charset="0"/>
                <a:ea typeface="Calibri" pitchFamily="34" charset="-122"/>
                <a:cs typeface="Calibri" pitchFamily="34" charset="-120"/>
              </a:rPr>
              <a:t>Assistant</a:t>
            </a:r>
            <a:endParaRPr lang="en-US" sz="1250" dirty="0"/>
          </a:p>
        </p:txBody>
      </p:sp>
      <p:sp>
        <p:nvSpPr>
          <p:cNvPr id="34" name="Text 26"/>
          <p:cNvSpPr txBox="1"/>
          <p:nvPr/>
        </p:nvSpPr>
        <p:spPr>
          <a:xfrm>
            <a:off x="2724912" y="4005072"/>
            <a:ext cx="1645920" cy="566928"/>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Chat with tool access; suggested questions; tool-call trace</a:t>
            </a:r>
            <a:endParaRPr lang="en-US" sz="950" dirty="0"/>
          </a:p>
        </p:txBody>
      </p:sp>
      <p:sp>
        <p:nvSpPr>
          <p:cNvPr id="35" name="Shape 27"/>
          <p:cNvSpPr/>
          <p:nvPr/>
        </p:nvSpPr>
        <p:spPr>
          <a:xfrm>
            <a:off x="4663440" y="3017520"/>
            <a:ext cx="1920240" cy="1600200"/>
          </a:xfrm>
          <a:prstGeom prst="roundRect">
            <a:avLst>
              <a:gd name="adj" fmla="val 4571"/>
            </a:avLst>
          </a:prstGeom>
          <a:solidFill>
            <a:srgbClr val="EEF2F5"/>
          </a:solidFill>
          <a:ln w="12700">
            <a:solidFill>
              <a:srgbClr val="EEF2F5"/>
            </a:solidFill>
            <a:prstDash val="solid"/>
          </a:ln>
        </p:spPr>
      </p:sp>
      <p:sp>
        <p:nvSpPr>
          <p:cNvPr id="36" name="Shape 28"/>
          <p:cNvSpPr/>
          <p:nvPr/>
        </p:nvSpPr>
        <p:spPr>
          <a:xfrm>
            <a:off x="4828032" y="3182112"/>
            <a:ext cx="457200" cy="457200"/>
          </a:xfrm>
          <a:prstGeom prst="ellipse">
            <a:avLst/>
          </a:prstGeom>
          <a:solidFill>
            <a:srgbClr val="34495E"/>
          </a:solidFill>
          <a:ln w="12700">
            <a:solidFill>
              <a:srgbClr val="34495E"/>
            </a:solidFill>
            <a:prstDash val="solid"/>
          </a:ln>
        </p:spPr>
      </p:sp>
      <p:pic>
        <p:nvPicPr>
          <p:cNvPr id="37" name="Image 6" descr="preencoded.png">    </p:cNvPr>
          <p:cNvPicPr>
            <a:picLocks noChangeAspect="1"/>
          </p:cNvPicPr>
          <p:nvPr/>
        </p:nvPicPr>
        <p:blipFill>
          <a:blip r:embed="rId7"/>
          <a:stretch>
            <a:fillRect/>
          </a:stretch>
        </p:blipFill>
        <p:spPr>
          <a:xfrm>
            <a:off x="4942332" y="3296412"/>
            <a:ext cx="228600" cy="228600"/>
          </a:xfrm>
          <a:prstGeom prst="rect">
            <a:avLst/>
          </a:prstGeom>
        </p:spPr>
      </p:pic>
      <p:sp>
        <p:nvSpPr>
          <p:cNvPr id="38" name="Text 29"/>
          <p:cNvSpPr txBox="1"/>
          <p:nvPr/>
        </p:nvSpPr>
        <p:spPr>
          <a:xfrm>
            <a:off x="4828032" y="3730752"/>
            <a:ext cx="1645920" cy="274320"/>
          </a:xfrm>
          <a:prstGeom prst="rect">
            <a:avLst/>
          </a:prstGeom>
          <a:noFill/>
          <a:ln/>
        </p:spPr>
        <p:txBody>
          <a:bodyPr wrap="square" lIns="0" tIns="0" rIns="0" bIns="0" rtlCol="0" anchor="t"/>
          <a:lstStyle/>
          <a:p>
            <a:pPr indent="0" marL="0">
              <a:buNone/>
            </a:pPr>
            <a:r>
              <a:rPr lang="en-US" sz="1250" b="1" dirty="0">
                <a:solidFill>
                  <a:srgbClr val="1B2631"/>
                </a:solidFill>
                <a:latin typeface="Calibri" pitchFamily="34" charset="0"/>
                <a:ea typeface="Calibri" pitchFamily="34" charset="-122"/>
                <a:cs typeface="Calibri" pitchFamily="34" charset="-120"/>
              </a:rPr>
              <a:t>Model performance</a:t>
            </a:r>
            <a:endParaRPr lang="en-US" sz="1250" dirty="0"/>
          </a:p>
        </p:txBody>
      </p:sp>
      <p:sp>
        <p:nvSpPr>
          <p:cNvPr id="39" name="Text 30"/>
          <p:cNvSpPr txBox="1"/>
          <p:nvPr/>
        </p:nvSpPr>
        <p:spPr>
          <a:xfrm>
            <a:off x="4828032" y="4005072"/>
            <a:ext cx="1645920" cy="566928"/>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All evaluation metrics</a:t>
            </a:r>
            <a:endParaRPr lang="en-US" sz="950" dirty="0"/>
          </a:p>
        </p:txBody>
      </p:sp>
      <p:sp>
        <p:nvSpPr>
          <p:cNvPr id="40" name="Shape 31"/>
          <p:cNvSpPr/>
          <p:nvPr/>
        </p:nvSpPr>
        <p:spPr>
          <a:xfrm>
            <a:off x="6766560" y="3017520"/>
            <a:ext cx="1920240" cy="1600200"/>
          </a:xfrm>
          <a:prstGeom prst="roundRect">
            <a:avLst>
              <a:gd name="adj" fmla="val 4571"/>
            </a:avLst>
          </a:prstGeom>
          <a:solidFill>
            <a:srgbClr val="1B2631"/>
          </a:solidFill>
          <a:ln w="12700">
            <a:solidFill>
              <a:srgbClr val="1B2631"/>
            </a:solidFill>
            <a:prstDash val="solid"/>
          </a:ln>
        </p:spPr>
      </p:sp>
      <p:sp>
        <p:nvSpPr>
          <p:cNvPr id="41" name="Text 32"/>
          <p:cNvSpPr txBox="1"/>
          <p:nvPr/>
        </p:nvSpPr>
        <p:spPr>
          <a:xfrm>
            <a:off x="6931152" y="3154680"/>
            <a:ext cx="1645920" cy="548640"/>
          </a:xfrm>
          <a:prstGeom prst="rect">
            <a:avLst/>
          </a:prstGeom>
          <a:noFill/>
          <a:ln/>
        </p:spPr>
        <p:txBody>
          <a:bodyPr wrap="square" lIns="0" tIns="0" rIns="0" bIns="0" rtlCol="0" anchor="t"/>
          <a:lstStyle/>
          <a:p>
            <a:pPr indent="0" marL="0">
              <a:buNone/>
            </a:pPr>
            <a:r>
              <a:rPr lang="en-US" sz="900" b="1" dirty="0">
                <a:solidFill>
                  <a:srgbClr val="E8910C"/>
                </a:solidFill>
                <a:latin typeface="Courier New" pitchFamily="34" charset="0"/>
                <a:ea typeface="Courier New" pitchFamily="34" charset="-122"/>
                <a:cs typeface="Courier New" pitchFamily="34" charset="-120"/>
              </a:rPr>
              <a:t>streamlit run app/streamlit_app.py</a:t>
            </a:r>
            <a:endParaRPr lang="en-US" sz="900" dirty="0"/>
          </a:p>
        </p:txBody>
      </p:sp>
      <p:sp>
        <p:nvSpPr>
          <p:cNvPr id="42" name="Text 33"/>
          <p:cNvSpPr txBox="1"/>
          <p:nvPr/>
        </p:nvSpPr>
        <p:spPr>
          <a:xfrm>
            <a:off x="6931152" y="3749040"/>
            <a:ext cx="1645920" cy="731520"/>
          </a:xfrm>
          <a:prstGeom prst="rect">
            <a:avLst/>
          </a:prstGeom>
          <a:noFill/>
          <a:ln/>
        </p:spPr>
        <p:txBody>
          <a:bodyPr wrap="square" lIns="0" tIns="0" rIns="0" bIns="0" rtlCol="0" anchor="t"/>
          <a:lstStyle/>
          <a:p>
            <a:pPr indent="0" marL="0">
              <a:buNone/>
            </a:pPr>
            <a:r>
              <a:rPr lang="en-US" sz="900" dirty="0">
                <a:solidFill>
                  <a:srgbClr val="B8C4D0"/>
                </a:solidFill>
                <a:latin typeface="Calibri" pitchFamily="34" charset="0"/>
                <a:ea typeface="Calibri" pitchFamily="34" charset="-122"/>
                <a:cs typeface="Calibri" pitchFamily="34" charset="-120"/>
              </a:rPr>
              <a:t>Opens at http://localhost:8501 (use port 8502 if busy)</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000" b="1" spc="200" kern="0" dirty="0">
                <a:solidFill>
                  <a:srgbClr val="E8910C"/>
                </a:solidFill>
                <a:latin typeface="Calibri" pitchFamily="34" charset="0"/>
                <a:ea typeface="Calibri" pitchFamily="34" charset="-122"/>
                <a:cs typeface="Calibri" pitchFamily="34" charset="-120"/>
              </a:rPr>
              <a:t>10 · SETUP &amp; CONFIGURATION</a:t>
            </a:r>
            <a:endParaRPr lang="en-US" sz="10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1B2631"/>
                </a:solidFill>
                <a:latin typeface="Calibri" pitchFamily="34" charset="0"/>
                <a:ea typeface="Calibri" pitchFamily="34" charset="-122"/>
                <a:cs typeface="Calibri" pitchFamily="34" charset="-120"/>
              </a:rPr>
              <a:t>Running it and tuning it</a:t>
            </a:r>
            <a:endParaRPr lang="en-US" sz="2800" dirty="0"/>
          </a:p>
        </p:txBody>
      </p:sp>
      <p:sp>
        <p:nvSpPr>
          <p:cNvPr id="4" name="Text 2"/>
          <p:cNvSpPr txBox="1"/>
          <p:nvPr/>
        </p:nvSpPr>
        <p:spPr>
          <a:xfrm>
            <a:off x="7315200" y="4846320"/>
            <a:ext cx="1371600" cy="182880"/>
          </a:xfrm>
          <a:prstGeom prst="rect">
            <a:avLst/>
          </a:prstGeom>
          <a:noFill/>
          <a:ln/>
        </p:spPr>
        <p:txBody>
          <a:bodyPr wrap="square" lIns="0" tIns="0" rIns="0" bIns="0" rtlCol="0" anchor="t"/>
          <a:lstStyle/>
          <a:p>
            <a:pPr algn="r" indent="0" marL="0">
              <a:buNone/>
            </a:pPr>
            <a:r>
              <a:rPr lang="en-US" sz="900" dirty="0">
                <a:solidFill>
                  <a:srgbClr val="5F6B78"/>
                </a:solidFill>
                <a:latin typeface="Calibri" pitchFamily="34" charset="0"/>
                <a:ea typeface="Calibri" pitchFamily="34" charset="-122"/>
                <a:cs typeface="Calibri" pitchFamily="34" charset="-120"/>
              </a:rPr>
              <a:t>SMPO  ·  19</a:t>
            </a:r>
            <a:endParaRPr lang="en-US" sz="900" dirty="0"/>
          </a:p>
        </p:txBody>
      </p:sp>
      <p:sp>
        <p:nvSpPr>
          <p:cNvPr id="5" name="Shape 3"/>
          <p:cNvSpPr/>
          <p:nvPr/>
        </p:nvSpPr>
        <p:spPr>
          <a:xfrm>
            <a:off x="457200" y="1280160"/>
            <a:ext cx="4023360" cy="3429000"/>
          </a:xfrm>
          <a:prstGeom prst="roundRect">
            <a:avLst>
              <a:gd name="adj" fmla="val 2133"/>
            </a:avLst>
          </a:prstGeom>
          <a:solidFill>
            <a:srgbClr val="1B2631"/>
          </a:solidFill>
          <a:ln w="12700">
            <a:solidFill>
              <a:srgbClr val="1B2631"/>
            </a:solidFill>
            <a:prstDash val="solid"/>
          </a:ln>
        </p:spPr>
      </p:sp>
      <p:sp>
        <p:nvSpPr>
          <p:cNvPr id="6" name="Text 4"/>
          <p:cNvSpPr txBox="1"/>
          <p:nvPr/>
        </p:nvSpPr>
        <p:spPr>
          <a:xfrm>
            <a:off x="640080" y="1463040"/>
            <a:ext cx="3657600" cy="2377440"/>
          </a:xfrm>
          <a:prstGeom prst="rect">
            <a:avLst/>
          </a:prstGeom>
          <a:noFill/>
          <a:ln/>
        </p:spPr>
        <p:txBody>
          <a:bodyPr wrap="square" lIns="0" tIns="0" rIns="0" bIns="0" rtlCol="0" anchor="t"/>
          <a:lstStyle/>
          <a:p>
            <a:pPr indent="0" marL="0">
              <a:buNone/>
            </a:pPr>
            <a:r>
              <a:rPr lang="en-US" sz="1050" dirty="0">
                <a:solidFill>
                  <a:srgbClr val="FFFFFF"/>
                </a:solidFill>
                <a:latin typeface="Courier New" pitchFamily="34" charset="0"/>
                <a:ea typeface="Courier New" pitchFamily="34" charset="-122"/>
                <a:cs typeface="Courier New" pitchFamily="34" charset="-120"/>
              </a:rPr>
              <a:t>pip install -r requirements.txt</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cp .env.example .env</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ollama pull qwen3:4b</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python -m src.data.download</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python -m src.data.features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python -m src.models.train</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streamlit run app/streamlit_app.py</a:t>
            </a:r>
            <a:endParaRPr lang="en-US" sz="1050" dirty="0"/>
          </a:p>
        </p:txBody>
      </p:sp>
      <p:sp>
        <p:nvSpPr>
          <p:cNvPr id="7" name="Text 5"/>
          <p:cNvSpPr txBox="1"/>
          <p:nvPr/>
        </p:nvSpPr>
        <p:spPr>
          <a:xfrm>
            <a:off x="640080" y="3977640"/>
            <a:ext cx="3657600" cy="640080"/>
          </a:xfrm>
          <a:prstGeom prst="rect">
            <a:avLst/>
          </a:prstGeom>
          <a:noFill/>
          <a:ln/>
        </p:spPr>
        <p:txBody>
          <a:bodyPr wrap="square" lIns="0" tIns="0" rIns="0" bIns="0" rtlCol="0" anchor="t"/>
          <a:lstStyle/>
          <a:p>
            <a:pPr indent="0" marL="0">
              <a:buNone/>
            </a:pPr>
            <a:r>
              <a:rPr lang="en-US" sz="950" dirty="0">
                <a:solidFill>
                  <a:srgbClr val="B8C4D0"/>
                </a:solidFill>
                <a:latin typeface="Calibri" pitchFamily="34" charset="0"/>
                <a:ea typeface="Calibri" pitchFamily="34" charset="-122"/>
                <a:cs typeface="Calibri" pitchFamily="34" charset="-120"/>
              </a:rPr>
              <a:t>Python 3.11+ · ~1 GB disk · Ollama with ~4 GB free RAM. For Claude: LLM_PROVIDER=claude + ANTHROPIC_API_KEY.</a:t>
            </a:r>
            <a:endParaRPr lang="en-US" sz="9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663440" y="1280160"/>
          <a:ext cx="4023360" cy="914400"/>
        </p:xfrm>
        <a:graphic>
          <a:graphicData uri="http://schemas.openxmlformats.org/drawingml/2006/table">
            <a:tbl>
              <a:tblPr/>
              <a:tblGrid>
                <a:gridCol w="2011680"/>
                <a:gridCol w="2011680"/>
              </a:tblGrid>
              <a:tr h="256032">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.env</a:t>
                      </a:r>
                      <a:endParaRPr lang="en-US" sz="950" dirty="0">
                        <a:latin typeface="Calibri" charset="0"/>
                        <a:ea typeface="Calibri" charset="0"/>
                        <a:cs typeface="Calibri" charset="0"/>
                      </a:endParaRPr>
                    </a:p>
                  </a:txBody>
                  <a:tcPr marL="45720" marR="4572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34495E"/>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Default</a:t>
                      </a:r>
                      <a:endParaRPr lang="en-US" sz="950" dirty="0">
                        <a:latin typeface="Calibri" charset="0"/>
                        <a:ea typeface="Calibri" charset="0"/>
                        <a:cs typeface="Calibri" charset="0"/>
                      </a:endParaRPr>
                    </a:p>
                  </a:txBody>
                  <a:tcPr marL="45720" marR="4572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34495E"/>
                    </a:solidFill>
                  </a:tcPr>
                </a:tc>
              </a:tr>
              <a:tr h="256032">
                <a:tc>
                  <a:txBody>
                    <a:bodyPr/>
                    <a:lstStyle/>
                    <a:p>
                      <a:pPr indent="0" marL="0">
                        <a:buNone/>
                      </a:pPr>
                      <a:r>
                        <a:rPr lang="en-US" sz="950" dirty="0">
                          <a:solidFill>
                            <a:srgbClr val="1B2631"/>
                          </a:solidFill>
                          <a:latin typeface="Courier New" pitchFamily="34" charset="0"/>
                          <a:ea typeface="Courier New" pitchFamily="34" charset="-122"/>
                          <a:cs typeface="Courier New" pitchFamily="34" charset="-120"/>
                        </a:rPr>
                        <a:t>LLM_PROVIDER</a:t>
                      </a:r>
                      <a:endParaRPr lang="en-US" sz="950" dirty="0">
                        <a:latin typeface="Courier New" charset="0"/>
                        <a:ea typeface="Courier New" charset="0"/>
                        <a:cs typeface="Courier New" charset="0"/>
                      </a:endParaRPr>
                    </a:p>
                  </a:txBody>
                  <a:tcPr marL="45720" marR="4572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B2631"/>
                          </a:solidFill>
                          <a:latin typeface="Calibri" pitchFamily="34" charset="0"/>
                          <a:ea typeface="Calibri" pitchFamily="34" charset="-122"/>
                          <a:cs typeface="Calibri" pitchFamily="34" charset="-120"/>
                        </a:rPr>
                        <a:t>ollama</a:t>
                      </a:r>
                      <a:endParaRPr lang="en-US" sz="950" dirty="0">
                        <a:latin typeface="Calibri" charset="0"/>
                        <a:ea typeface="Calibri" charset="0"/>
                        <a:cs typeface="Calibri" charset="0"/>
                      </a:endParaRPr>
                    </a:p>
                  </a:txBody>
                  <a:tcPr marL="45720" marR="4572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256032">
                <a:tc>
                  <a:txBody>
                    <a:bodyPr/>
                    <a:lstStyle/>
                    <a:p>
                      <a:pPr indent="0" marL="0">
                        <a:buNone/>
                      </a:pPr>
                      <a:r>
                        <a:rPr lang="en-US" sz="950" dirty="0">
                          <a:solidFill>
                            <a:srgbClr val="1B2631"/>
                          </a:solidFill>
                          <a:latin typeface="Courier New" pitchFamily="34" charset="0"/>
                          <a:ea typeface="Courier New" pitchFamily="34" charset="-122"/>
                          <a:cs typeface="Courier New" pitchFamily="34" charset="-120"/>
                        </a:rPr>
                        <a:t>AGENT_MODE</a:t>
                      </a:r>
                      <a:endParaRPr lang="en-US" sz="950" dirty="0">
                        <a:latin typeface="Courier New" charset="0"/>
                        <a:ea typeface="Courier New" charset="0"/>
                        <a:cs typeface="Courier New" charset="0"/>
                      </a:endParaRPr>
                    </a:p>
                  </a:txBody>
                  <a:tcPr marL="45720" marR="4572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B2631"/>
                          </a:solidFill>
                          <a:latin typeface="Calibri" pitchFamily="34" charset="0"/>
                          <a:ea typeface="Calibri" pitchFamily="34" charset="-122"/>
                          <a:cs typeface="Calibri" pitchFamily="34" charset="-120"/>
                        </a:rPr>
                        <a:t>narrate / tools</a:t>
                      </a:r>
                      <a:endParaRPr lang="en-US" sz="950" dirty="0">
                        <a:latin typeface="Calibri" charset="0"/>
                        <a:ea typeface="Calibri" charset="0"/>
                        <a:cs typeface="Calibri" charset="0"/>
                      </a:endParaRPr>
                    </a:p>
                  </a:txBody>
                  <a:tcPr marL="45720" marR="4572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256032">
                <a:tc>
                  <a:txBody>
                    <a:bodyPr/>
                    <a:lstStyle/>
                    <a:p>
                      <a:pPr indent="0" marL="0">
                        <a:buNone/>
                      </a:pPr>
                      <a:r>
                        <a:rPr lang="en-US" sz="950" dirty="0">
                          <a:solidFill>
                            <a:srgbClr val="1B2631"/>
                          </a:solidFill>
                          <a:latin typeface="Courier New" pitchFamily="34" charset="0"/>
                          <a:ea typeface="Courier New" pitchFamily="34" charset="-122"/>
                          <a:cs typeface="Courier New" pitchFamily="34" charset="-120"/>
                        </a:rPr>
                        <a:t>OLLAMA_MODEL</a:t>
                      </a:r>
                      <a:endParaRPr lang="en-US" sz="950" dirty="0">
                        <a:latin typeface="Courier New" charset="0"/>
                        <a:ea typeface="Courier New" charset="0"/>
                        <a:cs typeface="Courier New" charset="0"/>
                      </a:endParaRPr>
                    </a:p>
                  </a:txBody>
                  <a:tcPr marL="45720" marR="4572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B2631"/>
                          </a:solidFill>
                          <a:latin typeface="Calibri" pitchFamily="34" charset="0"/>
                          <a:ea typeface="Calibri" pitchFamily="34" charset="-122"/>
                          <a:cs typeface="Calibri" pitchFamily="34" charset="-120"/>
                        </a:rPr>
                        <a:t>qwen3:4b</a:t>
                      </a:r>
                      <a:endParaRPr lang="en-US" sz="950" dirty="0">
                        <a:latin typeface="Calibri" charset="0"/>
                        <a:ea typeface="Calibri" charset="0"/>
                        <a:cs typeface="Calibri" charset="0"/>
                      </a:endParaRPr>
                    </a:p>
                  </a:txBody>
                  <a:tcPr marL="45720" marR="4572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256032">
                <a:tc>
                  <a:txBody>
                    <a:bodyPr/>
                    <a:lstStyle/>
                    <a:p>
                      <a:pPr indent="0" marL="0">
                        <a:buNone/>
                      </a:pPr>
                      <a:r>
                        <a:rPr lang="en-US" sz="950" dirty="0">
                          <a:solidFill>
                            <a:srgbClr val="1B2631"/>
                          </a:solidFill>
                          <a:latin typeface="Courier New" pitchFamily="34" charset="0"/>
                          <a:ea typeface="Courier New" pitchFamily="34" charset="-122"/>
                          <a:cs typeface="Courier New" pitchFamily="34" charset="-120"/>
                        </a:rPr>
                        <a:t>OLLAMA_NUM_CTX</a:t>
                      </a:r>
                      <a:endParaRPr lang="en-US" sz="950" dirty="0">
                        <a:latin typeface="Courier New" charset="0"/>
                        <a:ea typeface="Courier New" charset="0"/>
                        <a:cs typeface="Courier New" charset="0"/>
                      </a:endParaRPr>
                    </a:p>
                  </a:txBody>
                  <a:tcPr marL="45720" marR="4572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B2631"/>
                          </a:solidFill>
                          <a:latin typeface="Calibri" pitchFamily="34" charset="0"/>
                          <a:ea typeface="Calibri" pitchFamily="34" charset="-122"/>
                          <a:cs typeface="Calibri" pitchFamily="34" charset="-120"/>
                        </a:rPr>
                        <a:t>8192</a:t>
                      </a:r>
                      <a:endParaRPr lang="en-US" sz="950" dirty="0">
                        <a:latin typeface="Calibri" charset="0"/>
                        <a:ea typeface="Calibri" charset="0"/>
                        <a:cs typeface="Calibri" charset="0"/>
                      </a:endParaRPr>
                    </a:p>
                  </a:txBody>
                  <a:tcPr marL="45720" marR="4572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256032">
                <a:tc>
                  <a:txBody>
                    <a:bodyPr/>
                    <a:lstStyle/>
                    <a:p>
                      <a:pPr indent="0" marL="0">
                        <a:buNone/>
                      </a:pPr>
                      <a:r>
                        <a:rPr lang="en-US" sz="950" dirty="0">
                          <a:solidFill>
                            <a:srgbClr val="1B2631"/>
                          </a:solidFill>
                          <a:latin typeface="Courier New" pitchFamily="34" charset="0"/>
                          <a:ea typeface="Courier New" pitchFamily="34" charset="-122"/>
                          <a:cs typeface="Courier New" pitchFamily="34" charset="-120"/>
                        </a:rPr>
                        <a:t>CLAUDE_EFFORT</a:t>
                      </a:r>
                      <a:endParaRPr lang="en-US" sz="950" dirty="0">
                        <a:latin typeface="Courier New" charset="0"/>
                        <a:ea typeface="Courier New" charset="0"/>
                        <a:cs typeface="Courier New" charset="0"/>
                      </a:endParaRPr>
                    </a:p>
                  </a:txBody>
                  <a:tcPr marL="45720" marR="4572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B2631"/>
                          </a:solidFill>
                          <a:latin typeface="Calibri" pitchFamily="34" charset="0"/>
                          <a:ea typeface="Calibri" pitchFamily="34" charset="-122"/>
                          <a:cs typeface="Calibri" pitchFamily="34" charset="-120"/>
                        </a:rPr>
                        <a:t>medium</a:t>
                      </a:r>
                      <a:endParaRPr lang="en-US" sz="950" dirty="0">
                        <a:latin typeface="Calibri" charset="0"/>
                        <a:ea typeface="Calibri" charset="0"/>
                        <a:cs typeface="Calibri" charset="0"/>
                      </a:endParaRPr>
                    </a:p>
                  </a:txBody>
                  <a:tcPr marL="45720" marR="4572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bl>
          </a:graphicData>
        </a:graphic>
      </p:graphicFrame>
      <p:sp>
        <p:nvSpPr>
          <p:cNvPr id="9" name="Shape 6"/>
          <p:cNvSpPr/>
          <p:nvPr/>
        </p:nvSpPr>
        <p:spPr>
          <a:xfrm>
            <a:off x="4663440" y="2971800"/>
            <a:ext cx="4023360" cy="1737360"/>
          </a:xfrm>
          <a:prstGeom prst="roundRect">
            <a:avLst>
              <a:gd name="adj" fmla="val 4211"/>
            </a:avLst>
          </a:prstGeom>
          <a:solidFill>
            <a:srgbClr val="EEF2F5"/>
          </a:solidFill>
          <a:ln w="12700">
            <a:solidFill>
              <a:srgbClr val="EEF2F5"/>
            </a:solidFill>
            <a:prstDash val="solid"/>
          </a:ln>
        </p:spPr>
      </p:sp>
      <p:sp>
        <p:nvSpPr>
          <p:cNvPr id="10" name="Text 7"/>
          <p:cNvSpPr txBox="1"/>
          <p:nvPr/>
        </p:nvSpPr>
        <p:spPr>
          <a:xfrm>
            <a:off x="4846320" y="3063240"/>
            <a:ext cx="3657600" cy="274320"/>
          </a:xfrm>
          <a:prstGeom prst="rect">
            <a:avLst/>
          </a:prstGeom>
          <a:noFill/>
          <a:ln/>
        </p:spPr>
        <p:txBody>
          <a:bodyPr wrap="square" lIns="0" tIns="0" rIns="0" bIns="0" rtlCol="0" anchor="t"/>
          <a:lstStyle/>
          <a:p>
            <a:pPr indent="0" marL="0">
              <a:buNone/>
            </a:pPr>
            <a:r>
              <a:rPr lang="en-US" sz="1200" b="1" dirty="0">
                <a:solidFill>
                  <a:srgbClr val="1B2631"/>
                </a:solidFill>
                <a:latin typeface="Calibri" pitchFamily="34" charset="0"/>
                <a:ea typeface="Calibri" pitchFamily="34" charset="-122"/>
                <a:cs typeface="Calibri" pitchFamily="34" charset="-120"/>
              </a:rPr>
              <a:t>Business assumptions (src/config.py)</a:t>
            </a:r>
            <a:endParaRPr lang="en-US" sz="1200" dirty="0"/>
          </a:p>
        </p:txBody>
      </p:sp>
      <p:sp>
        <p:nvSpPr>
          <p:cNvPr id="11" name="Text 8"/>
          <p:cNvSpPr txBox="1"/>
          <p:nvPr/>
        </p:nvSpPr>
        <p:spPr>
          <a:xfrm>
            <a:off x="4846320" y="3364992"/>
            <a:ext cx="3703320" cy="1280160"/>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1B2631"/>
                </a:solidFill>
                <a:latin typeface="Calibri" pitchFamily="34" charset="0"/>
                <a:ea typeface="Calibri" pitchFamily="34" charset="-122"/>
                <a:cs typeface="Calibri" pitchFamily="34" charset="-120"/>
              </a:rPr>
              <a:t>Unplanned failure $12,000 · planned $1,500 · downtime $800/h</a:t>
            </a:r>
            <a:endParaRPr lang="en-US" sz="950" dirty="0"/>
          </a:p>
          <a:p>
            <a:pPr marL="342900" indent="-342900">
              <a:spcAft>
                <a:spcPts val="300"/>
              </a:spcAft>
              <a:buSzPct val="100000"/>
              <a:buChar char="•"/>
            </a:pPr>
            <a:r>
              <a:rPr lang="en-US" sz="950" dirty="0">
                <a:solidFill>
                  <a:srgbClr val="1B2631"/>
                </a:solidFill>
                <a:latin typeface="Calibri" pitchFamily="34" charset="0"/>
                <a:ea typeface="Calibri" pitchFamily="34" charset="-122"/>
                <a:cs typeface="Calibri" pitchFamily="34" charset="-120"/>
              </a:rPr>
              <a:t>Downtime: unplanned 24 h · planned 4 h</a:t>
            </a:r>
            <a:endParaRPr lang="en-US" sz="950" dirty="0"/>
          </a:p>
          <a:p>
            <a:pPr marL="342900" indent="-342900">
              <a:spcAft>
                <a:spcPts val="300"/>
              </a:spcAft>
              <a:buSzPct val="100000"/>
              <a:buChar char="•"/>
            </a:pPr>
            <a:r>
              <a:rPr lang="en-US" sz="950" dirty="0">
                <a:solidFill>
                  <a:srgbClr val="1B2631"/>
                </a:solidFill>
                <a:latin typeface="Calibri" pitchFamily="34" charset="0"/>
                <a:ea typeface="Calibri" pitchFamily="34" charset="-122"/>
                <a:cs typeface="Calibri" pitchFamily="34" charset="-120"/>
              </a:rPr>
              <a:t>Crew 4 jobs/day · horizon 7 days · nominal 450 rpm</a:t>
            </a:r>
            <a:endParaRPr lang="en-US" sz="950" dirty="0"/>
          </a:p>
          <a:p>
            <a:pPr marL="342900" indent="-342900">
              <a:spcAft>
                <a:spcPts val="300"/>
              </a:spcAft>
              <a:buSzPct val="100000"/>
              <a:buChar char="•"/>
            </a:pPr>
            <a:r>
              <a:rPr lang="en-US" sz="950" dirty="0">
                <a:solidFill>
                  <a:srgbClr val="1B2631"/>
                </a:solidFill>
                <a:latin typeface="Calibri" pitchFamily="34" charset="0"/>
                <a:ea typeface="Calibri" pitchFamily="34" charset="-122"/>
                <a:cs typeface="Calibri" pitchFamily="34" charset="-120"/>
              </a:rPr>
              <a:t>Daily load 1.0, 1.2, 1.2, 1.0, 0.8, 0.5, 0.4 · PdM realisation 0.7</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000" b="1" spc="200" kern="0" dirty="0">
                <a:solidFill>
                  <a:srgbClr val="E8910C"/>
                </a:solidFill>
                <a:latin typeface="Calibri" pitchFamily="34" charset="0"/>
                <a:ea typeface="Calibri" pitchFamily="34" charset="-122"/>
                <a:cs typeface="Calibri" pitchFamily="34" charset="-120"/>
              </a:rPr>
              <a:t>11 · QUALITY &amp; CODE</a:t>
            </a:r>
            <a:endParaRPr lang="en-US" sz="10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1B2631"/>
                </a:solidFill>
                <a:latin typeface="Calibri" pitchFamily="34" charset="0"/>
                <a:ea typeface="Calibri" pitchFamily="34" charset="-122"/>
                <a:cs typeface="Calibri" pitchFamily="34" charset="-120"/>
              </a:rPr>
              <a:t>Testing and project layout</a:t>
            </a:r>
            <a:endParaRPr lang="en-US" sz="2800" dirty="0"/>
          </a:p>
        </p:txBody>
      </p:sp>
      <p:sp>
        <p:nvSpPr>
          <p:cNvPr id="4" name="Text 2"/>
          <p:cNvSpPr txBox="1"/>
          <p:nvPr/>
        </p:nvSpPr>
        <p:spPr>
          <a:xfrm>
            <a:off x="7315200" y="4846320"/>
            <a:ext cx="1371600" cy="182880"/>
          </a:xfrm>
          <a:prstGeom prst="rect">
            <a:avLst/>
          </a:prstGeom>
          <a:noFill/>
          <a:ln/>
        </p:spPr>
        <p:txBody>
          <a:bodyPr wrap="square" lIns="0" tIns="0" rIns="0" bIns="0" rtlCol="0" anchor="t"/>
          <a:lstStyle/>
          <a:p>
            <a:pPr algn="r" indent="0" marL="0">
              <a:buNone/>
            </a:pPr>
            <a:r>
              <a:rPr lang="en-US" sz="900" dirty="0">
                <a:solidFill>
                  <a:srgbClr val="5F6B78"/>
                </a:solidFill>
                <a:latin typeface="Calibri" pitchFamily="34" charset="0"/>
                <a:ea typeface="Calibri" pitchFamily="34" charset="-122"/>
                <a:cs typeface="Calibri" pitchFamily="34" charset="-120"/>
              </a:rPr>
              <a:t>SMPO  ·  20</a:t>
            </a:r>
            <a:endParaRPr lang="en-US" sz="900" dirty="0"/>
          </a:p>
        </p:txBody>
      </p:sp>
      <p:sp>
        <p:nvSpPr>
          <p:cNvPr id="5" name="Text 3"/>
          <p:cNvSpPr txBox="1"/>
          <p:nvPr/>
        </p:nvSpPr>
        <p:spPr>
          <a:xfrm>
            <a:off x="457200" y="1234440"/>
            <a:ext cx="3931920" cy="1097280"/>
          </a:xfrm>
          <a:prstGeom prst="rect">
            <a:avLst/>
          </a:prstGeom>
          <a:noFill/>
          <a:ln/>
        </p:spPr>
        <p:txBody>
          <a:bodyPr wrap="square" lIns="0" tIns="0" rIns="0" bIns="0" rtlCol="0" anchor="t"/>
          <a:lstStyle/>
          <a:p>
            <a:pPr indent="0" marL="0">
              <a:buNone/>
            </a:pPr>
            <a:r>
              <a:rPr lang="en-US" sz="4400" b="1" dirty="0">
                <a:solidFill>
                  <a:srgbClr val="E8910C"/>
                </a:solidFill>
                <a:latin typeface="Calibri" pitchFamily="34" charset="0"/>
                <a:ea typeface="Calibri" pitchFamily="34" charset="-122"/>
                <a:cs typeface="Calibri" pitchFamily="34" charset="-120"/>
              </a:rPr>
              <a:t>32</a:t>
            </a:r>
            <a:endParaRPr lang="en-US" sz="4400" dirty="0"/>
          </a:p>
          <a:p>
            <a:pPr indent="0" marL="0">
              <a:buNone/>
            </a:pPr>
            <a:r>
              <a:rPr lang="en-US" sz="1100" dirty="0">
                <a:solidFill>
                  <a:srgbClr val="5F6B78"/>
                </a:solidFill>
                <a:latin typeface="Calibri" pitchFamily="34" charset="0"/>
                <a:ea typeface="Calibri" pitchFamily="34" charset="-122"/>
                <a:cs typeface="Calibri" pitchFamily="34" charset="-120"/>
              </a:rPr>
              <a:t>pytest tests — no network, API or LLM calls (clients mocked)</a:t>
            </a:r>
            <a:endParaRPr lang="en-US" sz="4400" dirty="0"/>
          </a:p>
        </p:txBody>
      </p:sp>
      <p:sp>
        <p:nvSpPr>
          <p:cNvPr id="6" name="Shape 4"/>
          <p:cNvSpPr/>
          <p:nvPr/>
        </p:nvSpPr>
        <p:spPr>
          <a:xfrm>
            <a:off x="457200" y="2377440"/>
            <a:ext cx="3931920" cy="512064"/>
          </a:xfrm>
          <a:prstGeom prst="roundRect">
            <a:avLst>
              <a:gd name="adj" fmla="val 14286"/>
            </a:avLst>
          </a:prstGeom>
          <a:solidFill>
            <a:srgbClr val="EEF2F5"/>
          </a:solidFill>
          <a:ln w="12700">
            <a:solidFill>
              <a:srgbClr val="EEF2F5"/>
            </a:solidFill>
            <a:prstDash val="solid"/>
          </a:ln>
        </p:spPr>
      </p:sp>
      <p:sp>
        <p:nvSpPr>
          <p:cNvPr id="7" name="Text 5"/>
          <p:cNvSpPr txBox="1"/>
          <p:nvPr/>
        </p:nvSpPr>
        <p:spPr>
          <a:xfrm>
            <a:off x="594360" y="2423160"/>
            <a:ext cx="3657600" cy="182880"/>
          </a:xfrm>
          <a:prstGeom prst="rect">
            <a:avLst/>
          </a:prstGeom>
          <a:noFill/>
          <a:ln/>
        </p:spPr>
        <p:txBody>
          <a:bodyPr wrap="square" lIns="0" tIns="0" rIns="0" bIns="0" rtlCol="0" anchor="t"/>
          <a:lstStyle/>
          <a:p>
            <a:pPr indent="0" marL="0">
              <a:buNone/>
            </a:pPr>
            <a:r>
              <a:rPr lang="en-US" sz="950" b="1" dirty="0">
                <a:solidFill>
                  <a:srgbClr val="34495E"/>
                </a:solidFill>
                <a:latin typeface="Courier New" pitchFamily="34" charset="0"/>
                <a:ea typeface="Courier New" pitchFamily="34" charset="-122"/>
                <a:cs typeface="Courier New" pitchFamily="34" charset="-120"/>
              </a:rPr>
              <a:t>test_features.py</a:t>
            </a:r>
            <a:endParaRPr lang="en-US" sz="950" dirty="0"/>
          </a:p>
        </p:txBody>
      </p:sp>
      <p:sp>
        <p:nvSpPr>
          <p:cNvPr id="8" name="Text 6"/>
          <p:cNvSpPr txBox="1"/>
          <p:nvPr/>
        </p:nvSpPr>
        <p:spPr>
          <a:xfrm>
            <a:off x="594360" y="2624328"/>
            <a:ext cx="3703320" cy="228600"/>
          </a:xfrm>
          <a:prstGeom prst="rect">
            <a:avLst/>
          </a:prstGeom>
          <a:noFill/>
          <a:ln/>
        </p:spPr>
        <p:txBody>
          <a:bodyPr wrap="square" lIns="0" tIns="0" rIns="0" bIns="0" rtlCol="0" anchor="t"/>
          <a:lstStyle/>
          <a:p>
            <a:pPr indent="0" marL="0">
              <a:buNone/>
            </a:pPr>
            <a:r>
              <a:rPr lang="en-US" sz="900" dirty="0">
                <a:solidFill>
                  <a:srgbClr val="5F6B78"/>
                </a:solidFill>
                <a:latin typeface="Calibri" pitchFamily="34" charset="0"/>
                <a:ea typeface="Calibri" pitchFamily="34" charset="-122"/>
                <a:cs typeface="Calibri" pitchFamily="34" charset="-120"/>
              </a:rPr>
              <a:t>Derived features and each physics rule</a:t>
            </a:r>
            <a:endParaRPr lang="en-US" sz="900" dirty="0"/>
          </a:p>
        </p:txBody>
      </p:sp>
      <p:sp>
        <p:nvSpPr>
          <p:cNvPr id="9" name="Shape 7"/>
          <p:cNvSpPr/>
          <p:nvPr/>
        </p:nvSpPr>
        <p:spPr>
          <a:xfrm>
            <a:off x="457200" y="2962656"/>
            <a:ext cx="3931920" cy="512064"/>
          </a:xfrm>
          <a:prstGeom prst="roundRect">
            <a:avLst>
              <a:gd name="adj" fmla="val 14286"/>
            </a:avLst>
          </a:prstGeom>
          <a:solidFill>
            <a:srgbClr val="EEF2F5"/>
          </a:solidFill>
          <a:ln w="12700">
            <a:solidFill>
              <a:srgbClr val="EEF2F5"/>
            </a:solidFill>
            <a:prstDash val="solid"/>
          </a:ln>
        </p:spPr>
      </p:sp>
      <p:sp>
        <p:nvSpPr>
          <p:cNvPr id="10" name="Text 8"/>
          <p:cNvSpPr txBox="1"/>
          <p:nvPr/>
        </p:nvSpPr>
        <p:spPr>
          <a:xfrm>
            <a:off x="594360" y="3008376"/>
            <a:ext cx="3657600" cy="182880"/>
          </a:xfrm>
          <a:prstGeom prst="rect">
            <a:avLst/>
          </a:prstGeom>
          <a:noFill/>
          <a:ln/>
        </p:spPr>
        <p:txBody>
          <a:bodyPr wrap="square" lIns="0" tIns="0" rIns="0" bIns="0" rtlCol="0" anchor="t"/>
          <a:lstStyle/>
          <a:p>
            <a:pPr indent="0" marL="0">
              <a:buNone/>
            </a:pPr>
            <a:r>
              <a:rPr lang="en-US" sz="950" b="1" dirty="0">
                <a:solidFill>
                  <a:srgbClr val="34495E"/>
                </a:solidFill>
                <a:latin typeface="Courier New" pitchFamily="34" charset="0"/>
                <a:ea typeface="Courier New" pitchFamily="34" charset="-122"/>
                <a:cs typeface="Courier New" pitchFamily="34" charset="-120"/>
              </a:rPr>
              <a:t>test_optimization.py</a:t>
            </a:r>
            <a:endParaRPr lang="en-US" sz="950" dirty="0"/>
          </a:p>
        </p:txBody>
      </p:sp>
      <p:sp>
        <p:nvSpPr>
          <p:cNvPr id="11" name="Text 9"/>
          <p:cNvSpPr txBox="1"/>
          <p:nvPr/>
        </p:nvSpPr>
        <p:spPr>
          <a:xfrm>
            <a:off x="594360" y="3209544"/>
            <a:ext cx="3703320" cy="228600"/>
          </a:xfrm>
          <a:prstGeom prst="rect">
            <a:avLst/>
          </a:prstGeom>
          <a:noFill/>
          <a:ln/>
        </p:spPr>
        <p:txBody>
          <a:bodyPr wrap="square" lIns="0" tIns="0" rIns="0" bIns="0" rtlCol="0" anchor="t"/>
          <a:lstStyle/>
          <a:p>
            <a:pPr indent="0" marL="0">
              <a:buNone/>
            </a:pPr>
            <a:r>
              <a:rPr lang="en-US" sz="900" dirty="0">
                <a:solidFill>
                  <a:srgbClr val="5F6B78"/>
                </a:solidFill>
                <a:latin typeface="Calibri" pitchFamily="34" charset="0"/>
                <a:ea typeface="Calibri" pitchFamily="34" charset="-122"/>
                <a:cs typeface="Calibri" pitchFamily="34" charset="-120"/>
              </a:rPr>
              <a:t>Failure timing, scheduler capacity &amp; urgency, optimiser fixes an HDF failure</a:t>
            </a:r>
            <a:endParaRPr lang="en-US" sz="900" dirty="0"/>
          </a:p>
        </p:txBody>
      </p:sp>
      <p:sp>
        <p:nvSpPr>
          <p:cNvPr id="12" name="Shape 10"/>
          <p:cNvSpPr/>
          <p:nvPr/>
        </p:nvSpPr>
        <p:spPr>
          <a:xfrm>
            <a:off x="457200" y="3547872"/>
            <a:ext cx="3931920" cy="512064"/>
          </a:xfrm>
          <a:prstGeom prst="roundRect">
            <a:avLst>
              <a:gd name="adj" fmla="val 14286"/>
            </a:avLst>
          </a:prstGeom>
          <a:solidFill>
            <a:srgbClr val="EEF2F5"/>
          </a:solidFill>
          <a:ln w="12700">
            <a:solidFill>
              <a:srgbClr val="EEF2F5"/>
            </a:solidFill>
            <a:prstDash val="solid"/>
          </a:ln>
        </p:spPr>
      </p:sp>
      <p:sp>
        <p:nvSpPr>
          <p:cNvPr id="13" name="Text 11"/>
          <p:cNvSpPr txBox="1"/>
          <p:nvPr/>
        </p:nvSpPr>
        <p:spPr>
          <a:xfrm>
            <a:off x="594360" y="3593592"/>
            <a:ext cx="3657600" cy="182880"/>
          </a:xfrm>
          <a:prstGeom prst="rect">
            <a:avLst/>
          </a:prstGeom>
          <a:noFill/>
          <a:ln/>
        </p:spPr>
        <p:txBody>
          <a:bodyPr wrap="square" lIns="0" tIns="0" rIns="0" bIns="0" rtlCol="0" anchor="t"/>
          <a:lstStyle/>
          <a:p>
            <a:pPr indent="0" marL="0">
              <a:buNone/>
            </a:pPr>
            <a:r>
              <a:rPr lang="en-US" sz="950" b="1" dirty="0">
                <a:solidFill>
                  <a:srgbClr val="34495E"/>
                </a:solidFill>
                <a:latin typeface="Courier New" pitchFamily="34" charset="0"/>
                <a:ea typeface="Courier New" pitchFamily="34" charset="-122"/>
                <a:cs typeface="Courier New" pitchFamily="34" charset="-120"/>
              </a:rPr>
              <a:t>test_agents.py</a:t>
            </a:r>
            <a:endParaRPr lang="en-US" sz="950" dirty="0"/>
          </a:p>
        </p:txBody>
      </p:sp>
      <p:sp>
        <p:nvSpPr>
          <p:cNvPr id="14" name="Text 12"/>
          <p:cNvSpPr txBox="1"/>
          <p:nvPr/>
        </p:nvSpPr>
        <p:spPr>
          <a:xfrm>
            <a:off x="594360" y="3794760"/>
            <a:ext cx="3703320" cy="228600"/>
          </a:xfrm>
          <a:prstGeom prst="rect">
            <a:avLst/>
          </a:prstGeom>
          <a:noFill/>
          <a:ln/>
        </p:spPr>
        <p:txBody>
          <a:bodyPr wrap="square" lIns="0" tIns="0" rIns="0" bIns="0" rtlCol="0" anchor="t"/>
          <a:lstStyle/>
          <a:p>
            <a:pPr indent="0" marL="0">
              <a:buNone/>
            </a:pPr>
            <a:r>
              <a:rPr lang="en-US" sz="900" dirty="0">
                <a:solidFill>
                  <a:srgbClr val="5F6B78"/>
                </a:solidFill>
                <a:latin typeface="Calibri" pitchFamily="34" charset="0"/>
                <a:ea typeface="Calibri" pitchFamily="34" charset="-122"/>
                <a:cs typeface="Calibri" pitchFamily="34" charset="-120"/>
              </a:rPr>
              <a:t>Tool schemas, Claude/Ollama loops, JSON retry, modes, fallback, chat rollback</a:t>
            </a:r>
            <a:endParaRPr lang="en-US" sz="900" dirty="0"/>
          </a:p>
        </p:txBody>
      </p:sp>
      <p:sp>
        <p:nvSpPr>
          <p:cNvPr id="15" name="Shape 13"/>
          <p:cNvSpPr/>
          <p:nvPr/>
        </p:nvSpPr>
        <p:spPr>
          <a:xfrm>
            <a:off x="457200" y="4133088"/>
            <a:ext cx="3931920" cy="512064"/>
          </a:xfrm>
          <a:prstGeom prst="roundRect">
            <a:avLst>
              <a:gd name="adj" fmla="val 14286"/>
            </a:avLst>
          </a:prstGeom>
          <a:solidFill>
            <a:srgbClr val="EEF2F5"/>
          </a:solidFill>
          <a:ln w="12700">
            <a:solidFill>
              <a:srgbClr val="EEF2F5"/>
            </a:solidFill>
            <a:prstDash val="solid"/>
          </a:ln>
        </p:spPr>
      </p:sp>
      <p:sp>
        <p:nvSpPr>
          <p:cNvPr id="16" name="Text 14"/>
          <p:cNvSpPr txBox="1"/>
          <p:nvPr/>
        </p:nvSpPr>
        <p:spPr>
          <a:xfrm>
            <a:off x="594360" y="4178808"/>
            <a:ext cx="3657600" cy="182880"/>
          </a:xfrm>
          <a:prstGeom prst="rect">
            <a:avLst/>
          </a:prstGeom>
          <a:noFill/>
          <a:ln/>
        </p:spPr>
        <p:txBody>
          <a:bodyPr wrap="square" lIns="0" tIns="0" rIns="0" bIns="0" rtlCol="0" anchor="t"/>
          <a:lstStyle/>
          <a:p>
            <a:pPr indent="0" marL="0">
              <a:buNone/>
            </a:pPr>
            <a:r>
              <a:rPr lang="en-US" sz="950" b="1" dirty="0">
                <a:solidFill>
                  <a:srgbClr val="34495E"/>
                </a:solidFill>
                <a:latin typeface="Courier New" pitchFamily="34" charset="0"/>
                <a:ea typeface="Courier New" pitchFamily="34" charset="-122"/>
                <a:cs typeface="Courier New" pitchFamily="34" charset="-120"/>
              </a:rPr>
              <a:t>test_app.py</a:t>
            </a:r>
            <a:endParaRPr lang="en-US" sz="950" dirty="0"/>
          </a:p>
        </p:txBody>
      </p:sp>
      <p:sp>
        <p:nvSpPr>
          <p:cNvPr id="17" name="Text 15"/>
          <p:cNvSpPr txBox="1"/>
          <p:nvPr/>
        </p:nvSpPr>
        <p:spPr>
          <a:xfrm>
            <a:off x="594360" y="4379976"/>
            <a:ext cx="3703320" cy="228600"/>
          </a:xfrm>
          <a:prstGeom prst="rect">
            <a:avLst/>
          </a:prstGeom>
          <a:noFill/>
          <a:ln/>
        </p:spPr>
        <p:txBody>
          <a:bodyPr wrap="square" lIns="0" tIns="0" rIns="0" bIns="0" rtlCol="0" anchor="t"/>
          <a:lstStyle/>
          <a:p>
            <a:pPr indent="0" marL="0">
              <a:buNone/>
            </a:pPr>
            <a:r>
              <a:rPr lang="en-US" sz="900" dirty="0">
                <a:solidFill>
                  <a:srgbClr val="5F6B78"/>
                </a:solidFill>
                <a:latin typeface="Calibri" pitchFamily="34" charset="0"/>
                <a:ea typeface="Calibri" pitchFamily="34" charset="-122"/>
                <a:cs typeface="Calibri" pitchFamily="34" charset="-120"/>
              </a:rPr>
              <a:t>Every dashboard page renders headlessly (AppTest)</a:t>
            </a:r>
            <a:endParaRPr lang="en-US" sz="900" dirty="0"/>
          </a:p>
        </p:txBody>
      </p:sp>
      <p:sp>
        <p:nvSpPr>
          <p:cNvPr id="18" name="Shape 16"/>
          <p:cNvSpPr/>
          <p:nvPr/>
        </p:nvSpPr>
        <p:spPr>
          <a:xfrm>
            <a:off x="4663440" y="1280160"/>
            <a:ext cx="4023360" cy="3429000"/>
          </a:xfrm>
          <a:prstGeom prst="roundRect">
            <a:avLst>
              <a:gd name="adj" fmla="val 2133"/>
            </a:avLst>
          </a:prstGeom>
          <a:solidFill>
            <a:srgbClr val="1B2631"/>
          </a:solidFill>
          <a:ln w="12700">
            <a:solidFill>
              <a:srgbClr val="1B2631"/>
            </a:solidFill>
            <a:prstDash val="solid"/>
          </a:ln>
        </p:spPr>
      </p:sp>
      <p:sp>
        <p:nvSpPr>
          <p:cNvPr id="19" name="Text 17"/>
          <p:cNvSpPr txBox="1"/>
          <p:nvPr/>
        </p:nvSpPr>
        <p:spPr>
          <a:xfrm>
            <a:off x="4846320" y="1463040"/>
            <a:ext cx="3749040" cy="3154680"/>
          </a:xfrm>
          <a:prstGeom prst="rect">
            <a:avLst/>
          </a:prstGeom>
          <a:noFill/>
          <a:ln/>
        </p:spPr>
        <p:txBody>
          <a:bodyPr wrap="square" lIns="0" tIns="0" rIns="0" bIns="0" rtlCol="0" anchor="t"/>
          <a:lstStyle/>
          <a:p>
            <a:pPr indent="0" marL="0">
              <a:buNone/>
            </a:pPr>
            <a:r>
              <a:rPr lang="en-US" sz="1000" dirty="0">
                <a:solidFill>
                  <a:srgbClr val="FFFFFF"/>
                </a:solidFill>
                <a:latin typeface="Courier New" pitchFamily="34" charset="0"/>
                <a:ea typeface="Courier New" pitchFamily="34" charset="-122"/>
                <a:cs typeface="Courier New" pitchFamily="34" charset="-120"/>
              </a:rPr>
              <a:t>SMPO/</a:t>
            </a:r>
            <a:endParaRPr lang="en-US" sz="1000" dirty="0"/>
          </a:p>
          <a:p>
            <a:pPr indent="0" marL="0">
              <a:buNone/>
            </a:pPr>
            <a:r>
              <a:rPr lang="en-US" sz="1000" dirty="0">
                <a:solidFill>
                  <a:srgbClr val="FFFFFF"/>
                </a:solidFill>
                <a:latin typeface="Courier New" pitchFamily="34" charset="0"/>
                <a:ea typeface="Courier New" pitchFamily="34" charset="-122"/>
                <a:cs typeface="Courier New" pitchFamily="34" charset="-120"/>
              </a:rPr>
              <a:t>+- src/</a:t>
            </a:r>
            <a:endParaRPr lang="en-US" sz="1000" dirty="0"/>
          </a:p>
          <a:p>
            <a:pPr indent="0" marL="0">
              <a:buNone/>
            </a:pPr>
            <a:r>
              <a:rPr lang="en-US" sz="1000" dirty="0">
                <a:solidFill>
                  <a:srgbClr val="FFFFFF"/>
                </a:solidFill>
                <a:latin typeface="Courier New" pitchFamily="34" charset="0"/>
                <a:ea typeface="Courier New" pitchFamily="34" charset="-122"/>
                <a:cs typeface="Courier New" pitchFamily="34" charset="-120"/>
              </a:rPr>
              <a:t>|  +- config.py</a:t>
            </a:r>
            <a:endParaRPr lang="en-US" sz="1000" dirty="0"/>
          </a:p>
          <a:p>
            <a:pPr indent="0" marL="0">
              <a:buNone/>
            </a:pPr>
            <a:r>
              <a:rPr lang="en-US" sz="1000" dirty="0">
                <a:solidFill>
                  <a:srgbClr val="FFFFFF"/>
                </a:solidFill>
                <a:latin typeface="Courier New" pitchFamily="34" charset="0"/>
                <a:ea typeface="Courier New" pitchFamily="34" charset="-122"/>
                <a:cs typeface="Courier New" pitchFamily="34" charset="-120"/>
              </a:rPr>
              <a:t>|  +- data/         download, features</a:t>
            </a:r>
            <a:endParaRPr lang="en-US" sz="1000" dirty="0"/>
          </a:p>
          <a:p>
            <a:pPr indent="0" marL="0">
              <a:buNone/>
            </a:pPr>
            <a:r>
              <a:rPr lang="en-US" sz="1000" dirty="0">
                <a:solidFill>
                  <a:srgbClr val="FFFFFF"/>
                </a:solidFill>
                <a:latin typeface="Courier New" pitchFamily="34" charset="0"/>
                <a:ea typeface="Courier New" pitchFamily="34" charset="-122"/>
                <a:cs typeface="Courier New" pitchFamily="34" charset="-120"/>
              </a:rPr>
              <a:t>|  +- models/       train, predictor</a:t>
            </a:r>
            <a:endParaRPr lang="en-US" sz="1000" dirty="0"/>
          </a:p>
          <a:p>
            <a:pPr indent="0" marL="0">
              <a:buNone/>
            </a:pPr>
            <a:r>
              <a:rPr lang="en-US" sz="1000" dirty="0">
                <a:solidFill>
                  <a:srgbClr val="FFFFFF"/>
                </a:solidFill>
                <a:latin typeface="Courier New" pitchFamily="34" charset="0"/>
                <a:ea typeface="Courier New" pitchFamily="34" charset="-122"/>
                <a:cs typeface="Courier New" pitchFamily="34" charset="-120"/>
              </a:rPr>
              <a:t>|  +- optimization/ optimizer, scheduler,</a:t>
            </a:r>
            <a:endParaRPr lang="en-US" sz="1000" dirty="0"/>
          </a:p>
          <a:p>
            <a:pPr indent="0" marL="0">
              <a:buNone/>
            </a:pPr>
            <a:r>
              <a:rPr lang="en-US" sz="1000" dirty="0">
                <a:solidFill>
                  <a:srgbClr val="FFFFFF"/>
                </a:solidFill>
                <a:latin typeface="Courier New" pitchFamily="34" charset="0"/>
                <a:ea typeface="Courier New" pitchFamily="34" charset="-122"/>
                <a:cs typeface="Courier New" pitchFamily="34" charset="-120"/>
              </a:rPr>
              <a:t>|  |                kpis</a:t>
            </a:r>
            <a:endParaRPr lang="en-US" sz="1000" dirty="0"/>
          </a:p>
          <a:p>
            <a:pPr indent="0" marL="0">
              <a:buNone/>
            </a:pPr>
            <a:r>
              <a:rPr lang="en-US" sz="1000" dirty="0">
                <a:solidFill>
                  <a:srgbClr val="FFFFFF"/>
                </a:solidFill>
                <a:latin typeface="Courier New" pitchFamily="34" charset="0"/>
                <a:ea typeface="Courier New" pitchFamily="34" charset="-122"/>
                <a:cs typeface="Courier New" pitchFamily="34" charset="-120"/>
              </a:rPr>
              <a:t>|  +- simulation/   stream.py</a:t>
            </a:r>
            <a:endParaRPr lang="en-US" sz="1000" dirty="0"/>
          </a:p>
          <a:p>
            <a:pPr indent="0" marL="0">
              <a:buNone/>
            </a:pPr>
            <a:r>
              <a:rPr lang="en-US" sz="1000" dirty="0">
                <a:solidFill>
                  <a:srgbClr val="FFFFFF"/>
                </a:solidFill>
                <a:latin typeface="Courier New" pitchFamily="34" charset="0"/>
                <a:ea typeface="Courier New" pitchFamily="34" charset="-122"/>
                <a:cs typeface="Courier New" pitchFamily="34" charset="-120"/>
              </a:rPr>
              <a:t>|  +- agents/       tools, prompts,</a:t>
            </a:r>
            <a:endParaRPr lang="en-US" sz="1000" dirty="0"/>
          </a:p>
          <a:p>
            <a:pPr indent="0" marL="0">
              <a:buNone/>
            </a:pPr>
            <a:r>
              <a:rPr lang="en-US" sz="1000" dirty="0">
                <a:solidFill>
                  <a:srgbClr val="FFFFFF"/>
                </a:solidFill>
                <a:latin typeface="Courier New" pitchFamily="34" charset="0"/>
                <a:ea typeface="Courier New" pitchFamily="34" charset="-122"/>
                <a:cs typeface="Courier New" pitchFamily="34" charset="-120"/>
              </a:rPr>
              <a:t>|                   orchestrator, ollama_runner</a:t>
            </a:r>
            <a:endParaRPr lang="en-US" sz="1000" dirty="0"/>
          </a:p>
          <a:p>
            <a:pPr indent="0" marL="0">
              <a:buNone/>
            </a:pPr>
            <a:r>
              <a:rPr lang="en-US" sz="1000" dirty="0">
                <a:solidFill>
                  <a:srgbClr val="FFFFFF"/>
                </a:solidFill>
                <a:latin typeface="Courier New" pitchFamily="34" charset="0"/>
                <a:ea typeface="Courier New" pitchFamily="34" charset="-122"/>
                <a:cs typeface="Courier New" pitchFamily="34" charset="-120"/>
              </a:rPr>
              <a:t>+- app/             streamlit_app, pages</a:t>
            </a:r>
            <a:endParaRPr lang="en-US" sz="1000" dirty="0"/>
          </a:p>
          <a:p>
            <a:pPr indent="0" marL="0">
              <a:buNone/>
            </a:pPr>
            <a:r>
              <a:rPr lang="en-US" sz="1000" dirty="0">
                <a:solidFill>
                  <a:srgbClr val="FFFFFF"/>
                </a:solidFill>
                <a:latin typeface="Courier New" pitchFamily="34" charset="0"/>
                <a:ea typeface="Courier New" pitchFamily="34" charset="-122"/>
                <a:cs typeface="Courier New" pitchFamily="34" charset="-120"/>
              </a:rPr>
              <a:t>+- notebooks/       01_eda.ipynb</a:t>
            </a:r>
            <a:endParaRPr lang="en-US" sz="1000" dirty="0"/>
          </a:p>
          <a:p>
            <a:pPr indent="0" marL="0">
              <a:buNone/>
            </a:pPr>
            <a:r>
              <a:rPr lang="en-US" sz="1000" dirty="0">
                <a:solidFill>
                  <a:srgbClr val="FFFFFF"/>
                </a:solidFill>
                <a:latin typeface="Courier New" pitchFamily="34" charset="0"/>
                <a:ea typeface="Courier New" pitchFamily="34" charset="-122"/>
                <a:cs typeface="Courier New" pitchFamily="34" charset="-120"/>
              </a:rPr>
              <a:t>+- tests/</a:t>
            </a:r>
            <a:endParaRPr lang="en-US" sz="1000" dirty="0"/>
          </a:p>
          <a:p>
            <a:pPr indent="0" marL="0">
              <a:buNone/>
            </a:pPr>
            <a:r>
              <a:rPr lang="en-US" sz="1000" dirty="0">
                <a:solidFill>
                  <a:srgbClr val="FFFFFF"/>
                </a:solidFill>
                <a:latin typeface="Courier New" pitchFamily="34" charset="0"/>
                <a:ea typeface="Courier New" pitchFamily="34" charset="-122"/>
                <a:cs typeface="Courier New" pitchFamily="34" charset="-120"/>
              </a:rPr>
              <a:t>+- data/, models/   (generated)</a:t>
            </a:r>
            <a:endParaRPr lang="en-US" sz="1000" dirty="0"/>
          </a:p>
          <a:p>
            <a:pPr indent="0" marL="0">
              <a:buNone/>
            </a:pPr>
            <a:r>
              <a:rPr lang="en-US" sz="1000" dirty="0">
                <a:solidFill>
                  <a:srgbClr val="FFFFFF"/>
                </a:solidFill>
                <a:latin typeface="Courier New" pitchFamily="34" charset="0"/>
                <a:ea typeface="Courier New" pitchFamily="34" charset="-122"/>
                <a:cs typeface="Courier New" pitchFamily="34" charset="-120"/>
              </a:rPr>
              <a:t>+- reports/metrics.json</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000" b="1" spc="200" kern="0" dirty="0">
                <a:solidFill>
                  <a:srgbClr val="E8910C"/>
                </a:solidFill>
                <a:latin typeface="Calibri" pitchFamily="34" charset="0"/>
                <a:ea typeface="Calibri" pitchFamily="34" charset="-122"/>
                <a:cs typeface="Calibri" pitchFamily="34" charset="-120"/>
              </a:rPr>
              <a:t>12 · DESIGN DECISIONS</a:t>
            </a:r>
            <a:endParaRPr lang="en-US" sz="10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1B2631"/>
                </a:solidFill>
                <a:latin typeface="Calibri" pitchFamily="34" charset="0"/>
                <a:ea typeface="Calibri" pitchFamily="34" charset="-122"/>
                <a:cs typeface="Calibri" pitchFamily="34" charset="-120"/>
              </a:rPr>
              <a:t>Key trade-offs we made</a:t>
            </a:r>
            <a:endParaRPr lang="en-US" sz="2800" dirty="0"/>
          </a:p>
        </p:txBody>
      </p:sp>
      <p:sp>
        <p:nvSpPr>
          <p:cNvPr id="4" name="Text 2"/>
          <p:cNvSpPr txBox="1"/>
          <p:nvPr/>
        </p:nvSpPr>
        <p:spPr>
          <a:xfrm>
            <a:off x="7315200" y="4846320"/>
            <a:ext cx="1371600" cy="182880"/>
          </a:xfrm>
          <a:prstGeom prst="rect">
            <a:avLst/>
          </a:prstGeom>
          <a:noFill/>
          <a:ln/>
        </p:spPr>
        <p:txBody>
          <a:bodyPr wrap="square" lIns="0" tIns="0" rIns="0" bIns="0" rtlCol="0" anchor="t"/>
          <a:lstStyle/>
          <a:p>
            <a:pPr algn="r" indent="0" marL="0">
              <a:buNone/>
            </a:pPr>
            <a:r>
              <a:rPr lang="en-US" sz="900" dirty="0">
                <a:solidFill>
                  <a:srgbClr val="5F6B78"/>
                </a:solidFill>
                <a:latin typeface="Calibri" pitchFamily="34" charset="0"/>
                <a:ea typeface="Calibri" pitchFamily="34" charset="-122"/>
                <a:cs typeface="Calibri" pitchFamily="34" charset="-120"/>
              </a:rPr>
              <a:t>SMPO  ·  21</a:t>
            </a:r>
            <a:endParaRPr lang="en-US" sz="900" dirty="0"/>
          </a:p>
        </p:txBody>
      </p:sp>
      <p:sp>
        <p:nvSpPr>
          <p:cNvPr id="5" name="Shape 3"/>
          <p:cNvSpPr/>
          <p:nvPr/>
        </p:nvSpPr>
        <p:spPr>
          <a:xfrm>
            <a:off x="457200" y="1280160"/>
            <a:ext cx="2606040" cy="1024128"/>
          </a:xfrm>
          <a:prstGeom prst="roundRect">
            <a:avLst>
              <a:gd name="adj" fmla="val 7143"/>
            </a:avLst>
          </a:prstGeom>
          <a:solidFill>
            <a:srgbClr val="EEF2F5"/>
          </a:solidFill>
          <a:ln w="12700">
            <a:solidFill>
              <a:srgbClr val="EEF2F5"/>
            </a:solidFill>
            <a:prstDash val="solid"/>
          </a:ln>
        </p:spPr>
      </p:sp>
      <p:sp>
        <p:nvSpPr>
          <p:cNvPr id="6" name="Text 4"/>
          <p:cNvSpPr txBox="1"/>
          <p:nvPr/>
        </p:nvSpPr>
        <p:spPr>
          <a:xfrm>
            <a:off x="621792" y="1389888"/>
            <a:ext cx="2331720" cy="274320"/>
          </a:xfrm>
          <a:prstGeom prst="rect">
            <a:avLst/>
          </a:prstGeom>
          <a:noFill/>
          <a:ln/>
        </p:spPr>
        <p:txBody>
          <a:bodyPr wrap="square" lIns="0" tIns="0" rIns="0" bIns="0" rtlCol="0" anchor="t">
            <a:normAutofit/>
          </a:bodyPr>
          <a:lstStyle/>
          <a:p>
            <a:pPr indent="0" marL="0">
              <a:buNone/>
            </a:pPr>
            <a:r>
              <a:rPr lang="en-US" sz="1150" b="1" dirty="0">
                <a:solidFill>
                  <a:srgbClr val="1B2631"/>
                </a:solidFill>
                <a:latin typeface="Calibri" pitchFamily="34" charset="0"/>
                <a:ea typeface="Calibri" pitchFamily="34" charset="-122"/>
                <a:cs typeface="Calibri" pitchFamily="34" charset="-120"/>
              </a:rPr>
              <a:t>Two datasets</a:t>
            </a:r>
            <a:endParaRPr lang="en-US" sz="1150" dirty="0"/>
          </a:p>
        </p:txBody>
      </p:sp>
      <p:sp>
        <p:nvSpPr>
          <p:cNvPr id="7" name="Text 5"/>
          <p:cNvSpPr txBox="1"/>
          <p:nvPr/>
        </p:nvSpPr>
        <p:spPr>
          <a:xfrm>
            <a:off x="621792" y="1691640"/>
            <a:ext cx="2331720" cy="548640"/>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AI4I explains why a cycle fails; Azure gives fleet time series and maintenance history</a:t>
            </a:r>
            <a:endParaRPr lang="en-US" sz="950" dirty="0"/>
          </a:p>
        </p:txBody>
      </p:sp>
      <p:sp>
        <p:nvSpPr>
          <p:cNvPr id="8" name="Shape 6"/>
          <p:cNvSpPr/>
          <p:nvPr/>
        </p:nvSpPr>
        <p:spPr>
          <a:xfrm>
            <a:off x="3246120" y="1280160"/>
            <a:ext cx="2606040" cy="1024128"/>
          </a:xfrm>
          <a:prstGeom prst="roundRect">
            <a:avLst>
              <a:gd name="adj" fmla="val 7143"/>
            </a:avLst>
          </a:prstGeom>
          <a:solidFill>
            <a:srgbClr val="EEF2F5"/>
          </a:solidFill>
          <a:ln w="12700">
            <a:solidFill>
              <a:srgbClr val="EEF2F5"/>
            </a:solidFill>
            <a:prstDash val="solid"/>
          </a:ln>
        </p:spPr>
      </p:sp>
      <p:sp>
        <p:nvSpPr>
          <p:cNvPr id="9" name="Text 7"/>
          <p:cNvSpPr txBox="1"/>
          <p:nvPr/>
        </p:nvSpPr>
        <p:spPr>
          <a:xfrm>
            <a:off x="3410712" y="1389888"/>
            <a:ext cx="2331720" cy="274320"/>
          </a:xfrm>
          <a:prstGeom prst="rect">
            <a:avLst/>
          </a:prstGeom>
          <a:noFill/>
          <a:ln/>
        </p:spPr>
        <p:txBody>
          <a:bodyPr wrap="square" lIns="0" tIns="0" rIns="0" bIns="0" rtlCol="0" anchor="t">
            <a:normAutofit/>
          </a:bodyPr>
          <a:lstStyle/>
          <a:p>
            <a:pPr indent="0" marL="0">
              <a:buNone/>
            </a:pPr>
            <a:r>
              <a:rPr lang="en-US" sz="1150" b="1" dirty="0">
                <a:solidFill>
                  <a:srgbClr val="1B2631"/>
                </a:solidFill>
                <a:latin typeface="Calibri" pitchFamily="34" charset="0"/>
                <a:ea typeface="Calibri" pitchFamily="34" charset="-122"/>
                <a:cs typeface="Calibri" pitchFamily="34" charset="-120"/>
              </a:rPr>
              <a:t>LLM as decision layer, not predictor</a:t>
            </a:r>
            <a:endParaRPr lang="en-US" sz="1150" dirty="0"/>
          </a:p>
        </p:txBody>
      </p:sp>
      <p:sp>
        <p:nvSpPr>
          <p:cNvPr id="10" name="Text 8"/>
          <p:cNvSpPr txBox="1"/>
          <p:nvPr/>
        </p:nvSpPr>
        <p:spPr>
          <a:xfrm>
            <a:off x="3410712" y="1691640"/>
            <a:ext cx="2331720" cy="548640"/>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Predictions stay measurable and testable</a:t>
            </a:r>
            <a:endParaRPr lang="en-US" sz="950" dirty="0"/>
          </a:p>
        </p:txBody>
      </p:sp>
      <p:sp>
        <p:nvSpPr>
          <p:cNvPr id="11" name="Shape 9"/>
          <p:cNvSpPr/>
          <p:nvPr/>
        </p:nvSpPr>
        <p:spPr>
          <a:xfrm>
            <a:off x="6035040" y="1280160"/>
            <a:ext cx="2606040" cy="1024128"/>
          </a:xfrm>
          <a:prstGeom prst="roundRect">
            <a:avLst>
              <a:gd name="adj" fmla="val 7143"/>
            </a:avLst>
          </a:prstGeom>
          <a:solidFill>
            <a:srgbClr val="EEF2F5"/>
          </a:solidFill>
          <a:ln w="12700">
            <a:solidFill>
              <a:srgbClr val="EEF2F5"/>
            </a:solidFill>
            <a:prstDash val="solid"/>
          </a:ln>
        </p:spPr>
      </p:sp>
      <p:sp>
        <p:nvSpPr>
          <p:cNvPr id="12" name="Text 10"/>
          <p:cNvSpPr txBox="1"/>
          <p:nvPr/>
        </p:nvSpPr>
        <p:spPr>
          <a:xfrm>
            <a:off x="6199632" y="1389888"/>
            <a:ext cx="2331720" cy="274320"/>
          </a:xfrm>
          <a:prstGeom prst="rect">
            <a:avLst/>
          </a:prstGeom>
          <a:noFill/>
          <a:ln/>
        </p:spPr>
        <p:txBody>
          <a:bodyPr wrap="square" lIns="0" tIns="0" rIns="0" bIns="0" rtlCol="0" anchor="t">
            <a:normAutofit/>
          </a:bodyPr>
          <a:lstStyle/>
          <a:p>
            <a:pPr indent="0" marL="0">
              <a:buNone/>
            </a:pPr>
            <a:r>
              <a:rPr lang="en-US" sz="1150" b="1" dirty="0">
                <a:solidFill>
                  <a:srgbClr val="1B2631"/>
                </a:solidFill>
                <a:latin typeface="Calibri" pitchFamily="34" charset="0"/>
                <a:ea typeface="Calibri" pitchFamily="34" charset="-122"/>
                <a:cs typeface="Calibri" pitchFamily="34" charset="-120"/>
              </a:rPr>
              <a:t>LightGBM without re-weighting</a:t>
            </a:r>
            <a:endParaRPr lang="en-US" sz="1150" dirty="0"/>
          </a:p>
        </p:txBody>
      </p:sp>
      <p:sp>
        <p:nvSpPr>
          <p:cNvPr id="13" name="Text 11"/>
          <p:cNvSpPr txBox="1"/>
          <p:nvPr/>
        </p:nvSpPr>
        <p:spPr>
          <a:xfrm>
            <a:off x="6199632" y="1691640"/>
            <a:ext cx="2331720" cy="548640"/>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Calibrated probabilities for cost maths; tune the threshold instead</a:t>
            </a:r>
            <a:endParaRPr lang="en-US" sz="950" dirty="0"/>
          </a:p>
        </p:txBody>
      </p:sp>
      <p:sp>
        <p:nvSpPr>
          <p:cNvPr id="14" name="Shape 12"/>
          <p:cNvSpPr/>
          <p:nvPr/>
        </p:nvSpPr>
        <p:spPr>
          <a:xfrm>
            <a:off x="457200" y="2441448"/>
            <a:ext cx="2606040" cy="1024128"/>
          </a:xfrm>
          <a:prstGeom prst="roundRect">
            <a:avLst>
              <a:gd name="adj" fmla="val 7143"/>
            </a:avLst>
          </a:prstGeom>
          <a:solidFill>
            <a:srgbClr val="EEF2F5"/>
          </a:solidFill>
          <a:ln w="12700">
            <a:solidFill>
              <a:srgbClr val="EEF2F5"/>
            </a:solidFill>
            <a:prstDash val="solid"/>
          </a:ln>
        </p:spPr>
      </p:sp>
      <p:sp>
        <p:nvSpPr>
          <p:cNvPr id="15" name="Text 13"/>
          <p:cNvSpPr txBox="1"/>
          <p:nvPr/>
        </p:nvSpPr>
        <p:spPr>
          <a:xfrm>
            <a:off x="621792" y="2551176"/>
            <a:ext cx="2331720" cy="274320"/>
          </a:xfrm>
          <a:prstGeom prst="rect">
            <a:avLst/>
          </a:prstGeom>
          <a:noFill/>
          <a:ln/>
        </p:spPr>
        <p:txBody>
          <a:bodyPr wrap="square" lIns="0" tIns="0" rIns="0" bIns="0" rtlCol="0" anchor="t">
            <a:normAutofit/>
          </a:bodyPr>
          <a:lstStyle/>
          <a:p>
            <a:pPr indent="0" marL="0">
              <a:buNone/>
            </a:pPr>
            <a:r>
              <a:rPr lang="en-US" sz="1150" b="1" dirty="0">
                <a:solidFill>
                  <a:srgbClr val="1B2631"/>
                </a:solidFill>
                <a:latin typeface="Calibri" pitchFamily="34" charset="0"/>
                <a:ea typeface="Calibri" pitchFamily="34" charset="-122"/>
                <a:cs typeface="Calibri" pitchFamily="34" charset="-120"/>
              </a:rPr>
              <a:t>Time-based split for the fleet</a:t>
            </a:r>
            <a:endParaRPr lang="en-US" sz="1150" dirty="0"/>
          </a:p>
        </p:txBody>
      </p:sp>
      <p:sp>
        <p:nvSpPr>
          <p:cNvPr id="16" name="Text 14"/>
          <p:cNvSpPr txBox="1"/>
          <p:nvPr/>
        </p:nvSpPr>
        <p:spPr>
          <a:xfrm>
            <a:off x="621792" y="2852928"/>
            <a:ext cx="2331720" cy="548640"/>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Test months lie in the future — no look-ahead</a:t>
            </a:r>
            <a:endParaRPr lang="en-US" sz="950" dirty="0"/>
          </a:p>
        </p:txBody>
      </p:sp>
      <p:sp>
        <p:nvSpPr>
          <p:cNvPr id="17" name="Shape 15"/>
          <p:cNvSpPr/>
          <p:nvPr/>
        </p:nvSpPr>
        <p:spPr>
          <a:xfrm>
            <a:off x="3246120" y="2441448"/>
            <a:ext cx="2606040" cy="1024128"/>
          </a:xfrm>
          <a:prstGeom prst="roundRect">
            <a:avLst>
              <a:gd name="adj" fmla="val 7143"/>
            </a:avLst>
          </a:prstGeom>
          <a:solidFill>
            <a:srgbClr val="EEF2F5"/>
          </a:solidFill>
          <a:ln w="12700">
            <a:solidFill>
              <a:srgbClr val="EEF2F5"/>
            </a:solidFill>
            <a:prstDash val="solid"/>
          </a:ln>
        </p:spPr>
      </p:sp>
      <p:sp>
        <p:nvSpPr>
          <p:cNvPr id="18" name="Text 16"/>
          <p:cNvSpPr txBox="1"/>
          <p:nvPr/>
        </p:nvSpPr>
        <p:spPr>
          <a:xfrm>
            <a:off x="3410712" y="2551176"/>
            <a:ext cx="2331720" cy="274320"/>
          </a:xfrm>
          <a:prstGeom prst="rect">
            <a:avLst/>
          </a:prstGeom>
          <a:noFill/>
          <a:ln/>
        </p:spPr>
        <p:txBody>
          <a:bodyPr wrap="square" lIns="0" tIns="0" rIns="0" bIns="0" rtlCol="0" anchor="t">
            <a:normAutofit/>
          </a:bodyPr>
          <a:lstStyle/>
          <a:p>
            <a:pPr indent="0" marL="0">
              <a:buNone/>
            </a:pPr>
            <a:r>
              <a:rPr lang="en-US" sz="1150" b="1" dirty="0">
                <a:solidFill>
                  <a:srgbClr val="1B2631"/>
                </a:solidFill>
                <a:latin typeface="Calibri" pitchFamily="34" charset="0"/>
                <a:ea typeface="Calibri" pitchFamily="34" charset="-122"/>
                <a:cs typeface="Calibri" pitchFamily="34" charset="-120"/>
              </a:rPr>
              <a:t>7-day classifier, not days-to-failure</a:t>
            </a:r>
            <a:endParaRPr lang="en-US" sz="1150" dirty="0"/>
          </a:p>
        </p:txBody>
      </p:sp>
      <p:sp>
        <p:nvSpPr>
          <p:cNvPr id="19" name="Text 17"/>
          <p:cNvSpPr txBox="1"/>
          <p:nvPr/>
        </p:nvSpPr>
        <p:spPr>
          <a:xfrm>
            <a:off x="3410712" y="2852928"/>
            <a:ext cx="2331720" cy="548640"/>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Regressor barely beat the median (MAE 15 days)</a:t>
            </a:r>
            <a:endParaRPr lang="en-US" sz="950" dirty="0"/>
          </a:p>
        </p:txBody>
      </p:sp>
      <p:sp>
        <p:nvSpPr>
          <p:cNvPr id="20" name="Shape 18"/>
          <p:cNvSpPr/>
          <p:nvPr/>
        </p:nvSpPr>
        <p:spPr>
          <a:xfrm>
            <a:off x="6035040" y="2441448"/>
            <a:ext cx="2606040" cy="1024128"/>
          </a:xfrm>
          <a:prstGeom prst="roundRect">
            <a:avLst>
              <a:gd name="adj" fmla="val 7143"/>
            </a:avLst>
          </a:prstGeom>
          <a:solidFill>
            <a:srgbClr val="EEF2F5"/>
          </a:solidFill>
          <a:ln w="12700">
            <a:solidFill>
              <a:srgbClr val="EEF2F5"/>
            </a:solidFill>
            <a:prstDash val="solid"/>
          </a:ln>
        </p:spPr>
      </p:sp>
      <p:sp>
        <p:nvSpPr>
          <p:cNvPr id="21" name="Text 19"/>
          <p:cNvSpPr txBox="1"/>
          <p:nvPr/>
        </p:nvSpPr>
        <p:spPr>
          <a:xfrm>
            <a:off x="6199632" y="2551176"/>
            <a:ext cx="2331720" cy="274320"/>
          </a:xfrm>
          <a:prstGeom prst="rect">
            <a:avLst/>
          </a:prstGeom>
          <a:noFill/>
          <a:ln/>
        </p:spPr>
        <p:txBody>
          <a:bodyPr wrap="square" lIns="0" tIns="0" rIns="0" bIns="0" rtlCol="0" anchor="t">
            <a:normAutofit/>
          </a:bodyPr>
          <a:lstStyle/>
          <a:p>
            <a:pPr indent="0" marL="0">
              <a:buNone/>
            </a:pPr>
            <a:r>
              <a:rPr lang="en-US" sz="1150" b="1" dirty="0">
                <a:solidFill>
                  <a:srgbClr val="1B2631"/>
                </a:solidFill>
                <a:latin typeface="Calibri" pitchFamily="34" charset="0"/>
                <a:ea typeface="Calibri" pitchFamily="34" charset="-122"/>
                <a:cs typeface="Calibri" pitchFamily="34" charset="-120"/>
              </a:rPr>
              <a:t>Physics rules alongside ML</a:t>
            </a:r>
            <a:endParaRPr lang="en-US" sz="1150" dirty="0"/>
          </a:p>
        </p:txBody>
      </p:sp>
      <p:sp>
        <p:nvSpPr>
          <p:cNvPr id="22" name="Text 20"/>
          <p:cNvSpPr txBox="1"/>
          <p:nvPr/>
        </p:nvSpPr>
        <p:spPr>
          <a:xfrm>
            <a:off x="6199632" y="2852928"/>
            <a:ext cx="2331720" cy="548640"/>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Covers unpredictable tool wear; hard evidence for explanations</a:t>
            </a:r>
            <a:endParaRPr lang="en-US" sz="950" dirty="0"/>
          </a:p>
        </p:txBody>
      </p:sp>
      <p:sp>
        <p:nvSpPr>
          <p:cNvPr id="23" name="Shape 21"/>
          <p:cNvSpPr/>
          <p:nvPr/>
        </p:nvSpPr>
        <p:spPr>
          <a:xfrm>
            <a:off x="457200" y="3602736"/>
            <a:ext cx="2606040" cy="1024128"/>
          </a:xfrm>
          <a:prstGeom prst="roundRect">
            <a:avLst>
              <a:gd name="adj" fmla="val 7143"/>
            </a:avLst>
          </a:prstGeom>
          <a:solidFill>
            <a:srgbClr val="EEF2F5"/>
          </a:solidFill>
          <a:ln w="12700">
            <a:solidFill>
              <a:srgbClr val="EEF2F5"/>
            </a:solidFill>
            <a:prstDash val="solid"/>
          </a:ln>
        </p:spPr>
      </p:sp>
      <p:sp>
        <p:nvSpPr>
          <p:cNvPr id="24" name="Text 22"/>
          <p:cNvSpPr txBox="1"/>
          <p:nvPr/>
        </p:nvSpPr>
        <p:spPr>
          <a:xfrm>
            <a:off x="621792" y="3712464"/>
            <a:ext cx="2331720" cy="274320"/>
          </a:xfrm>
          <a:prstGeom prst="rect">
            <a:avLst/>
          </a:prstGeom>
          <a:noFill/>
          <a:ln/>
        </p:spPr>
        <p:txBody>
          <a:bodyPr wrap="square" lIns="0" tIns="0" rIns="0" bIns="0" rtlCol="0" anchor="t">
            <a:normAutofit/>
          </a:bodyPr>
          <a:lstStyle/>
          <a:p>
            <a:pPr indent="0" marL="0">
              <a:buNone/>
            </a:pPr>
            <a:r>
              <a:rPr lang="en-US" sz="1150" b="1" dirty="0">
                <a:solidFill>
                  <a:srgbClr val="1B2631"/>
                </a:solidFill>
                <a:latin typeface="Calibri" pitchFamily="34" charset="0"/>
                <a:ea typeface="Calibri" pitchFamily="34" charset="-122"/>
                <a:cs typeface="Calibri" pitchFamily="34" charset="-120"/>
              </a:rPr>
              <a:t>Optimiser verifies with the model</a:t>
            </a:r>
            <a:endParaRPr lang="en-US" sz="1150" dirty="0"/>
          </a:p>
        </p:txBody>
      </p:sp>
      <p:sp>
        <p:nvSpPr>
          <p:cNvPr id="25" name="Text 23"/>
          <p:cNvSpPr txBox="1"/>
          <p:nvPr/>
        </p:nvSpPr>
        <p:spPr>
          <a:xfrm>
            <a:off x="621792" y="4014216"/>
            <a:ext cx="2331720" cy="548640"/>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No recommendation without a predicted risk reduction</a:t>
            </a:r>
            <a:endParaRPr lang="en-US" sz="950" dirty="0"/>
          </a:p>
        </p:txBody>
      </p:sp>
      <p:sp>
        <p:nvSpPr>
          <p:cNvPr id="26" name="Shape 24"/>
          <p:cNvSpPr/>
          <p:nvPr/>
        </p:nvSpPr>
        <p:spPr>
          <a:xfrm>
            <a:off x="3246120" y="3602736"/>
            <a:ext cx="2606040" cy="1024128"/>
          </a:xfrm>
          <a:prstGeom prst="roundRect">
            <a:avLst>
              <a:gd name="adj" fmla="val 7143"/>
            </a:avLst>
          </a:prstGeom>
          <a:solidFill>
            <a:srgbClr val="EEF2F5"/>
          </a:solidFill>
          <a:ln w="12700">
            <a:solidFill>
              <a:srgbClr val="EEF2F5"/>
            </a:solidFill>
            <a:prstDash val="solid"/>
          </a:ln>
        </p:spPr>
      </p:sp>
      <p:sp>
        <p:nvSpPr>
          <p:cNvPr id="27" name="Text 25"/>
          <p:cNvSpPr txBox="1"/>
          <p:nvPr/>
        </p:nvSpPr>
        <p:spPr>
          <a:xfrm>
            <a:off x="3410712" y="3712464"/>
            <a:ext cx="2331720" cy="274320"/>
          </a:xfrm>
          <a:prstGeom prst="rect">
            <a:avLst/>
          </a:prstGeom>
          <a:noFill/>
          <a:ln/>
        </p:spPr>
        <p:txBody>
          <a:bodyPr wrap="square" lIns="0" tIns="0" rIns="0" bIns="0" rtlCol="0" anchor="t">
            <a:normAutofit/>
          </a:bodyPr>
          <a:lstStyle/>
          <a:p>
            <a:pPr indent="0" marL="0">
              <a:buNone/>
            </a:pPr>
            <a:r>
              <a:rPr lang="en-US" sz="1150" b="1" dirty="0">
                <a:solidFill>
                  <a:srgbClr val="1B2631"/>
                </a:solidFill>
                <a:latin typeface="Calibri" pitchFamily="34" charset="0"/>
                <a:ea typeface="Calibri" pitchFamily="34" charset="-122"/>
                <a:cs typeface="Calibri" pitchFamily="34" charset="-120"/>
              </a:rPr>
              <a:t>CP-SAT scheduling</a:t>
            </a:r>
            <a:endParaRPr lang="en-US" sz="1150" dirty="0"/>
          </a:p>
        </p:txBody>
      </p:sp>
      <p:sp>
        <p:nvSpPr>
          <p:cNvPr id="28" name="Text 26"/>
          <p:cNvSpPr txBox="1"/>
          <p:nvPr/>
        </p:nvSpPr>
        <p:spPr>
          <a:xfrm>
            <a:off x="3410712" y="4014216"/>
            <a:ext cx="2331720" cy="548640"/>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Exact risk vs load vs crew optimisation in &lt; 1 s</a:t>
            </a:r>
            <a:endParaRPr lang="en-US" sz="950" dirty="0"/>
          </a:p>
        </p:txBody>
      </p:sp>
      <p:sp>
        <p:nvSpPr>
          <p:cNvPr id="29" name="Shape 27"/>
          <p:cNvSpPr/>
          <p:nvPr/>
        </p:nvSpPr>
        <p:spPr>
          <a:xfrm>
            <a:off x="6035040" y="3602736"/>
            <a:ext cx="2606040" cy="1024128"/>
          </a:xfrm>
          <a:prstGeom prst="roundRect">
            <a:avLst>
              <a:gd name="adj" fmla="val 7143"/>
            </a:avLst>
          </a:prstGeom>
          <a:solidFill>
            <a:srgbClr val="EEF2F5"/>
          </a:solidFill>
          <a:ln w="12700">
            <a:solidFill>
              <a:srgbClr val="EEF2F5"/>
            </a:solidFill>
            <a:prstDash val="solid"/>
          </a:ln>
        </p:spPr>
      </p:sp>
      <p:sp>
        <p:nvSpPr>
          <p:cNvPr id="30" name="Text 28"/>
          <p:cNvSpPr txBox="1"/>
          <p:nvPr/>
        </p:nvSpPr>
        <p:spPr>
          <a:xfrm>
            <a:off x="6199632" y="3712464"/>
            <a:ext cx="2331720" cy="274320"/>
          </a:xfrm>
          <a:prstGeom prst="rect">
            <a:avLst/>
          </a:prstGeom>
          <a:noFill/>
          <a:ln/>
        </p:spPr>
        <p:txBody>
          <a:bodyPr wrap="square" lIns="0" tIns="0" rIns="0" bIns="0" rtlCol="0" anchor="t">
            <a:normAutofit/>
          </a:bodyPr>
          <a:lstStyle/>
          <a:p>
            <a:pPr indent="0" marL="0">
              <a:buNone/>
            </a:pPr>
            <a:r>
              <a:rPr lang="en-US" sz="1150" b="1" dirty="0">
                <a:solidFill>
                  <a:srgbClr val="1B2631"/>
                </a:solidFill>
                <a:latin typeface="Calibri" pitchFamily="34" charset="0"/>
                <a:ea typeface="Calibri" pitchFamily="34" charset="-122"/>
                <a:cs typeface="Calibri" pitchFamily="34" charset="-120"/>
              </a:rPr>
              <a:t>Pluggable LLM + rule-based fallback</a:t>
            </a:r>
            <a:endParaRPr lang="en-US" sz="1150" dirty="0"/>
          </a:p>
        </p:txBody>
      </p:sp>
      <p:sp>
        <p:nvSpPr>
          <p:cNvPr id="31" name="Text 29"/>
          <p:cNvSpPr txBox="1"/>
          <p:nvPr/>
        </p:nvSpPr>
        <p:spPr>
          <a:xfrm>
            <a:off x="6199632" y="4014216"/>
            <a:ext cx="2331720" cy="548640"/>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Free local or stronger Claude; dashboard works with no LLM</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000" b="1" spc="200" kern="0" dirty="0">
                <a:solidFill>
                  <a:srgbClr val="E8910C"/>
                </a:solidFill>
                <a:latin typeface="Calibri" pitchFamily="34" charset="0"/>
                <a:ea typeface="Calibri" pitchFamily="34" charset="-122"/>
                <a:cs typeface="Calibri" pitchFamily="34" charset="-120"/>
              </a:rPr>
              <a:t>13 · ROADMAP</a:t>
            </a:r>
            <a:endParaRPr lang="en-US" sz="10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1B2631"/>
                </a:solidFill>
                <a:latin typeface="Calibri" pitchFamily="34" charset="0"/>
                <a:ea typeface="Calibri" pitchFamily="34" charset="-122"/>
                <a:cs typeface="Calibri" pitchFamily="34" charset="-120"/>
              </a:rPr>
              <a:t>Limitations and next steps</a:t>
            </a:r>
            <a:endParaRPr lang="en-US" sz="2800" dirty="0"/>
          </a:p>
        </p:txBody>
      </p:sp>
      <p:sp>
        <p:nvSpPr>
          <p:cNvPr id="4" name="Text 2"/>
          <p:cNvSpPr txBox="1"/>
          <p:nvPr/>
        </p:nvSpPr>
        <p:spPr>
          <a:xfrm>
            <a:off x="7315200" y="4846320"/>
            <a:ext cx="1371600" cy="182880"/>
          </a:xfrm>
          <a:prstGeom prst="rect">
            <a:avLst/>
          </a:prstGeom>
          <a:noFill/>
          <a:ln/>
        </p:spPr>
        <p:txBody>
          <a:bodyPr wrap="square" lIns="0" tIns="0" rIns="0" bIns="0" rtlCol="0" anchor="t"/>
          <a:lstStyle/>
          <a:p>
            <a:pPr algn="r" indent="0" marL="0">
              <a:buNone/>
            </a:pPr>
            <a:r>
              <a:rPr lang="en-US" sz="900" dirty="0">
                <a:solidFill>
                  <a:srgbClr val="5F6B78"/>
                </a:solidFill>
                <a:latin typeface="Calibri" pitchFamily="34" charset="0"/>
                <a:ea typeface="Calibri" pitchFamily="34" charset="-122"/>
                <a:cs typeface="Calibri" pitchFamily="34" charset="-120"/>
              </a:rPr>
              <a:t>SMPO  ·  22</a:t>
            </a:r>
            <a:endParaRPr lang="en-US" sz="900" dirty="0"/>
          </a:p>
        </p:txBody>
      </p:sp>
      <p:sp>
        <p:nvSpPr>
          <p:cNvPr id="5" name="Shape 3"/>
          <p:cNvSpPr/>
          <p:nvPr/>
        </p:nvSpPr>
        <p:spPr>
          <a:xfrm>
            <a:off x="457200" y="1280160"/>
            <a:ext cx="3977640" cy="3429000"/>
          </a:xfrm>
          <a:prstGeom prst="roundRect">
            <a:avLst>
              <a:gd name="adj" fmla="val 2133"/>
            </a:avLst>
          </a:prstGeom>
          <a:solidFill>
            <a:srgbClr val="EEF2F5"/>
          </a:solidFill>
          <a:ln w="12700">
            <a:solidFill>
              <a:srgbClr val="EEF2F5"/>
            </a:solidFill>
            <a:prstDash val="solid"/>
          </a:ln>
        </p:spPr>
      </p:sp>
      <p:sp>
        <p:nvSpPr>
          <p:cNvPr id="6" name="Shape 4"/>
          <p:cNvSpPr/>
          <p:nvPr/>
        </p:nvSpPr>
        <p:spPr>
          <a:xfrm>
            <a:off x="640080" y="1417320"/>
            <a:ext cx="457200" cy="457200"/>
          </a:xfrm>
          <a:prstGeom prst="ellipse">
            <a:avLst/>
          </a:prstGeom>
          <a:solidFill>
            <a:srgbClr val="C0392B"/>
          </a:solidFill>
          <a:ln w="12700">
            <a:solidFill>
              <a:srgbClr val="C0392B"/>
            </a:solidFill>
            <a:prstDash val="solid"/>
          </a:ln>
        </p:spPr>
      </p:sp>
      <p:pic>
        <p:nvPicPr>
          <p:cNvPr id="7" name="Image 0" descr="preencoded.png">    </p:cNvPr>
          <p:cNvPicPr>
            <a:picLocks noChangeAspect="1"/>
          </p:cNvPicPr>
          <p:nvPr/>
        </p:nvPicPr>
        <p:blipFill>
          <a:blip r:embed="rId1"/>
          <a:stretch>
            <a:fillRect/>
          </a:stretch>
        </p:blipFill>
        <p:spPr>
          <a:xfrm>
            <a:off x="754380" y="1531620"/>
            <a:ext cx="228600" cy="228600"/>
          </a:xfrm>
          <a:prstGeom prst="rect">
            <a:avLst/>
          </a:prstGeom>
        </p:spPr>
      </p:pic>
      <p:sp>
        <p:nvSpPr>
          <p:cNvPr id="8" name="Text 5"/>
          <p:cNvSpPr txBox="1"/>
          <p:nvPr/>
        </p:nvSpPr>
        <p:spPr>
          <a:xfrm>
            <a:off x="1234440" y="1417320"/>
            <a:ext cx="3017520" cy="457200"/>
          </a:xfrm>
          <a:prstGeom prst="rect">
            <a:avLst/>
          </a:prstGeom>
          <a:noFill/>
          <a:ln/>
        </p:spPr>
        <p:txBody>
          <a:bodyPr wrap="square" lIns="0" tIns="0" rIns="0" bIns="0" rtlCol="0" anchor="ctr"/>
          <a:lstStyle/>
          <a:p>
            <a:pPr indent="0" marL="0">
              <a:buNone/>
            </a:pPr>
            <a:r>
              <a:rPr lang="en-US" sz="1600" b="1" dirty="0">
                <a:solidFill>
                  <a:srgbClr val="1B2631"/>
                </a:solidFill>
                <a:latin typeface="Calibri" pitchFamily="34" charset="0"/>
                <a:ea typeface="Calibri" pitchFamily="34" charset="-122"/>
                <a:cs typeface="Calibri" pitchFamily="34" charset="-120"/>
              </a:rPr>
              <a:t>Limitations</a:t>
            </a:r>
            <a:endParaRPr lang="en-US" sz="1600" dirty="0"/>
          </a:p>
        </p:txBody>
      </p:sp>
      <p:sp>
        <p:nvSpPr>
          <p:cNvPr id="9" name="Text 6"/>
          <p:cNvSpPr txBox="1"/>
          <p:nvPr/>
        </p:nvSpPr>
        <p:spPr>
          <a:xfrm>
            <a:off x="640080" y="2011680"/>
            <a:ext cx="3657600" cy="2606040"/>
          </a:xfrm>
          <a:prstGeom prst="rect">
            <a:avLst/>
          </a:prstGeom>
          <a:noFill/>
          <a:ln/>
        </p:spPr>
        <p:txBody>
          <a:bodyPr wrap="square" lIns="0" tIns="0" rIns="0" bIns="0" rtlCol="0" anchor="t"/>
          <a:lstStyle/>
          <a:p>
            <a:pPr marL="342900" indent="-342900">
              <a:spcAft>
                <a:spcPts val="500"/>
              </a:spcAft>
              <a:buSzPct val="100000"/>
              <a:buChar char="•"/>
            </a:pPr>
            <a:r>
              <a:rPr lang="en-US" sz="1100" dirty="0">
                <a:solidFill>
                  <a:srgbClr val="1B2631"/>
                </a:solidFill>
                <a:latin typeface="Calibri" pitchFamily="34" charset="0"/>
                <a:ea typeface="Calibri" pitchFamily="34" charset="-122"/>
                <a:cs typeface="Calibri" pitchFamily="34" charset="-120"/>
              </a:rPr>
              <a:t>Both datasets synthetic — real 24 h scores will be lower</a:t>
            </a:r>
            <a:endParaRPr lang="en-US" sz="1100" dirty="0"/>
          </a:p>
          <a:p>
            <a:pPr marL="342900" indent="-342900">
              <a:spcAft>
                <a:spcPts val="500"/>
              </a:spcAft>
              <a:buSzPct val="100000"/>
              <a:buChar char="•"/>
            </a:pPr>
            <a:r>
              <a:rPr lang="en-US" sz="1100" dirty="0">
                <a:solidFill>
                  <a:srgbClr val="1B2631"/>
                </a:solidFill>
                <a:latin typeface="Calibri" pitchFamily="34" charset="0"/>
                <a:ea typeface="Calibri" pitchFamily="34" charset="-122"/>
                <a:cs typeface="Calibri" pitchFamily="34" charset="-120"/>
              </a:rPr>
              <a:t>Datasets describe different plants; joined at decision layer only</a:t>
            </a:r>
            <a:endParaRPr lang="en-US" sz="1100" dirty="0"/>
          </a:p>
          <a:p>
            <a:pPr marL="342900" indent="-342900">
              <a:spcAft>
                <a:spcPts val="500"/>
              </a:spcAft>
              <a:buSzPct val="100000"/>
              <a:buChar char="•"/>
            </a:pPr>
            <a:r>
              <a:rPr lang="en-US" sz="1100" dirty="0">
                <a:solidFill>
                  <a:srgbClr val="1B2631"/>
                </a:solidFill>
                <a:latin typeface="Calibri" pitchFamily="34" charset="0"/>
                <a:ea typeface="Calibri" pitchFamily="34" charset="-122"/>
                <a:cs typeface="Calibri" pitchFamily="34" charset="-120"/>
              </a:rPr>
              <a:t>Cost, downtime and load figures are assumptions</a:t>
            </a:r>
            <a:endParaRPr lang="en-US" sz="1100" dirty="0"/>
          </a:p>
          <a:p>
            <a:pPr marL="342900" indent="-342900">
              <a:spcAft>
                <a:spcPts val="500"/>
              </a:spcAft>
              <a:buSzPct val="100000"/>
              <a:buChar char="•"/>
            </a:pPr>
            <a:r>
              <a:rPr lang="en-US" sz="1100" dirty="0">
                <a:solidFill>
                  <a:srgbClr val="1B2631"/>
                </a:solidFill>
                <a:latin typeface="Calibri" pitchFamily="34" charset="0"/>
                <a:ea typeface="Calibri" pitchFamily="34" charset="-122"/>
                <a:cs typeface="Calibri" pitchFamily="34" charset="-120"/>
              </a:rPr>
              <a:t>Scheduler double-charges downtime for same-machine, same-day jobs</a:t>
            </a:r>
            <a:endParaRPr lang="en-US" sz="1100" dirty="0"/>
          </a:p>
          <a:p>
            <a:pPr marL="342900" indent="-342900">
              <a:spcAft>
                <a:spcPts val="500"/>
              </a:spcAft>
              <a:buSzPct val="100000"/>
              <a:buChar char="•"/>
            </a:pPr>
            <a:r>
              <a:rPr lang="en-US" sz="1100" dirty="0">
                <a:solidFill>
                  <a:srgbClr val="1B2631"/>
                </a:solidFill>
                <a:latin typeface="Calibri" pitchFamily="34" charset="0"/>
                <a:ea typeface="Calibri" pitchFamily="34" charset="-122"/>
                <a:cs typeface="Calibri" pitchFamily="34" charset="-120"/>
              </a:rPr>
              <a:t>Small local models can misstate facts in prose</a:t>
            </a:r>
            <a:endParaRPr lang="en-US" sz="1100" dirty="0"/>
          </a:p>
          <a:p>
            <a:pPr marL="342900" indent="-342900">
              <a:spcAft>
                <a:spcPts val="500"/>
              </a:spcAft>
              <a:buSzPct val="100000"/>
              <a:buChar char="•"/>
            </a:pPr>
            <a:r>
              <a:rPr lang="en-US" sz="1100" dirty="0">
                <a:solidFill>
                  <a:srgbClr val="1B2631"/>
                </a:solidFill>
                <a:latin typeface="Calibri" pitchFamily="34" charset="0"/>
                <a:ea typeface="Calibri" pitchFamily="34" charset="-122"/>
                <a:cs typeface="Calibri" pitchFamily="34" charset="-120"/>
              </a:rPr>
              <a:t>No authentication; decisions logged to a local file</a:t>
            </a:r>
            <a:endParaRPr lang="en-US" sz="1100" dirty="0"/>
          </a:p>
        </p:txBody>
      </p:sp>
      <p:sp>
        <p:nvSpPr>
          <p:cNvPr id="10" name="Shape 7"/>
          <p:cNvSpPr/>
          <p:nvPr/>
        </p:nvSpPr>
        <p:spPr>
          <a:xfrm>
            <a:off x="4709160" y="1280160"/>
            <a:ext cx="3977640" cy="3429000"/>
          </a:xfrm>
          <a:prstGeom prst="roundRect">
            <a:avLst>
              <a:gd name="adj" fmla="val 2133"/>
            </a:avLst>
          </a:prstGeom>
          <a:solidFill>
            <a:srgbClr val="1B2631"/>
          </a:solidFill>
          <a:ln w="12700">
            <a:solidFill>
              <a:srgbClr val="1B2631"/>
            </a:solidFill>
            <a:prstDash val="solid"/>
          </a:ln>
        </p:spPr>
      </p:sp>
      <p:sp>
        <p:nvSpPr>
          <p:cNvPr id="11" name="Shape 8"/>
          <p:cNvSpPr/>
          <p:nvPr/>
        </p:nvSpPr>
        <p:spPr>
          <a:xfrm>
            <a:off x="4892040" y="1417320"/>
            <a:ext cx="457200" cy="457200"/>
          </a:xfrm>
          <a:prstGeom prst="ellipse">
            <a:avLst/>
          </a:prstGeom>
          <a:solidFill>
            <a:srgbClr val="E8910C"/>
          </a:solidFill>
          <a:ln w="12700">
            <a:solidFill>
              <a:srgbClr val="E8910C"/>
            </a:solidFill>
            <a:prstDash val="solid"/>
          </a:ln>
        </p:spPr>
      </p:sp>
      <p:pic>
        <p:nvPicPr>
          <p:cNvPr id="12" name="Image 1" descr="preencoded.png">    </p:cNvPr>
          <p:cNvPicPr>
            <a:picLocks noChangeAspect="1"/>
          </p:cNvPicPr>
          <p:nvPr/>
        </p:nvPicPr>
        <p:blipFill>
          <a:blip r:embed="rId2"/>
          <a:stretch>
            <a:fillRect/>
          </a:stretch>
        </p:blipFill>
        <p:spPr>
          <a:xfrm>
            <a:off x="5006340" y="1531620"/>
            <a:ext cx="228600" cy="228600"/>
          </a:xfrm>
          <a:prstGeom prst="rect">
            <a:avLst/>
          </a:prstGeom>
        </p:spPr>
      </p:pic>
      <p:sp>
        <p:nvSpPr>
          <p:cNvPr id="13" name="Text 9"/>
          <p:cNvSpPr txBox="1"/>
          <p:nvPr/>
        </p:nvSpPr>
        <p:spPr>
          <a:xfrm>
            <a:off x="5486400" y="1417320"/>
            <a:ext cx="3017520" cy="4572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Next steps</a:t>
            </a:r>
            <a:endParaRPr lang="en-US" sz="1600" dirty="0"/>
          </a:p>
        </p:txBody>
      </p:sp>
      <p:sp>
        <p:nvSpPr>
          <p:cNvPr id="14" name="Text 10"/>
          <p:cNvSpPr txBox="1"/>
          <p:nvPr/>
        </p:nvSpPr>
        <p:spPr>
          <a:xfrm>
            <a:off x="4892040" y="2011680"/>
            <a:ext cx="3657600" cy="2606040"/>
          </a:xfrm>
          <a:prstGeom prst="rect">
            <a:avLst/>
          </a:prstGeom>
          <a:noFill/>
          <a:ln/>
        </p:spPr>
        <p:txBody>
          <a:bodyPr wrap="square" lIns="0" tIns="0" rIns="0" bIns="0" rtlCol="0" anchor="t"/>
          <a:lstStyle/>
          <a:p>
            <a:pPr marL="342900" indent="-342900">
              <a:spcAft>
                <a:spcPts val="500"/>
              </a:spcAft>
              <a:buSzPct val="100000"/>
              <a:buChar char="•"/>
            </a:pPr>
            <a:r>
              <a:rPr lang="en-US" sz="1100" dirty="0">
                <a:solidFill>
                  <a:srgbClr val="FFFFFF"/>
                </a:solidFill>
                <a:latin typeface="Calibri" pitchFamily="34" charset="0"/>
                <a:ea typeface="Calibri" pitchFamily="34" charset="-122"/>
                <a:cs typeface="Calibri" pitchFamily="34" charset="-120"/>
              </a:rPr>
              <a:t>Connect a real source (OPC UA / MQTT historian) in place of replay</a:t>
            </a:r>
            <a:endParaRPr lang="en-US" sz="1100" dirty="0"/>
          </a:p>
          <a:p>
            <a:pPr marL="342900" indent="-342900">
              <a:spcAft>
                <a:spcPts val="500"/>
              </a:spcAft>
              <a:buSzPct val="100000"/>
              <a:buChar char="•"/>
            </a:pPr>
            <a:r>
              <a:rPr lang="en-US" sz="1100" dirty="0">
                <a:solidFill>
                  <a:srgbClr val="FFFFFF"/>
                </a:solidFill>
                <a:latin typeface="Calibri" pitchFamily="34" charset="0"/>
                <a:ea typeface="Calibri" pitchFamily="34" charset="-122"/>
                <a:cs typeface="Calibri" pitchFamily="34" charset="-120"/>
              </a:rPr>
              <a:t>Calibrate 7-day probabilities (isotonic); retrain on real history</a:t>
            </a:r>
            <a:endParaRPr lang="en-US" sz="1100" dirty="0"/>
          </a:p>
          <a:p>
            <a:pPr marL="342900" indent="-342900">
              <a:spcAft>
                <a:spcPts val="500"/>
              </a:spcAft>
              <a:buSzPct val="100000"/>
              <a:buChar char="•"/>
            </a:pPr>
            <a:r>
              <a:rPr lang="en-US" sz="1100" dirty="0">
                <a:solidFill>
                  <a:srgbClr val="FFFFFF"/>
                </a:solidFill>
                <a:latin typeface="Calibri" pitchFamily="34" charset="0"/>
                <a:ea typeface="Calibri" pitchFamily="34" charset="-122"/>
                <a:cs typeface="Calibri" pitchFamily="34" charset="-120"/>
              </a:rPr>
              <a:t>Group same-machine jobs into a single stop</a:t>
            </a:r>
            <a:endParaRPr lang="en-US" sz="1100" dirty="0"/>
          </a:p>
          <a:p>
            <a:pPr marL="342900" indent="-342900">
              <a:spcAft>
                <a:spcPts val="500"/>
              </a:spcAft>
              <a:buSzPct val="100000"/>
              <a:buChar char="•"/>
            </a:pPr>
            <a:r>
              <a:rPr lang="en-US" sz="1100" dirty="0">
                <a:solidFill>
                  <a:srgbClr val="FFFFFF"/>
                </a:solidFill>
                <a:latin typeface="Calibri" pitchFamily="34" charset="0"/>
                <a:ea typeface="Calibri" pitchFamily="34" charset="-122"/>
                <a:cs typeface="Calibri" pitchFamily="34" charset="-120"/>
              </a:rPr>
              <a:t>Feed accept/reject decisions back into scheduling &amp; prompts</a:t>
            </a:r>
            <a:endParaRPr lang="en-US" sz="1100" dirty="0"/>
          </a:p>
          <a:p>
            <a:pPr marL="342900" indent="-342900">
              <a:spcAft>
                <a:spcPts val="500"/>
              </a:spcAft>
              <a:buSzPct val="100000"/>
              <a:buChar char="•"/>
            </a:pPr>
            <a:r>
              <a:rPr lang="en-US" sz="1100" dirty="0">
                <a:solidFill>
                  <a:srgbClr val="FFFFFF"/>
                </a:solidFill>
                <a:latin typeface="Calibri" pitchFamily="34" charset="0"/>
                <a:ea typeface="Calibri" pitchFamily="34" charset="-122"/>
                <a:cs typeface="Calibri" pitchFamily="34" charset="-120"/>
              </a:rPr>
              <a:t>Run agents on GPU or Claude with compact / tools mode</a:t>
            </a:r>
            <a:endParaRPr lang="en-US" sz="1100" dirty="0"/>
          </a:p>
          <a:p>
            <a:pPr marL="342900" indent="-342900">
              <a:spcAft>
                <a:spcPts val="500"/>
              </a:spcAft>
              <a:buSzPct val="100000"/>
              <a:buChar char="•"/>
            </a:pPr>
            <a:r>
              <a:rPr lang="en-US" sz="1100" dirty="0">
                <a:solidFill>
                  <a:srgbClr val="FFFFFF"/>
                </a:solidFill>
                <a:latin typeface="Calibri" pitchFamily="34" charset="0"/>
                <a:ea typeface="Calibri" pitchFamily="34" charset="-122"/>
                <a:cs typeface="Calibri" pitchFamily="34" charset="-120"/>
              </a:rPr>
              <a:t>Add sign-in (st.login) and a database for the decision log</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502920"/>
            <a:ext cx="8046720" cy="274320"/>
          </a:xfrm>
          <a:prstGeom prst="rect">
            <a:avLst/>
          </a:prstGeom>
          <a:noFill/>
          <a:ln/>
        </p:spPr>
        <p:txBody>
          <a:bodyPr wrap="square" lIns="0" tIns="0" rIns="0" bIns="0" rtlCol="0" anchor="t"/>
          <a:lstStyle/>
          <a:p>
            <a:pPr indent="0" marL="0">
              <a:buNone/>
            </a:pPr>
            <a:r>
              <a:rPr lang="en-US" sz="1100" b="1" spc="200" kern="0" dirty="0">
                <a:solidFill>
                  <a:srgbClr val="E8910C"/>
                </a:solidFill>
                <a:latin typeface="Calibri" pitchFamily="34" charset="0"/>
                <a:ea typeface="Calibri" pitchFamily="34" charset="-122"/>
                <a:cs typeface="Calibri" pitchFamily="34" charset="-120"/>
              </a:rPr>
              <a:t>KEY TAKEAWAYS</a:t>
            </a:r>
            <a:endParaRPr lang="en-US" sz="1100" dirty="0"/>
          </a:p>
        </p:txBody>
      </p:sp>
      <p:sp>
        <p:nvSpPr>
          <p:cNvPr id="3" name="Shape 1"/>
          <p:cNvSpPr/>
          <p:nvPr/>
        </p:nvSpPr>
        <p:spPr>
          <a:xfrm>
            <a:off x="548640" y="1005840"/>
            <a:ext cx="548640" cy="548640"/>
          </a:xfrm>
          <a:prstGeom prst="ellipse">
            <a:avLst/>
          </a:prstGeom>
          <a:solidFill>
            <a:srgbClr val="E8910C"/>
          </a:solidFill>
          <a:ln w="12700">
            <a:solidFill>
              <a:srgbClr val="E8910C"/>
            </a:solidFill>
            <a:prstDash val="solid"/>
          </a:ln>
        </p:spPr>
      </p:sp>
      <p:pic>
        <p:nvPicPr>
          <p:cNvPr id="4" name="Image 0" descr="preencoded.png">    </p:cNvPr>
          <p:cNvPicPr>
            <a:picLocks noChangeAspect="1"/>
          </p:cNvPicPr>
          <p:nvPr/>
        </p:nvPicPr>
        <p:blipFill>
          <a:blip r:embed="rId1"/>
          <a:stretch>
            <a:fillRect/>
          </a:stretch>
        </p:blipFill>
        <p:spPr>
          <a:xfrm>
            <a:off x="685800" y="1143000"/>
            <a:ext cx="274320" cy="274320"/>
          </a:xfrm>
          <a:prstGeom prst="rect">
            <a:avLst/>
          </a:prstGeom>
        </p:spPr>
      </p:pic>
      <p:sp>
        <p:nvSpPr>
          <p:cNvPr id="5" name="Text 2"/>
          <p:cNvSpPr txBox="1"/>
          <p:nvPr/>
        </p:nvSpPr>
        <p:spPr>
          <a:xfrm>
            <a:off x="1280160" y="987552"/>
            <a:ext cx="7132320" cy="292608"/>
          </a:xfrm>
          <a:prstGeom prst="rect">
            <a:avLst/>
          </a:prstGeom>
          <a:noFill/>
          <a:ln/>
        </p:spPr>
        <p:txBody>
          <a:bodyPr wrap="square" lIns="0" tIns="0" rIns="0" bIns="0" rtlCol="0" anchor="t"/>
          <a:lstStyle/>
          <a:p>
            <a:pPr indent="0" marL="0">
              <a:buNone/>
            </a:pPr>
            <a:r>
              <a:rPr lang="en-US" sz="1600" b="1" dirty="0">
                <a:solidFill>
                  <a:srgbClr val="1B2631"/>
                </a:solidFill>
                <a:latin typeface="Calibri" pitchFamily="34" charset="0"/>
                <a:ea typeface="Calibri" pitchFamily="34" charset="-122"/>
                <a:cs typeface="Calibri" pitchFamily="34" charset="-120"/>
              </a:rPr>
              <a:t>Models are the source of truth</a:t>
            </a:r>
            <a:endParaRPr lang="en-US" sz="1600" dirty="0"/>
          </a:p>
        </p:txBody>
      </p:sp>
      <p:sp>
        <p:nvSpPr>
          <p:cNvPr id="6" name="Text 3"/>
          <p:cNvSpPr txBox="1"/>
          <p:nvPr/>
        </p:nvSpPr>
        <p:spPr>
          <a:xfrm>
            <a:off x="1280160" y="1280160"/>
            <a:ext cx="7132320" cy="274320"/>
          </a:xfrm>
          <a:prstGeom prst="rect">
            <a:avLst/>
          </a:prstGeom>
          <a:noFill/>
          <a:ln/>
        </p:spPr>
        <p:txBody>
          <a:bodyPr wrap="square" lIns="0" tIns="0" rIns="0" bIns="0" rtlCol="0" anchor="t"/>
          <a:lstStyle/>
          <a:p>
            <a:pPr indent="0" marL="0">
              <a:buNone/>
            </a:pPr>
            <a:r>
              <a:rPr lang="en-US" sz="1200" dirty="0">
                <a:solidFill>
                  <a:srgbClr val="5F6B78"/>
                </a:solidFill>
                <a:latin typeface="Calibri" pitchFamily="34" charset="0"/>
                <a:ea typeface="Calibri" pitchFamily="34" charset="-122"/>
                <a:cs typeface="Calibri" pitchFamily="34" charset="-120"/>
              </a:rPr>
              <a:t>LightGBM, Isolation Forest, SHAP and physics rules produce every number.</a:t>
            </a:r>
            <a:endParaRPr lang="en-US" sz="1200" dirty="0"/>
          </a:p>
        </p:txBody>
      </p:sp>
      <p:sp>
        <p:nvSpPr>
          <p:cNvPr id="7" name="Shape 4"/>
          <p:cNvSpPr/>
          <p:nvPr/>
        </p:nvSpPr>
        <p:spPr>
          <a:xfrm>
            <a:off x="548640" y="1874520"/>
            <a:ext cx="548640" cy="548640"/>
          </a:xfrm>
          <a:prstGeom prst="ellipse">
            <a:avLst/>
          </a:prstGeom>
          <a:solidFill>
            <a:srgbClr val="E8910C"/>
          </a:solidFill>
          <a:ln w="12700">
            <a:solidFill>
              <a:srgbClr val="E8910C"/>
            </a:solidFill>
            <a:prstDash val="solid"/>
          </a:ln>
        </p:spPr>
      </p:sp>
      <p:pic>
        <p:nvPicPr>
          <p:cNvPr id="8" name="Image 1" descr="preencoded.png">    </p:cNvPr>
          <p:cNvPicPr>
            <a:picLocks noChangeAspect="1"/>
          </p:cNvPicPr>
          <p:nvPr/>
        </p:nvPicPr>
        <p:blipFill>
          <a:blip r:embed="rId2"/>
          <a:stretch>
            <a:fillRect/>
          </a:stretch>
        </p:blipFill>
        <p:spPr>
          <a:xfrm>
            <a:off x="685800" y="2011680"/>
            <a:ext cx="274320" cy="274320"/>
          </a:xfrm>
          <a:prstGeom prst="rect">
            <a:avLst/>
          </a:prstGeom>
        </p:spPr>
      </p:pic>
      <p:sp>
        <p:nvSpPr>
          <p:cNvPr id="9" name="Text 5"/>
          <p:cNvSpPr txBox="1"/>
          <p:nvPr/>
        </p:nvSpPr>
        <p:spPr>
          <a:xfrm>
            <a:off x="1280160" y="1856232"/>
            <a:ext cx="7132320" cy="292608"/>
          </a:xfrm>
          <a:prstGeom prst="rect">
            <a:avLst/>
          </a:prstGeom>
          <a:noFill/>
          <a:ln/>
        </p:spPr>
        <p:txBody>
          <a:bodyPr wrap="square" lIns="0" tIns="0" rIns="0" bIns="0" rtlCol="0" anchor="t"/>
          <a:lstStyle/>
          <a:p>
            <a:pPr indent="0" marL="0">
              <a:buNone/>
            </a:pPr>
            <a:r>
              <a:rPr lang="en-US" sz="1600" b="1" dirty="0">
                <a:solidFill>
                  <a:srgbClr val="1B2631"/>
                </a:solidFill>
                <a:latin typeface="Calibri" pitchFamily="34" charset="0"/>
                <a:ea typeface="Calibri" pitchFamily="34" charset="-122"/>
                <a:cs typeface="Calibri" pitchFamily="34" charset="-120"/>
              </a:rPr>
              <a:t>Optimisation turns risk into action</a:t>
            </a:r>
            <a:endParaRPr lang="en-US" sz="1600" dirty="0"/>
          </a:p>
        </p:txBody>
      </p:sp>
      <p:sp>
        <p:nvSpPr>
          <p:cNvPr id="10" name="Text 6"/>
          <p:cNvSpPr txBox="1"/>
          <p:nvPr/>
        </p:nvSpPr>
        <p:spPr>
          <a:xfrm>
            <a:off x="1280160" y="2148840"/>
            <a:ext cx="7132320" cy="274320"/>
          </a:xfrm>
          <a:prstGeom prst="rect">
            <a:avLst/>
          </a:prstGeom>
          <a:noFill/>
          <a:ln/>
        </p:spPr>
        <p:txBody>
          <a:bodyPr wrap="square" lIns="0" tIns="0" rIns="0" bIns="0" rtlCol="0" anchor="t"/>
          <a:lstStyle/>
          <a:p>
            <a:pPr indent="0" marL="0">
              <a:buNone/>
            </a:pPr>
            <a:r>
              <a:rPr lang="en-US" sz="1200" dirty="0">
                <a:solidFill>
                  <a:srgbClr val="5F6B78"/>
                </a:solidFill>
                <a:latin typeface="Calibri" pitchFamily="34" charset="0"/>
                <a:ea typeface="Calibri" pitchFamily="34" charset="-122"/>
                <a:cs typeface="Calibri" pitchFamily="34" charset="-120"/>
              </a:rPr>
              <a:t>Verified setpoints and a CP-SAT plan — ~$139k saved in a sample week.</a:t>
            </a:r>
            <a:endParaRPr lang="en-US" sz="1200" dirty="0"/>
          </a:p>
        </p:txBody>
      </p:sp>
      <p:sp>
        <p:nvSpPr>
          <p:cNvPr id="11" name="Shape 7"/>
          <p:cNvSpPr/>
          <p:nvPr/>
        </p:nvSpPr>
        <p:spPr>
          <a:xfrm>
            <a:off x="548640" y="2743200"/>
            <a:ext cx="548640" cy="548640"/>
          </a:xfrm>
          <a:prstGeom prst="ellipse">
            <a:avLst/>
          </a:prstGeom>
          <a:solidFill>
            <a:srgbClr val="E8910C"/>
          </a:solidFill>
          <a:ln w="12700">
            <a:solidFill>
              <a:srgbClr val="E8910C"/>
            </a:solidFill>
            <a:prstDash val="solid"/>
          </a:ln>
        </p:spPr>
      </p:sp>
      <p:pic>
        <p:nvPicPr>
          <p:cNvPr id="12" name="Image 2" descr="preencoded.png">    </p:cNvPr>
          <p:cNvPicPr>
            <a:picLocks noChangeAspect="1"/>
          </p:cNvPicPr>
          <p:nvPr/>
        </p:nvPicPr>
        <p:blipFill>
          <a:blip r:embed="rId3"/>
          <a:stretch>
            <a:fillRect/>
          </a:stretch>
        </p:blipFill>
        <p:spPr>
          <a:xfrm>
            <a:off x="685800" y="2880360"/>
            <a:ext cx="274320" cy="274320"/>
          </a:xfrm>
          <a:prstGeom prst="rect">
            <a:avLst/>
          </a:prstGeom>
        </p:spPr>
      </p:pic>
      <p:sp>
        <p:nvSpPr>
          <p:cNvPr id="13" name="Text 8"/>
          <p:cNvSpPr txBox="1"/>
          <p:nvPr/>
        </p:nvSpPr>
        <p:spPr>
          <a:xfrm>
            <a:off x="1280160" y="2724912"/>
            <a:ext cx="7132320" cy="292608"/>
          </a:xfrm>
          <a:prstGeom prst="rect">
            <a:avLst/>
          </a:prstGeom>
          <a:noFill/>
          <a:ln/>
        </p:spPr>
        <p:txBody>
          <a:bodyPr wrap="square" lIns="0" tIns="0" rIns="0" bIns="0" rtlCol="0" anchor="t"/>
          <a:lstStyle/>
          <a:p>
            <a:pPr indent="0" marL="0">
              <a:buNone/>
            </a:pPr>
            <a:r>
              <a:rPr lang="en-US" sz="1600" b="1" dirty="0">
                <a:solidFill>
                  <a:srgbClr val="1B2631"/>
                </a:solidFill>
                <a:latin typeface="Calibri" pitchFamily="34" charset="0"/>
                <a:ea typeface="Calibri" pitchFamily="34" charset="-122"/>
                <a:cs typeface="Calibri" pitchFamily="34" charset="-120"/>
              </a:rPr>
              <a:t>LLM explains, humans decide</a:t>
            </a:r>
            <a:endParaRPr lang="en-US" sz="1600" dirty="0"/>
          </a:p>
        </p:txBody>
      </p:sp>
      <p:sp>
        <p:nvSpPr>
          <p:cNvPr id="14" name="Text 9"/>
          <p:cNvSpPr txBox="1"/>
          <p:nvPr/>
        </p:nvSpPr>
        <p:spPr>
          <a:xfrm>
            <a:off x="1280160" y="3017520"/>
            <a:ext cx="7132320" cy="274320"/>
          </a:xfrm>
          <a:prstGeom prst="rect">
            <a:avLst/>
          </a:prstGeom>
          <a:noFill/>
          <a:ln/>
        </p:spPr>
        <p:txBody>
          <a:bodyPr wrap="square" lIns="0" tIns="0" rIns="0" bIns="0" rtlCol="0" anchor="t"/>
          <a:lstStyle/>
          <a:p>
            <a:pPr indent="0" marL="0">
              <a:buNone/>
            </a:pPr>
            <a:r>
              <a:rPr lang="en-US" sz="1200" dirty="0">
                <a:solidFill>
                  <a:srgbClr val="5F6B78"/>
                </a:solidFill>
                <a:latin typeface="Calibri" pitchFamily="34" charset="0"/>
                <a:ea typeface="Calibri" pitchFamily="34" charset="-122"/>
                <a:cs typeface="Calibri" pitchFamily="34" charset="-120"/>
              </a:rPr>
              <a:t>Grounded agents, schema output, rule-based fallback, full decision log.</a:t>
            </a:r>
            <a:endParaRPr lang="en-US" sz="1200" dirty="0"/>
          </a:p>
        </p:txBody>
      </p:sp>
      <p:sp>
        <p:nvSpPr>
          <p:cNvPr id="15" name="Text 10"/>
          <p:cNvSpPr txBox="1"/>
          <p:nvPr/>
        </p:nvSpPr>
        <p:spPr>
          <a:xfrm>
            <a:off x="548640" y="3840480"/>
            <a:ext cx="8046720" cy="640080"/>
          </a:xfrm>
          <a:prstGeom prst="rect">
            <a:avLst/>
          </a:prstGeom>
          <a:noFill/>
          <a:ln/>
        </p:spPr>
        <p:txBody>
          <a:bodyPr wrap="square" lIns="0" tIns="0" rIns="0" bIns="0" rtlCol="0" anchor="t"/>
          <a:lstStyle/>
          <a:p>
            <a:pPr indent="0" marL="0">
              <a:buNone/>
            </a:pPr>
            <a:r>
              <a:rPr lang="en-US" sz="3200" b="1" dirty="0">
                <a:solidFill>
                  <a:srgbClr val="1B2631"/>
                </a:solidFill>
                <a:latin typeface="Calibri" pitchFamily="34" charset="0"/>
                <a:ea typeface="Calibri" pitchFamily="34" charset="-122"/>
                <a:cs typeface="Calibri" pitchFamily="34" charset="-120"/>
              </a:rPr>
              <a:t>Questions &amp; discussion</a:t>
            </a:r>
            <a:endParaRPr lang="en-US" sz="3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Manufacturing Process Optimization</dc:title>
  <dc:subject>PptxGenJS Presentation</dc:subject>
  <dc:creator>PptxGenJS</dc:creator>
  <cp:lastModifiedBy>PptxGenJS</cp:lastModifiedBy>
  <cp:revision>1</cp:revision>
  <dcterms:created xsi:type="dcterms:W3CDTF">2026-09-30T13:55:50Z</dcterms:created>
  <dcterms:modified xsi:type="dcterms:W3CDTF">2026-09-30T13:55:50Z</dcterms:modified>
</cp:coreProperties>
</file>